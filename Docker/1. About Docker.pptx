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0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3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media/image30.jpg" ContentType="image/jpeg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8"/>
  </p:notesMasterIdLst>
  <p:sldIdLst>
    <p:sldId id="256" r:id="rId2"/>
    <p:sldId id="320" r:id="rId3"/>
    <p:sldId id="380" r:id="rId4"/>
    <p:sldId id="381" r:id="rId5"/>
    <p:sldId id="382" r:id="rId6"/>
    <p:sldId id="359" r:id="rId7"/>
    <p:sldId id="361" r:id="rId8"/>
    <p:sldId id="362" r:id="rId9"/>
    <p:sldId id="360" r:id="rId10"/>
    <p:sldId id="363" r:id="rId11"/>
    <p:sldId id="375" r:id="rId12"/>
    <p:sldId id="386" r:id="rId13"/>
    <p:sldId id="384" r:id="rId14"/>
    <p:sldId id="341" r:id="rId15"/>
    <p:sldId id="385" r:id="rId16"/>
    <p:sldId id="356" r:id="rId17"/>
    <p:sldId id="387" r:id="rId18"/>
    <p:sldId id="317" r:id="rId19"/>
    <p:sldId id="388" r:id="rId20"/>
    <p:sldId id="376" r:id="rId21"/>
    <p:sldId id="358" r:id="rId22"/>
    <p:sldId id="377" r:id="rId23"/>
    <p:sldId id="378" r:id="rId24"/>
    <p:sldId id="379" r:id="rId25"/>
    <p:sldId id="389" r:id="rId26"/>
    <p:sldId id="319" r:id="rId27"/>
    <p:sldId id="390" r:id="rId28"/>
    <p:sldId id="357" r:id="rId29"/>
    <p:sldId id="391" r:id="rId30"/>
    <p:sldId id="364" r:id="rId31"/>
    <p:sldId id="394" r:id="rId32"/>
    <p:sldId id="393" r:id="rId33"/>
    <p:sldId id="365" r:id="rId34"/>
    <p:sldId id="366" r:id="rId35"/>
    <p:sldId id="367" r:id="rId36"/>
    <p:sldId id="368" r:id="rId37"/>
    <p:sldId id="369" r:id="rId38"/>
    <p:sldId id="370" r:id="rId39"/>
    <p:sldId id="373" r:id="rId40"/>
    <p:sldId id="371" r:id="rId41"/>
    <p:sldId id="372" r:id="rId42"/>
    <p:sldId id="374" r:id="rId43"/>
    <p:sldId id="413" r:id="rId44"/>
    <p:sldId id="408" r:id="rId45"/>
    <p:sldId id="409" r:id="rId46"/>
    <p:sldId id="392" r:id="rId47"/>
    <p:sldId id="415" r:id="rId48"/>
    <p:sldId id="414" r:id="rId49"/>
    <p:sldId id="399" r:id="rId50"/>
    <p:sldId id="396" r:id="rId51"/>
    <p:sldId id="397" r:id="rId52"/>
    <p:sldId id="273" r:id="rId53"/>
    <p:sldId id="398" r:id="rId54"/>
    <p:sldId id="400" r:id="rId55"/>
    <p:sldId id="401" r:id="rId56"/>
    <p:sldId id="402" r:id="rId57"/>
    <p:sldId id="403" r:id="rId58"/>
    <p:sldId id="406" r:id="rId59"/>
    <p:sldId id="405" r:id="rId60"/>
    <p:sldId id="404" r:id="rId61"/>
    <p:sldId id="407" r:id="rId62"/>
    <p:sldId id="411" r:id="rId63"/>
    <p:sldId id="412" r:id="rId64"/>
    <p:sldId id="416" r:id="rId65"/>
    <p:sldId id="417" r:id="rId66"/>
    <p:sldId id="418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BF71"/>
    <a:srgbClr val="B3B63A"/>
    <a:srgbClr val="003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0072" autoAdjust="0"/>
  </p:normalViewPr>
  <p:slideViewPr>
    <p:cSldViewPr snapToGrid="0">
      <p:cViewPr varScale="1">
        <p:scale>
          <a:sx n="48" d="100"/>
          <a:sy n="48" d="100"/>
        </p:scale>
        <p:origin x="1364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7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033EC-38BF-4AD4-9467-7D2380108C1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9A354F-E8EA-4E4F-BEEB-F269B5F91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645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54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9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4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0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81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874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8996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68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17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75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019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1521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51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426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352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051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439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58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720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5007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3434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191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91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668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5994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667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018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3111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Application App A will have their own Bins/Libs.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34994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Application App B will have their own Bins/Libs.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20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Application App C will have their own Bins/Libs.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2779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83709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Host OS &gt; Guest OS &gt; Docker Engine &gt;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8281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782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440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2590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751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9137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86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#Create image based on the official Node 6 image from </a:t>
            </a:r>
            <a:r>
              <a:rPr lang="en-US" dirty="0" err="1"/>
              <a:t>dockerhub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node:latest</a:t>
            </a:r>
            <a:endParaRPr lang="en-US" dirty="0"/>
          </a:p>
          <a:p>
            <a:endParaRPr lang="en-US" dirty="0"/>
          </a:p>
          <a:p>
            <a:r>
              <a:rPr lang="en-US" dirty="0"/>
              <a:t>#Create a directory where our app will be placed</a:t>
            </a:r>
          </a:p>
          <a:p>
            <a:r>
              <a:rPr lang="en-US" dirty="0"/>
              <a:t>RUN </a:t>
            </a:r>
            <a:r>
              <a:rPr lang="en-US" dirty="0" err="1"/>
              <a:t>mkdir</a:t>
            </a:r>
            <a:r>
              <a:rPr lang="en-US" dirty="0"/>
              <a:t> -p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/app</a:t>
            </a:r>
          </a:p>
          <a:p>
            <a:endParaRPr lang="en-US" dirty="0"/>
          </a:p>
          <a:p>
            <a:r>
              <a:rPr lang="en-US" dirty="0"/>
              <a:t>#Change the directory so that our commands run inside this new directory</a:t>
            </a:r>
          </a:p>
          <a:p>
            <a:r>
              <a:rPr lang="en-US" dirty="0"/>
              <a:t>WORKDIR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/app</a:t>
            </a:r>
          </a:p>
          <a:p>
            <a:endParaRPr lang="en-US" dirty="0"/>
          </a:p>
          <a:p>
            <a:r>
              <a:rPr lang="en-US" dirty="0"/>
              <a:t>#Copy dependency definitions</a:t>
            </a:r>
          </a:p>
          <a:p>
            <a:r>
              <a:rPr lang="en-US" dirty="0"/>
              <a:t>COPY </a:t>
            </a:r>
            <a:r>
              <a:rPr lang="en-US" dirty="0" err="1"/>
              <a:t>package.json</a:t>
            </a:r>
            <a:r>
              <a:rPr lang="en-US" dirty="0"/>
              <a:t>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/app</a:t>
            </a:r>
          </a:p>
          <a:p>
            <a:endParaRPr lang="en-US" dirty="0"/>
          </a:p>
          <a:p>
            <a:r>
              <a:rPr lang="en-US" dirty="0"/>
              <a:t>#Expose the port the app run in</a:t>
            </a:r>
          </a:p>
          <a:p>
            <a:r>
              <a:rPr lang="en-US" dirty="0"/>
              <a:t>EXPOSE 4200</a:t>
            </a:r>
          </a:p>
          <a:p>
            <a:endParaRPr lang="en-US" dirty="0"/>
          </a:p>
          <a:p>
            <a:r>
              <a:rPr lang="en-US" dirty="0"/>
              <a:t># Serve the app</a:t>
            </a:r>
          </a:p>
          <a:p>
            <a:r>
              <a:rPr lang="en-US" dirty="0"/>
              <a:t>CMD ["</a:t>
            </a:r>
            <a:r>
              <a:rPr lang="en-US" dirty="0" err="1"/>
              <a:t>npm</a:t>
            </a:r>
            <a:r>
              <a:rPr lang="en-US" dirty="0"/>
              <a:t>", "start"]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404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4862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https://docs.docker.com/develop/dev-best-practices/</a:t>
            </a:r>
          </a:p>
          <a:p>
            <a:endParaRPr lang="en-US" dirty="0"/>
          </a:p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https://docs.docker.com/get-started/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0654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8436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#Create image based on the official Node 6 image from </a:t>
            </a:r>
            <a:r>
              <a:rPr lang="en-US" dirty="0" err="1"/>
              <a:t>dockerhub</a:t>
            </a:r>
            <a:endParaRPr lang="en-US" dirty="0"/>
          </a:p>
          <a:p>
            <a:r>
              <a:rPr lang="en-US" dirty="0"/>
              <a:t>FROM </a:t>
            </a:r>
            <a:r>
              <a:rPr lang="en-US" dirty="0" err="1"/>
              <a:t>node:latest</a:t>
            </a:r>
            <a:endParaRPr lang="en-US" dirty="0"/>
          </a:p>
          <a:p>
            <a:endParaRPr lang="en-US" dirty="0"/>
          </a:p>
          <a:p>
            <a:r>
              <a:rPr lang="en-US" dirty="0"/>
              <a:t>#Create a directory where our app will be placed</a:t>
            </a:r>
          </a:p>
          <a:p>
            <a:r>
              <a:rPr lang="en-US" dirty="0"/>
              <a:t>RUN </a:t>
            </a:r>
            <a:r>
              <a:rPr lang="en-US" dirty="0" err="1"/>
              <a:t>mkdir</a:t>
            </a:r>
            <a:r>
              <a:rPr lang="en-US" dirty="0"/>
              <a:t> -p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/app</a:t>
            </a:r>
          </a:p>
          <a:p>
            <a:endParaRPr lang="en-US" dirty="0"/>
          </a:p>
          <a:p>
            <a:r>
              <a:rPr lang="en-US" dirty="0"/>
              <a:t>#Change the directory so that our commands run inside this new directory</a:t>
            </a:r>
          </a:p>
          <a:p>
            <a:r>
              <a:rPr lang="en-US" dirty="0"/>
              <a:t>WORKDIR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/app</a:t>
            </a:r>
          </a:p>
          <a:p>
            <a:endParaRPr lang="en-US" dirty="0"/>
          </a:p>
          <a:p>
            <a:r>
              <a:rPr lang="en-US" dirty="0"/>
              <a:t>#Copy dependency definitions</a:t>
            </a:r>
          </a:p>
          <a:p>
            <a:r>
              <a:rPr lang="en-US" dirty="0"/>
              <a:t>COPY </a:t>
            </a:r>
            <a:r>
              <a:rPr lang="en-US" dirty="0" err="1"/>
              <a:t>package.json</a:t>
            </a:r>
            <a:r>
              <a:rPr lang="en-US" dirty="0"/>
              <a:t> /</a:t>
            </a:r>
            <a:r>
              <a:rPr lang="en-US" dirty="0" err="1"/>
              <a:t>usr</a:t>
            </a:r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/app</a:t>
            </a:r>
          </a:p>
          <a:p>
            <a:endParaRPr lang="en-US" dirty="0"/>
          </a:p>
          <a:p>
            <a:r>
              <a:rPr lang="en-US" dirty="0"/>
              <a:t>#Expose the port the app run in</a:t>
            </a:r>
          </a:p>
          <a:p>
            <a:r>
              <a:rPr lang="en-US" dirty="0"/>
              <a:t>EXPOSE 4200</a:t>
            </a:r>
          </a:p>
          <a:p>
            <a:endParaRPr lang="en-US" dirty="0"/>
          </a:p>
          <a:p>
            <a:r>
              <a:rPr lang="en-US" dirty="0"/>
              <a:t># Serve the app</a:t>
            </a:r>
          </a:p>
          <a:p>
            <a:r>
              <a:rPr lang="en-US" dirty="0"/>
              <a:t>CMD ["</a:t>
            </a:r>
            <a:r>
              <a:rPr lang="en-US" dirty="0" err="1"/>
              <a:t>npm</a:t>
            </a:r>
            <a:r>
              <a:rPr lang="en-US" dirty="0"/>
              <a:t>", "start"]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215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C:\AWS-DevOPS\VP\Udemy\Docker-Swarm\Drowing\Docker-Image-Container.drawio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44900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C:\AWS-DevOPS\VP\Udemy\Docker-Swarm\Drowing\Docker-Image-Container.drawio</a:t>
            </a:r>
          </a:p>
          <a:p>
            <a:r>
              <a:rPr lang="en-IN" dirty="0"/>
              <a:t>https://docs.docker.com/develop/dev-best-practices/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0182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615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1394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7841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77941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41862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07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316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498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6082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https://docs.docker.com/samples/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https://docs.docker.com/get-started/</a:t>
            </a:r>
          </a:p>
          <a:p>
            <a:endParaRPr lang="en-US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8153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B6662-ED3E-2A95-51E4-472EA2621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4BD8E-E582-44DD-7259-A96BBEFD6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04AD9-63AC-8809-DBBB-F1B95E8BD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18600-C5A3-03B3-CF7F-005116DB48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8607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6EDDB-4DCB-31D8-33FF-E507D1C41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9AFD6-3A50-0F02-4D56-402CAA842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7E494D-FE4B-1D19-552A-80A2A2406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D2C1C-F47E-E436-6218-309CA53C03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3175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45E25-A0F6-D9EA-8EAA-2983B25C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1833C-C3BD-6852-B357-7887CFA65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B8565-C9EF-A4D4-FC26-4633C981E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F3986-FD8F-6A2F-08D7-8AA2B0013F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9A354F-E8EA-4E4F-BEEB-F269B5F913B6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293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themeOverride" Target="../theme/themeOverride10.xml"/><Relationship Id="rId6" Type="http://schemas.openxmlformats.org/officeDocument/2006/relationships/image" Target="../media/image10.png"/><Relationship Id="rId11" Type="http://schemas.openxmlformats.org/officeDocument/2006/relationships/image" Target="../media/image15.jpg"/><Relationship Id="rId5" Type="http://schemas.openxmlformats.org/officeDocument/2006/relationships/image" Target="../media/image9.jp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e.docker.com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euskaditecnologia.com/cloud-computing-industria/" TargetMode="External"/><Relationship Id="rId5" Type="http://schemas.openxmlformats.org/officeDocument/2006/relationships/image" Target="../media/image30.jpg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hyperlink" Target="https://www.euskaditecnologia.com/cloud-computing-industria/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.png"/><Relationship Id="rId4" Type="http://schemas.openxmlformats.org/officeDocument/2006/relationships/image" Target="../media/image27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euskaditecnologia.com/cloud-computing-industria/" TargetMode="Externa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hyperlink" Target="https://www.euskaditecnologia.com/cloud-computing-industria/" TargetMode="External"/><Relationship Id="rId9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6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1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1292" y="783770"/>
            <a:ext cx="8046719" cy="510757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2"/>
                </a:solidFill>
              </a:rPr>
              <a:t>Docker is a software platform that allows you to </a:t>
            </a:r>
            <a:r>
              <a:rPr lang="en-US" sz="2400" b="1" dirty="0">
                <a:solidFill>
                  <a:schemeClr val="bg2"/>
                </a:solidFill>
              </a:rPr>
              <a:t>build</a:t>
            </a:r>
            <a:r>
              <a:rPr lang="en-US" sz="2400" dirty="0">
                <a:solidFill>
                  <a:schemeClr val="bg2"/>
                </a:solidFill>
              </a:rPr>
              <a:t>, </a:t>
            </a:r>
            <a:r>
              <a:rPr lang="en-US" sz="2400" b="1" dirty="0">
                <a:solidFill>
                  <a:schemeClr val="bg2"/>
                </a:solidFill>
              </a:rPr>
              <a:t>test</a:t>
            </a:r>
            <a:r>
              <a:rPr lang="en-US" sz="2400" dirty="0">
                <a:solidFill>
                  <a:schemeClr val="bg2"/>
                </a:solidFill>
              </a:rPr>
              <a:t>, and </a:t>
            </a:r>
            <a:r>
              <a:rPr lang="en-US" sz="2400" b="1" dirty="0">
                <a:solidFill>
                  <a:schemeClr val="bg2"/>
                </a:solidFill>
              </a:rPr>
              <a:t>deploy</a:t>
            </a:r>
            <a:r>
              <a:rPr lang="en-US" sz="2400" dirty="0">
                <a:solidFill>
                  <a:schemeClr val="bg2"/>
                </a:solidFill>
              </a:rPr>
              <a:t> applications quickly.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</a:endParaRPr>
          </a:p>
          <a:p>
            <a:pPr>
              <a:buClr>
                <a:schemeClr val="bg1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30722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4BD24020-9B27-4857-A133-B6D3F74F5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505CA-C718-4A3C-B93C-6D42300F9FED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506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1292" y="783770"/>
            <a:ext cx="8046719" cy="510757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2"/>
                </a:solidFill>
              </a:rPr>
              <a:t>Docker is a software platform that allows you to </a:t>
            </a:r>
            <a:r>
              <a:rPr lang="en-US" sz="2400" b="1" dirty="0">
                <a:solidFill>
                  <a:schemeClr val="bg2"/>
                </a:solidFill>
              </a:rPr>
              <a:t>build</a:t>
            </a:r>
            <a:r>
              <a:rPr lang="en-US" sz="2400" dirty="0">
                <a:solidFill>
                  <a:schemeClr val="bg2"/>
                </a:solidFill>
              </a:rPr>
              <a:t>, </a:t>
            </a:r>
            <a:r>
              <a:rPr lang="en-US" sz="2400" b="1" dirty="0">
                <a:solidFill>
                  <a:schemeClr val="bg2"/>
                </a:solidFill>
              </a:rPr>
              <a:t>test</a:t>
            </a:r>
            <a:r>
              <a:rPr lang="en-US" sz="2400" dirty="0">
                <a:solidFill>
                  <a:schemeClr val="bg2"/>
                </a:solidFill>
              </a:rPr>
              <a:t>, and </a:t>
            </a:r>
            <a:r>
              <a:rPr lang="en-US" sz="2400" b="1" dirty="0">
                <a:solidFill>
                  <a:schemeClr val="bg2"/>
                </a:solidFill>
              </a:rPr>
              <a:t>deploy</a:t>
            </a:r>
            <a:r>
              <a:rPr lang="en-US" sz="2400" dirty="0">
                <a:solidFill>
                  <a:schemeClr val="bg2"/>
                </a:solidFill>
              </a:rPr>
              <a:t> applications quickly.</a:t>
            </a:r>
          </a:p>
          <a:p>
            <a:pPr marL="9525">
              <a:spcBef>
                <a:spcPts val="75"/>
              </a:spcBef>
            </a:pPr>
            <a:endParaRPr lang="en-US" sz="2400" cap="none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  <a:p>
            <a:pPr marL="9525">
              <a:spcBef>
                <a:spcPts val="75"/>
              </a:spcBef>
            </a:pPr>
            <a:r>
              <a:rPr lang="en-US" sz="2400" cap="none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Lightweight, open, secure platform.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</a:endParaRPr>
          </a:p>
          <a:p>
            <a:pPr>
              <a:buClr>
                <a:schemeClr val="bg1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30722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4BD24020-9B27-4857-A133-B6D3F74F5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505CA-C718-4A3C-B93C-6D42300F9FED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1119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1292" y="783770"/>
            <a:ext cx="8046719" cy="510757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2"/>
                </a:solidFill>
              </a:rPr>
              <a:t>Docker is a software platform that allows you to </a:t>
            </a:r>
            <a:r>
              <a:rPr lang="en-US" sz="2400" b="1" dirty="0">
                <a:solidFill>
                  <a:schemeClr val="bg2"/>
                </a:solidFill>
              </a:rPr>
              <a:t>build</a:t>
            </a:r>
            <a:r>
              <a:rPr lang="en-US" sz="2400" dirty="0">
                <a:solidFill>
                  <a:schemeClr val="bg2"/>
                </a:solidFill>
              </a:rPr>
              <a:t>, </a:t>
            </a:r>
            <a:r>
              <a:rPr lang="en-US" sz="2400" b="1" dirty="0">
                <a:solidFill>
                  <a:schemeClr val="bg2"/>
                </a:solidFill>
              </a:rPr>
              <a:t>test</a:t>
            </a:r>
            <a:r>
              <a:rPr lang="en-US" sz="2400" dirty="0">
                <a:solidFill>
                  <a:schemeClr val="bg2"/>
                </a:solidFill>
              </a:rPr>
              <a:t>, and </a:t>
            </a:r>
            <a:r>
              <a:rPr lang="en-US" sz="2400" b="1" dirty="0">
                <a:solidFill>
                  <a:schemeClr val="bg2"/>
                </a:solidFill>
              </a:rPr>
              <a:t>deploy</a:t>
            </a:r>
            <a:r>
              <a:rPr lang="en-US" sz="2400" dirty="0">
                <a:solidFill>
                  <a:schemeClr val="bg2"/>
                </a:solidFill>
              </a:rPr>
              <a:t> applications quickly.</a:t>
            </a:r>
          </a:p>
          <a:p>
            <a:pPr marL="9525">
              <a:spcBef>
                <a:spcPts val="75"/>
              </a:spcBef>
            </a:pPr>
            <a:endParaRPr lang="en-US" sz="2400" cap="none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  <a:p>
            <a:pPr marL="9525">
              <a:spcBef>
                <a:spcPts val="75"/>
              </a:spcBef>
            </a:pPr>
            <a:r>
              <a:rPr lang="en-US" sz="2400" cap="none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Lightweight, open, secure platform.</a:t>
            </a:r>
          </a:p>
          <a:p>
            <a:pPr marL="9525">
              <a:spcBef>
                <a:spcPts val="75"/>
              </a:spcBef>
            </a:pPr>
            <a:endParaRPr lang="en-US" sz="2400" dirty="0">
              <a:ln w="3175" cmpd="sng">
                <a:noFill/>
              </a:ln>
              <a:solidFill>
                <a:schemeClr val="bg2"/>
              </a:solidFill>
            </a:endParaRPr>
          </a:p>
          <a:p>
            <a:pPr marL="9525">
              <a:spcBef>
                <a:spcPts val="75"/>
              </a:spcBef>
            </a:pPr>
            <a:r>
              <a:rPr lang="en-US" sz="2400" dirty="0">
                <a:ln w="3175" cmpd="sng">
                  <a:noFill/>
                </a:ln>
                <a:solidFill>
                  <a:schemeClr val="bg2"/>
                </a:solidFill>
              </a:rPr>
              <a:t>Runs natively on Linux or Windows Server.</a:t>
            </a: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</a:endParaRPr>
          </a:p>
          <a:p>
            <a:pPr>
              <a:buClr>
                <a:schemeClr val="bg1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30722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4BD24020-9B27-4857-A133-B6D3F74F5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505CA-C718-4A3C-B93C-6D42300F9FED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3472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1292" y="783770"/>
            <a:ext cx="8046719" cy="510757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2400" dirty="0">
                <a:solidFill>
                  <a:schemeClr val="bg2"/>
                </a:solidFill>
              </a:rPr>
              <a:t>Docker is a software platform that allows you to </a:t>
            </a:r>
            <a:r>
              <a:rPr lang="en-US" sz="2400" b="1" dirty="0">
                <a:solidFill>
                  <a:schemeClr val="bg2"/>
                </a:solidFill>
              </a:rPr>
              <a:t>build</a:t>
            </a:r>
            <a:r>
              <a:rPr lang="en-US" sz="2400" dirty="0">
                <a:solidFill>
                  <a:schemeClr val="bg2"/>
                </a:solidFill>
              </a:rPr>
              <a:t>, </a:t>
            </a:r>
            <a:r>
              <a:rPr lang="en-US" sz="2400" b="1" dirty="0">
                <a:solidFill>
                  <a:schemeClr val="bg2"/>
                </a:solidFill>
              </a:rPr>
              <a:t>test</a:t>
            </a:r>
            <a:r>
              <a:rPr lang="en-US" sz="2400" dirty="0">
                <a:solidFill>
                  <a:schemeClr val="bg2"/>
                </a:solidFill>
              </a:rPr>
              <a:t>, and </a:t>
            </a:r>
            <a:r>
              <a:rPr lang="en-US" sz="2400" b="1" dirty="0">
                <a:solidFill>
                  <a:schemeClr val="bg2"/>
                </a:solidFill>
              </a:rPr>
              <a:t>deploy</a:t>
            </a:r>
            <a:r>
              <a:rPr lang="en-US" sz="2400" dirty="0">
                <a:solidFill>
                  <a:schemeClr val="bg2"/>
                </a:solidFill>
              </a:rPr>
              <a:t> applications quickly.</a:t>
            </a:r>
          </a:p>
          <a:p>
            <a:pPr marL="9525">
              <a:spcBef>
                <a:spcPts val="75"/>
              </a:spcBef>
            </a:pPr>
            <a:endParaRPr lang="en-US" sz="2400" cap="none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  <a:p>
            <a:pPr marL="9525">
              <a:spcBef>
                <a:spcPts val="75"/>
              </a:spcBef>
            </a:pPr>
            <a:r>
              <a:rPr lang="en-US" sz="2400" cap="none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Lightweight, open, secure platform.</a:t>
            </a:r>
          </a:p>
          <a:p>
            <a:pPr marL="9525">
              <a:spcBef>
                <a:spcPts val="75"/>
              </a:spcBef>
            </a:pPr>
            <a:endParaRPr lang="en-US" sz="2400" dirty="0">
              <a:ln w="3175" cmpd="sng">
                <a:noFill/>
              </a:ln>
              <a:solidFill>
                <a:schemeClr val="bg2"/>
              </a:solidFill>
            </a:endParaRPr>
          </a:p>
          <a:p>
            <a:pPr marL="9525">
              <a:spcBef>
                <a:spcPts val="75"/>
              </a:spcBef>
            </a:pPr>
            <a:r>
              <a:rPr lang="en-US" sz="2400" dirty="0">
                <a:ln w="3175" cmpd="sng">
                  <a:noFill/>
                </a:ln>
                <a:solidFill>
                  <a:schemeClr val="bg2"/>
                </a:solidFill>
              </a:rPr>
              <a:t>Runs natively on Linux or Windows Server</a:t>
            </a:r>
          </a:p>
          <a:p>
            <a:pPr marL="9525" marR="338138">
              <a:spcBef>
                <a:spcPts val="1350"/>
              </a:spcBef>
            </a:pPr>
            <a:r>
              <a:rPr lang="en-US" sz="2400" dirty="0">
                <a:ln w="3175" cmpd="sng">
                  <a:noFill/>
                </a:ln>
                <a:solidFill>
                  <a:schemeClr val="bg2"/>
                </a:solidFill>
              </a:rPr>
              <a:t>Runs on Windows or Mac Development  machines (with a virtual machine)</a:t>
            </a:r>
            <a:endParaRPr lang="en-US" sz="2400" cap="none" dirty="0">
              <a:solidFill>
                <a:schemeClr val="bg2"/>
              </a:solidFill>
              <a:latin typeface="+mn-lt"/>
              <a:ea typeface="+mn-ea"/>
              <a:cs typeface="+mn-cs"/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</a:endParaRP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/>
              </a:solidFill>
            </a:endParaRPr>
          </a:p>
          <a:p>
            <a:pPr>
              <a:buClr>
                <a:schemeClr val="bg1"/>
              </a:buClr>
            </a:pPr>
            <a:endParaRPr lang="en-US" sz="2400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30722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4BD24020-9B27-4857-A133-B6D3F74F55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505CA-C718-4A3C-B93C-6D42300F9FED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686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AE061A9-96C5-4183-A757-F3DC987B7C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9278" y="1319212"/>
            <a:ext cx="5143500" cy="4219575"/>
          </a:xfrm>
          <a:prstGeom prst="rect">
            <a:avLst/>
          </a:prstGeom>
        </p:spPr>
      </p:pic>
      <p:pic>
        <p:nvPicPr>
          <p:cNvPr id="7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1B0D2EF6-EE2E-46B8-B8AB-B03FA75C84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B114ECB-4D7F-4C86-82E0-047EFB450208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8451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37576D3-4A0A-46AC-9155-AA67F018BC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103" y="1404937"/>
            <a:ext cx="5419725" cy="4048125"/>
          </a:xfrm>
          <a:prstGeom prst="rect">
            <a:avLst/>
          </a:prstGeom>
        </p:spPr>
      </p:pic>
      <p:pic>
        <p:nvPicPr>
          <p:cNvPr id="3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0D8A2E3B-AF8A-469E-8ED1-35EFED69F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225472-C11A-44C8-902B-5517DC3AC6FD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363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764761D-00D8-4857-BFC3-C6981B6AC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3938" y="1352550"/>
            <a:ext cx="5686425" cy="4152900"/>
          </a:xfrm>
          <a:prstGeom prst="rect">
            <a:avLst/>
          </a:prstGeom>
        </p:spPr>
      </p:pic>
      <p:pic>
        <p:nvPicPr>
          <p:cNvPr id="4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7F37FE48-ABFE-487F-8F18-2779E7BBD5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BFC6AA-0E58-457F-92FD-BE01DA3F70CD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99949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9A1DB4C-F726-4F78-82C3-79F77155F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0026" y="1062174"/>
            <a:ext cx="7705725" cy="4829175"/>
          </a:xfrm>
          <a:prstGeom prst="rect">
            <a:avLst/>
          </a:prstGeom>
        </p:spPr>
      </p:pic>
      <p:pic>
        <p:nvPicPr>
          <p:cNvPr id="4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49201B33-0866-4892-A22C-56ECDD2B96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B88D7A-6386-4942-B1C0-EF21612DE9CA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87105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78E5B6C-3322-4A3C-A1FA-6A042070685C}"/>
              </a:ext>
            </a:extLst>
          </p:cNvPr>
          <p:cNvCxnSpPr/>
          <p:nvPr/>
        </p:nvCxnSpPr>
        <p:spPr>
          <a:xfrm>
            <a:off x="3644537" y="783771"/>
            <a:ext cx="0" cy="510757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4993A9E8-0FC7-451B-B21E-86F606D3A2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9674" y="1062174"/>
            <a:ext cx="7905750" cy="4829175"/>
          </a:xfrm>
          <a:prstGeom prst="rect">
            <a:avLst/>
          </a:prstGeom>
        </p:spPr>
      </p:pic>
      <p:pic>
        <p:nvPicPr>
          <p:cNvPr id="4" name="Picture 2" descr="How to run multiple services in a Docker container | by KarthiKeyan  Shanmugam | Medium">
            <a:extLst>
              <a:ext uri="{FF2B5EF4-FFF2-40B4-BE49-F238E27FC236}">
                <a16:creationId xmlns:a16="http://schemas.microsoft.com/office/drawing/2014/main" id="{8918CEA7-503D-4E13-937A-7B1026D227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02" y="2417036"/>
            <a:ext cx="231457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647E5E-159E-4A16-AC19-4FEFEC9FAD6A}"/>
              </a:ext>
            </a:extLst>
          </p:cNvPr>
          <p:cNvSpPr txBox="1"/>
          <p:nvPr/>
        </p:nvSpPr>
        <p:spPr>
          <a:xfrm>
            <a:off x="597626" y="1778615"/>
            <a:ext cx="28901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What is Docker?</a:t>
            </a:r>
            <a:endParaRPr lang="en-IN" sz="2400" b="1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5640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7805" y="18129"/>
            <a:ext cx="962025" cy="542925"/>
          </a:xfrm>
          <a:prstGeom prst="rect">
            <a:avLst/>
          </a:prstGeom>
        </p:spPr>
      </p:pic>
      <p:sp>
        <p:nvSpPr>
          <p:cNvPr id="127" name="object 3">
            <a:extLst>
              <a:ext uri="{FF2B5EF4-FFF2-40B4-BE49-F238E27FC236}">
                <a16:creationId xmlns:a16="http://schemas.microsoft.com/office/drawing/2014/main" id="{1722D22C-5471-41BC-AA71-7F848B08831F}"/>
              </a:ext>
            </a:extLst>
          </p:cNvPr>
          <p:cNvSpPr/>
          <p:nvPr/>
        </p:nvSpPr>
        <p:spPr>
          <a:xfrm>
            <a:off x="2735675" y="3168801"/>
            <a:ext cx="2502535" cy="2146935"/>
          </a:xfrm>
          <a:custGeom>
            <a:avLst/>
            <a:gdLst/>
            <a:ahLst/>
            <a:cxnLst/>
            <a:rect l="l" t="t" r="r" b="b"/>
            <a:pathLst>
              <a:path w="2502535" h="2146935">
                <a:moveTo>
                  <a:pt x="0" y="0"/>
                </a:moveTo>
                <a:lnTo>
                  <a:pt x="1656864" y="0"/>
                </a:lnTo>
                <a:lnTo>
                  <a:pt x="2502287" y="1073247"/>
                </a:lnTo>
                <a:lnTo>
                  <a:pt x="1656864" y="2146495"/>
                </a:lnTo>
                <a:lnTo>
                  <a:pt x="0" y="2146495"/>
                </a:lnTo>
                <a:lnTo>
                  <a:pt x="0" y="0"/>
                </a:lnTo>
                <a:close/>
              </a:path>
            </a:pathLst>
          </a:custGeom>
          <a:ln w="9524">
            <a:solidFill>
              <a:srgbClr val="D8D8D8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28" name="object 4">
            <a:extLst>
              <a:ext uri="{FF2B5EF4-FFF2-40B4-BE49-F238E27FC236}">
                <a16:creationId xmlns:a16="http://schemas.microsoft.com/office/drawing/2014/main" id="{8FDFD748-240F-46E7-B332-9E72071B3CC8}"/>
              </a:ext>
            </a:extLst>
          </p:cNvPr>
          <p:cNvSpPr/>
          <p:nvPr/>
        </p:nvSpPr>
        <p:spPr>
          <a:xfrm>
            <a:off x="6520760" y="3727900"/>
            <a:ext cx="1063625" cy="447675"/>
          </a:xfrm>
          <a:custGeom>
            <a:avLst/>
            <a:gdLst/>
            <a:ahLst/>
            <a:cxnLst/>
            <a:rect l="l" t="t" r="r" b="b"/>
            <a:pathLst>
              <a:path w="1063625" h="447675">
                <a:moveTo>
                  <a:pt x="0" y="447649"/>
                </a:moveTo>
                <a:lnTo>
                  <a:pt x="1063222" y="0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1" name="object 7">
            <a:extLst>
              <a:ext uri="{FF2B5EF4-FFF2-40B4-BE49-F238E27FC236}">
                <a16:creationId xmlns:a16="http://schemas.microsoft.com/office/drawing/2014/main" id="{725EF23C-9961-49BC-9874-388F858E0406}"/>
              </a:ext>
            </a:extLst>
          </p:cNvPr>
          <p:cNvSpPr/>
          <p:nvPr/>
        </p:nvSpPr>
        <p:spPr>
          <a:xfrm>
            <a:off x="6427210" y="4343374"/>
            <a:ext cx="1113155" cy="800100"/>
          </a:xfrm>
          <a:custGeom>
            <a:avLst/>
            <a:gdLst/>
            <a:ahLst/>
            <a:cxnLst/>
            <a:rect l="l" t="t" r="r" b="b"/>
            <a:pathLst>
              <a:path w="1113154" h="800100">
                <a:moveTo>
                  <a:pt x="0" y="0"/>
                </a:moveTo>
                <a:lnTo>
                  <a:pt x="1112922" y="799898"/>
                </a:lnTo>
              </a:path>
            </a:pathLst>
          </a:custGeom>
          <a:ln w="12699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4" name="object 10">
            <a:extLst>
              <a:ext uri="{FF2B5EF4-FFF2-40B4-BE49-F238E27FC236}">
                <a16:creationId xmlns:a16="http://schemas.microsoft.com/office/drawing/2014/main" id="{113A81EF-507A-45AA-A653-76CE839A3400}"/>
              </a:ext>
            </a:extLst>
          </p:cNvPr>
          <p:cNvSpPr/>
          <p:nvPr/>
        </p:nvSpPr>
        <p:spPr>
          <a:xfrm>
            <a:off x="3019354" y="3306576"/>
            <a:ext cx="370199" cy="370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5" name="object 11">
            <a:extLst>
              <a:ext uri="{FF2B5EF4-FFF2-40B4-BE49-F238E27FC236}">
                <a16:creationId xmlns:a16="http://schemas.microsoft.com/office/drawing/2014/main" id="{6D1C5381-CEBE-4841-9905-5B474DDB00B7}"/>
              </a:ext>
            </a:extLst>
          </p:cNvPr>
          <p:cNvSpPr/>
          <p:nvPr/>
        </p:nvSpPr>
        <p:spPr>
          <a:xfrm>
            <a:off x="3021799" y="4055200"/>
            <a:ext cx="370199" cy="370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6" name="object 12">
            <a:extLst>
              <a:ext uri="{FF2B5EF4-FFF2-40B4-BE49-F238E27FC236}">
                <a16:creationId xmlns:a16="http://schemas.microsoft.com/office/drawing/2014/main" id="{1E359965-3F9B-4AB3-93BE-F6A5C010C86E}"/>
              </a:ext>
            </a:extLst>
          </p:cNvPr>
          <p:cNvSpPr/>
          <p:nvPr/>
        </p:nvSpPr>
        <p:spPr>
          <a:xfrm>
            <a:off x="3020044" y="4740673"/>
            <a:ext cx="370199" cy="370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7" name="object 13">
            <a:extLst>
              <a:ext uri="{FF2B5EF4-FFF2-40B4-BE49-F238E27FC236}">
                <a16:creationId xmlns:a16="http://schemas.microsoft.com/office/drawing/2014/main" id="{FD8C11E2-CA23-46C3-AF87-F8867DB62ADA}"/>
              </a:ext>
            </a:extLst>
          </p:cNvPr>
          <p:cNvSpPr/>
          <p:nvPr/>
        </p:nvSpPr>
        <p:spPr>
          <a:xfrm>
            <a:off x="5250287" y="2875680"/>
            <a:ext cx="1360170" cy="2165985"/>
          </a:xfrm>
          <a:custGeom>
            <a:avLst/>
            <a:gdLst/>
            <a:ahLst/>
            <a:cxnLst/>
            <a:rect l="l" t="t" r="r" b="b"/>
            <a:pathLst>
              <a:path w="1360170" h="2165985">
                <a:moveTo>
                  <a:pt x="1359597" y="2165693"/>
                </a:moveTo>
                <a:lnTo>
                  <a:pt x="0" y="2165693"/>
                </a:lnTo>
                <a:lnTo>
                  <a:pt x="0" y="679796"/>
                </a:lnTo>
                <a:lnTo>
                  <a:pt x="679798" y="0"/>
                </a:lnTo>
                <a:lnTo>
                  <a:pt x="1359597" y="679796"/>
                </a:lnTo>
                <a:lnTo>
                  <a:pt x="1359597" y="2165693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8" name="object 14">
            <a:extLst>
              <a:ext uri="{FF2B5EF4-FFF2-40B4-BE49-F238E27FC236}">
                <a16:creationId xmlns:a16="http://schemas.microsoft.com/office/drawing/2014/main" id="{BCD937F9-8623-4CFE-AEC2-8B0627B4B4CC}"/>
              </a:ext>
            </a:extLst>
          </p:cNvPr>
          <p:cNvSpPr/>
          <p:nvPr/>
        </p:nvSpPr>
        <p:spPr>
          <a:xfrm>
            <a:off x="5250287" y="2875680"/>
            <a:ext cx="1360170" cy="2165985"/>
          </a:xfrm>
          <a:custGeom>
            <a:avLst/>
            <a:gdLst/>
            <a:ahLst/>
            <a:cxnLst/>
            <a:rect l="l" t="t" r="r" b="b"/>
            <a:pathLst>
              <a:path w="1360170" h="2165985">
                <a:moveTo>
                  <a:pt x="0" y="2165693"/>
                </a:moveTo>
                <a:lnTo>
                  <a:pt x="0" y="679796"/>
                </a:lnTo>
                <a:lnTo>
                  <a:pt x="679798" y="0"/>
                </a:lnTo>
                <a:lnTo>
                  <a:pt x="1359597" y="679796"/>
                </a:lnTo>
                <a:lnTo>
                  <a:pt x="1359597" y="2165693"/>
                </a:lnTo>
                <a:lnTo>
                  <a:pt x="0" y="2165693"/>
                </a:lnTo>
                <a:close/>
              </a:path>
            </a:pathLst>
          </a:custGeom>
          <a:ln w="9524">
            <a:solidFill>
              <a:srgbClr val="F2F2F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39" name="object 15">
            <a:extLst>
              <a:ext uri="{FF2B5EF4-FFF2-40B4-BE49-F238E27FC236}">
                <a16:creationId xmlns:a16="http://schemas.microsoft.com/office/drawing/2014/main" id="{06F9D7DA-6E2B-4C19-BE84-3BADE00F11D4}"/>
              </a:ext>
            </a:extLst>
          </p:cNvPr>
          <p:cNvSpPr/>
          <p:nvPr/>
        </p:nvSpPr>
        <p:spPr>
          <a:xfrm>
            <a:off x="5530037" y="3622775"/>
            <a:ext cx="291274" cy="322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0" name="object 16">
            <a:extLst>
              <a:ext uri="{FF2B5EF4-FFF2-40B4-BE49-F238E27FC236}">
                <a16:creationId xmlns:a16="http://schemas.microsoft.com/office/drawing/2014/main" id="{DD581655-DCBB-4F53-9581-1402C7091A9E}"/>
              </a:ext>
            </a:extLst>
          </p:cNvPr>
          <p:cNvSpPr/>
          <p:nvPr/>
        </p:nvSpPr>
        <p:spPr>
          <a:xfrm>
            <a:off x="5527736" y="4112049"/>
            <a:ext cx="291274" cy="322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1" name="object 17">
            <a:extLst>
              <a:ext uri="{FF2B5EF4-FFF2-40B4-BE49-F238E27FC236}">
                <a16:creationId xmlns:a16="http://schemas.microsoft.com/office/drawing/2014/main" id="{344319D9-E98D-4F89-89CF-E90266F5C133}"/>
              </a:ext>
            </a:extLst>
          </p:cNvPr>
          <p:cNvSpPr/>
          <p:nvPr/>
        </p:nvSpPr>
        <p:spPr>
          <a:xfrm>
            <a:off x="5525511" y="4559048"/>
            <a:ext cx="291281" cy="322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2" name="object 18">
            <a:extLst>
              <a:ext uri="{FF2B5EF4-FFF2-40B4-BE49-F238E27FC236}">
                <a16:creationId xmlns:a16="http://schemas.microsoft.com/office/drawing/2014/main" id="{100D4FFE-0CF4-4943-A86A-53C05AAADA3D}"/>
              </a:ext>
            </a:extLst>
          </p:cNvPr>
          <p:cNvSpPr/>
          <p:nvPr/>
        </p:nvSpPr>
        <p:spPr>
          <a:xfrm>
            <a:off x="6006560" y="1809137"/>
            <a:ext cx="3639185" cy="342265"/>
          </a:xfrm>
          <a:custGeom>
            <a:avLst/>
            <a:gdLst/>
            <a:ahLst/>
            <a:cxnLst/>
            <a:rect l="l" t="t" r="r" b="b"/>
            <a:pathLst>
              <a:path w="3639184" h="342265">
                <a:moveTo>
                  <a:pt x="0" y="341999"/>
                </a:moveTo>
                <a:lnTo>
                  <a:pt x="0" y="208878"/>
                </a:lnTo>
                <a:lnTo>
                  <a:pt x="0" y="100169"/>
                </a:lnTo>
                <a:lnTo>
                  <a:pt x="0" y="26876"/>
                </a:lnTo>
                <a:lnTo>
                  <a:pt x="0" y="0"/>
                </a:lnTo>
                <a:lnTo>
                  <a:pt x="3638992" y="0"/>
                </a:lnTo>
                <a:lnTo>
                  <a:pt x="3638992" y="6632"/>
                </a:lnTo>
                <a:lnTo>
                  <a:pt x="3638992" y="288176"/>
                </a:lnTo>
                <a:lnTo>
                  <a:pt x="3638992" y="341999"/>
                </a:lnTo>
              </a:path>
            </a:pathLst>
          </a:custGeom>
          <a:ln w="25399">
            <a:solidFill>
              <a:srgbClr val="1AAAF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3" name="object 19">
            <a:extLst>
              <a:ext uri="{FF2B5EF4-FFF2-40B4-BE49-F238E27FC236}">
                <a16:creationId xmlns:a16="http://schemas.microsoft.com/office/drawing/2014/main" id="{63A57349-5997-4E9E-918A-AA548D3F4C22}"/>
              </a:ext>
            </a:extLst>
          </p:cNvPr>
          <p:cNvSpPr/>
          <p:nvPr/>
        </p:nvSpPr>
        <p:spPr>
          <a:xfrm>
            <a:off x="2506348" y="1814989"/>
            <a:ext cx="3425190" cy="342265"/>
          </a:xfrm>
          <a:custGeom>
            <a:avLst/>
            <a:gdLst/>
            <a:ahLst/>
            <a:cxnLst/>
            <a:rect l="l" t="t" r="r" b="b"/>
            <a:pathLst>
              <a:path w="3425190" h="342265">
                <a:moveTo>
                  <a:pt x="0" y="341999"/>
                </a:moveTo>
                <a:lnTo>
                  <a:pt x="0" y="208877"/>
                </a:lnTo>
                <a:lnTo>
                  <a:pt x="1" y="100168"/>
                </a:lnTo>
                <a:lnTo>
                  <a:pt x="2" y="26875"/>
                </a:lnTo>
                <a:lnTo>
                  <a:pt x="2" y="0"/>
                </a:lnTo>
                <a:lnTo>
                  <a:pt x="3424788" y="0"/>
                </a:lnTo>
                <a:lnTo>
                  <a:pt x="3424788" y="0"/>
                </a:lnTo>
                <a:lnTo>
                  <a:pt x="3424788" y="288175"/>
                </a:lnTo>
                <a:lnTo>
                  <a:pt x="3424788" y="341999"/>
                </a:lnTo>
              </a:path>
            </a:pathLst>
          </a:custGeom>
          <a:ln w="25399">
            <a:solidFill>
              <a:srgbClr val="1AAAF7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4" name="object 20">
            <a:extLst>
              <a:ext uri="{FF2B5EF4-FFF2-40B4-BE49-F238E27FC236}">
                <a16:creationId xmlns:a16="http://schemas.microsoft.com/office/drawing/2014/main" id="{EA4B2187-9E71-4E94-8C74-8F4396F08FF8}"/>
              </a:ext>
            </a:extLst>
          </p:cNvPr>
          <p:cNvSpPr txBox="1"/>
          <p:nvPr/>
        </p:nvSpPr>
        <p:spPr>
          <a:xfrm>
            <a:off x="3802927" y="1528833"/>
            <a:ext cx="447294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9165" algn="l"/>
              </a:tabLst>
            </a:pPr>
            <a:r>
              <a:rPr sz="1200" b="1" spc="-5" dirty="0">
                <a:solidFill>
                  <a:schemeClr val="bg2"/>
                </a:solidFill>
                <a:latin typeface="Arial"/>
                <a:cs typeface="Arial"/>
              </a:rPr>
              <a:t>Developers	IT</a:t>
            </a:r>
            <a:r>
              <a:rPr sz="1200" b="1" spc="-70" dirty="0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chemeClr val="bg2"/>
                </a:solidFill>
                <a:latin typeface="Arial"/>
                <a:cs typeface="Arial"/>
              </a:rPr>
              <a:t>Operations</a:t>
            </a:r>
            <a:endParaRPr sz="120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45" name="object 21">
            <a:extLst>
              <a:ext uri="{FF2B5EF4-FFF2-40B4-BE49-F238E27FC236}">
                <a16:creationId xmlns:a16="http://schemas.microsoft.com/office/drawing/2014/main" id="{52A6CB79-0453-4D02-A450-34000FC349CD}"/>
              </a:ext>
            </a:extLst>
          </p:cNvPr>
          <p:cNvSpPr/>
          <p:nvPr/>
        </p:nvSpPr>
        <p:spPr>
          <a:xfrm>
            <a:off x="3507228" y="3342789"/>
            <a:ext cx="421684" cy="3025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6" name="object 22">
            <a:extLst>
              <a:ext uri="{FF2B5EF4-FFF2-40B4-BE49-F238E27FC236}">
                <a16:creationId xmlns:a16="http://schemas.microsoft.com/office/drawing/2014/main" id="{4E444B99-DCD8-4669-920E-E46DEA72764F}"/>
              </a:ext>
            </a:extLst>
          </p:cNvPr>
          <p:cNvSpPr/>
          <p:nvPr/>
        </p:nvSpPr>
        <p:spPr>
          <a:xfrm>
            <a:off x="3504953" y="4073237"/>
            <a:ext cx="1668959" cy="30262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7" name="object 23">
            <a:extLst>
              <a:ext uri="{FF2B5EF4-FFF2-40B4-BE49-F238E27FC236}">
                <a16:creationId xmlns:a16="http://schemas.microsoft.com/office/drawing/2014/main" id="{B3E6F4FF-F100-4F1B-8C6D-9D4ECB4193C5}"/>
              </a:ext>
            </a:extLst>
          </p:cNvPr>
          <p:cNvSpPr/>
          <p:nvPr/>
        </p:nvSpPr>
        <p:spPr>
          <a:xfrm>
            <a:off x="3510823" y="4762986"/>
            <a:ext cx="421684" cy="3026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48" name="object 24">
            <a:extLst>
              <a:ext uri="{FF2B5EF4-FFF2-40B4-BE49-F238E27FC236}">
                <a16:creationId xmlns:a16="http://schemas.microsoft.com/office/drawing/2014/main" id="{52EA6114-653A-4549-BA07-C2DDFB342DC6}"/>
              </a:ext>
            </a:extLst>
          </p:cNvPr>
          <p:cNvSpPr/>
          <p:nvPr/>
        </p:nvSpPr>
        <p:spPr>
          <a:xfrm>
            <a:off x="4383739" y="3929775"/>
            <a:ext cx="291299" cy="3224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55" name="object 31">
            <a:extLst>
              <a:ext uri="{FF2B5EF4-FFF2-40B4-BE49-F238E27FC236}">
                <a16:creationId xmlns:a16="http://schemas.microsoft.com/office/drawing/2014/main" id="{B7D2E4A2-2718-4622-8B3E-A5C206BCFA4D}"/>
              </a:ext>
            </a:extLst>
          </p:cNvPr>
          <p:cNvSpPr/>
          <p:nvPr/>
        </p:nvSpPr>
        <p:spPr>
          <a:xfrm>
            <a:off x="5810711" y="4157125"/>
            <a:ext cx="376199" cy="1997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56" name="object 32">
            <a:extLst>
              <a:ext uri="{FF2B5EF4-FFF2-40B4-BE49-F238E27FC236}">
                <a16:creationId xmlns:a16="http://schemas.microsoft.com/office/drawing/2014/main" id="{C7FD951B-864A-4D55-A95A-76099B883EF2}"/>
              </a:ext>
            </a:extLst>
          </p:cNvPr>
          <p:cNvSpPr/>
          <p:nvPr/>
        </p:nvSpPr>
        <p:spPr>
          <a:xfrm>
            <a:off x="5808436" y="4610748"/>
            <a:ext cx="376199" cy="1997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57" name="object 33">
            <a:extLst>
              <a:ext uri="{FF2B5EF4-FFF2-40B4-BE49-F238E27FC236}">
                <a16:creationId xmlns:a16="http://schemas.microsoft.com/office/drawing/2014/main" id="{198E2AAC-1173-4A9B-ACCF-2E72EE231F5D}"/>
              </a:ext>
            </a:extLst>
          </p:cNvPr>
          <p:cNvSpPr/>
          <p:nvPr/>
        </p:nvSpPr>
        <p:spPr>
          <a:xfrm>
            <a:off x="5816586" y="3682600"/>
            <a:ext cx="376199" cy="19979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58" name="object 34">
            <a:extLst>
              <a:ext uri="{FF2B5EF4-FFF2-40B4-BE49-F238E27FC236}">
                <a16:creationId xmlns:a16="http://schemas.microsoft.com/office/drawing/2014/main" id="{982EE567-DEEE-4356-A76C-54E18BBBE0E6}"/>
              </a:ext>
            </a:extLst>
          </p:cNvPr>
          <p:cNvSpPr txBox="1"/>
          <p:nvPr/>
        </p:nvSpPr>
        <p:spPr>
          <a:xfrm>
            <a:off x="2575138" y="2165164"/>
            <a:ext cx="1895475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67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2"/>
                </a:solidFill>
                <a:latin typeface="Arial"/>
                <a:cs typeface="Arial"/>
              </a:rPr>
              <a:t>BUILD</a:t>
            </a:r>
            <a:endParaRPr sz="1400" dirty="0">
              <a:solidFill>
                <a:schemeClr val="bg2"/>
              </a:solidFill>
              <a:latin typeface="Arial"/>
              <a:cs typeface="Arial"/>
            </a:endParaRPr>
          </a:p>
          <a:p>
            <a:pPr algn="ctr">
              <a:lnSpc>
                <a:spcPts val="1430"/>
              </a:lnSpc>
            </a:pP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Development</a:t>
            </a:r>
            <a:r>
              <a:rPr sz="1200" spc="-70" dirty="0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Environments</a:t>
            </a:r>
            <a:endParaRPr sz="1200" dirty="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59" name="object 35">
            <a:extLst>
              <a:ext uri="{FF2B5EF4-FFF2-40B4-BE49-F238E27FC236}">
                <a16:creationId xmlns:a16="http://schemas.microsoft.com/office/drawing/2014/main" id="{679FBA43-E821-4BF5-83DE-E264B4ED7D03}"/>
              </a:ext>
            </a:extLst>
          </p:cNvPr>
          <p:cNvSpPr txBox="1"/>
          <p:nvPr/>
        </p:nvSpPr>
        <p:spPr>
          <a:xfrm>
            <a:off x="5173545" y="2159640"/>
            <a:ext cx="1572260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167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2"/>
                </a:solidFill>
                <a:latin typeface="Arial"/>
                <a:cs typeface="Arial"/>
              </a:rPr>
              <a:t>SHIP</a:t>
            </a:r>
            <a:endParaRPr sz="1400">
              <a:solidFill>
                <a:schemeClr val="bg2"/>
              </a:solidFill>
              <a:latin typeface="Arial"/>
              <a:cs typeface="Arial"/>
            </a:endParaRPr>
          </a:p>
          <a:p>
            <a:pPr algn="ctr">
              <a:lnSpc>
                <a:spcPts val="1430"/>
              </a:lnSpc>
            </a:pP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Create </a:t>
            </a:r>
            <a:r>
              <a:rPr sz="1200" dirty="0">
                <a:solidFill>
                  <a:schemeClr val="bg2"/>
                </a:solidFill>
                <a:latin typeface="Arial"/>
                <a:cs typeface="Arial"/>
              </a:rPr>
              <a:t>&amp; </a:t>
            </a: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Store</a:t>
            </a:r>
            <a:r>
              <a:rPr sz="1200" spc="-90" dirty="0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Images</a:t>
            </a:r>
            <a:endParaRPr sz="1200">
              <a:solidFill>
                <a:schemeClr val="bg2"/>
              </a:solidFill>
              <a:latin typeface="Arial"/>
              <a:cs typeface="Arial"/>
            </a:endParaRPr>
          </a:p>
        </p:txBody>
      </p:sp>
      <p:sp>
        <p:nvSpPr>
          <p:cNvPr id="160" name="object 36">
            <a:extLst>
              <a:ext uri="{FF2B5EF4-FFF2-40B4-BE49-F238E27FC236}">
                <a16:creationId xmlns:a16="http://schemas.microsoft.com/office/drawing/2014/main" id="{7885F9D8-623E-48F5-A05A-C6D961C8B7AE}"/>
              </a:ext>
            </a:extLst>
          </p:cNvPr>
          <p:cNvSpPr txBox="1"/>
          <p:nvPr/>
        </p:nvSpPr>
        <p:spPr>
          <a:xfrm>
            <a:off x="7745674" y="2159640"/>
            <a:ext cx="1600200" cy="419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1670"/>
              </a:lnSpc>
              <a:spcBef>
                <a:spcPts val="100"/>
              </a:spcBef>
            </a:pPr>
            <a:r>
              <a:rPr sz="1400" b="1" spc="-5" dirty="0">
                <a:solidFill>
                  <a:schemeClr val="bg2"/>
                </a:solidFill>
                <a:latin typeface="Arial"/>
                <a:cs typeface="Arial"/>
              </a:rPr>
              <a:t>RUN</a:t>
            </a:r>
            <a:endParaRPr sz="1400">
              <a:solidFill>
                <a:schemeClr val="bg2"/>
              </a:solidFill>
              <a:latin typeface="Arial"/>
              <a:cs typeface="Arial"/>
            </a:endParaRPr>
          </a:p>
          <a:p>
            <a:pPr algn="ctr">
              <a:lnSpc>
                <a:spcPts val="1430"/>
              </a:lnSpc>
            </a:pP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Deploy, Manage,</a:t>
            </a:r>
            <a:r>
              <a:rPr sz="1200" spc="-80" dirty="0">
                <a:solidFill>
                  <a:schemeClr val="bg2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chemeClr val="bg2"/>
                </a:solidFill>
                <a:latin typeface="Arial"/>
                <a:cs typeface="Arial"/>
              </a:rPr>
              <a:t>Scale</a:t>
            </a:r>
            <a:endParaRPr sz="1200">
              <a:solidFill>
                <a:schemeClr val="bg2"/>
              </a:solidFill>
              <a:latin typeface="Arial"/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7D1AD5-F63E-4E9E-9E4D-903DEC688AB6}"/>
              </a:ext>
            </a:extLst>
          </p:cNvPr>
          <p:cNvGrpSpPr/>
          <p:nvPr/>
        </p:nvGrpSpPr>
        <p:grpSpPr>
          <a:xfrm>
            <a:off x="7376770" y="3331601"/>
            <a:ext cx="2222037" cy="2140652"/>
            <a:chOff x="7376770" y="3331601"/>
            <a:chExt cx="2222037" cy="2140652"/>
          </a:xfrm>
        </p:grpSpPr>
        <p:sp>
          <p:nvSpPr>
            <p:cNvPr id="129" name="object 5">
              <a:extLst>
                <a:ext uri="{FF2B5EF4-FFF2-40B4-BE49-F238E27FC236}">
                  <a16:creationId xmlns:a16="http://schemas.microsoft.com/office/drawing/2014/main" id="{4FCCF749-04AB-40B1-99A8-6637B4757C93}"/>
                </a:ext>
              </a:extLst>
            </p:cNvPr>
            <p:cNvSpPr/>
            <p:nvPr/>
          </p:nvSpPr>
          <p:spPr>
            <a:xfrm>
              <a:off x="7563758" y="3717450"/>
              <a:ext cx="45085" cy="31115"/>
            </a:xfrm>
            <a:custGeom>
              <a:avLst/>
              <a:gdLst/>
              <a:ahLst/>
              <a:cxnLst/>
              <a:rect l="l" t="t" r="r" b="b"/>
              <a:pathLst>
                <a:path w="45085" h="31114">
                  <a:moveTo>
                    <a:pt x="11974" y="30674"/>
                  </a:moveTo>
                  <a:lnTo>
                    <a:pt x="20224" y="10449"/>
                  </a:lnTo>
                  <a:lnTo>
                    <a:pt x="0" y="2224"/>
                  </a:lnTo>
                  <a:lnTo>
                    <a:pt x="45074" y="0"/>
                  </a:lnTo>
                  <a:lnTo>
                    <a:pt x="11974" y="3067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0" name="object 6">
              <a:extLst>
                <a:ext uri="{FF2B5EF4-FFF2-40B4-BE49-F238E27FC236}">
                  <a16:creationId xmlns:a16="http://schemas.microsoft.com/office/drawing/2014/main" id="{57F15AD9-0607-4C1A-B11C-9D5513A855AE}"/>
                </a:ext>
              </a:extLst>
            </p:cNvPr>
            <p:cNvSpPr/>
            <p:nvPr/>
          </p:nvSpPr>
          <p:spPr>
            <a:xfrm>
              <a:off x="7563758" y="3717450"/>
              <a:ext cx="45085" cy="31115"/>
            </a:xfrm>
            <a:custGeom>
              <a:avLst/>
              <a:gdLst/>
              <a:ahLst/>
              <a:cxnLst/>
              <a:rect l="l" t="t" r="r" b="b"/>
              <a:pathLst>
                <a:path w="45085" h="31114">
                  <a:moveTo>
                    <a:pt x="20224" y="10449"/>
                  </a:moveTo>
                  <a:lnTo>
                    <a:pt x="11974" y="30674"/>
                  </a:lnTo>
                  <a:lnTo>
                    <a:pt x="45074" y="0"/>
                  </a:lnTo>
                  <a:lnTo>
                    <a:pt x="0" y="2224"/>
                  </a:lnTo>
                  <a:lnTo>
                    <a:pt x="20224" y="10449"/>
                  </a:lnTo>
                  <a:close/>
                </a:path>
              </a:pathLst>
            </a:custGeom>
            <a:ln w="126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2" name="object 8">
              <a:extLst>
                <a:ext uri="{FF2B5EF4-FFF2-40B4-BE49-F238E27FC236}">
                  <a16:creationId xmlns:a16="http://schemas.microsoft.com/office/drawing/2014/main" id="{4C49FA62-68F0-4B7F-9850-77B810CE89A7}"/>
                </a:ext>
              </a:extLst>
            </p:cNvPr>
            <p:cNvSpPr/>
            <p:nvPr/>
          </p:nvSpPr>
          <p:spPr>
            <a:xfrm>
              <a:off x="7518583" y="5121747"/>
              <a:ext cx="43815" cy="37465"/>
            </a:xfrm>
            <a:custGeom>
              <a:avLst/>
              <a:gdLst/>
              <a:ahLst/>
              <a:cxnLst/>
              <a:rect l="l" t="t" r="r" b="b"/>
              <a:pathLst>
                <a:path w="43814" h="37464">
                  <a:moveTo>
                    <a:pt x="43449" y="37274"/>
                  </a:moveTo>
                  <a:lnTo>
                    <a:pt x="0" y="25049"/>
                  </a:lnTo>
                  <a:lnTo>
                    <a:pt x="21549" y="21524"/>
                  </a:lnTo>
                  <a:lnTo>
                    <a:pt x="18024" y="0"/>
                  </a:lnTo>
                  <a:lnTo>
                    <a:pt x="43449" y="37274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33" name="object 9">
              <a:extLst>
                <a:ext uri="{FF2B5EF4-FFF2-40B4-BE49-F238E27FC236}">
                  <a16:creationId xmlns:a16="http://schemas.microsoft.com/office/drawing/2014/main" id="{ECC07CE0-ABC8-45B8-A131-A3BC5F8531D8}"/>
                </a:ext>
              </a:extLst>
            </p:cNvPr>
            <p:cNvSpPr/>
            <p:nvPr/>
          </p:nvSpPr>
          <p:spPr>
            <a:xfrm>
              <a:off x="7518582" y="5121747"/>
              <a:ext cx="43815" cy="37465"/>
            </a:xfrm>
            <a:custGeom>
              <a:avLst/>
              <a:gdLst/>
              <a:ahLst/>
              <a:cxnLst/>
              <a:rect l="l" t="t" r="r" b="b"/>
              <a:pathLst>
                <a:path w="43814" h="37464">
                  <a:moveTo>
                    <a:pt x="21549" y="21524"/>
                  </a:moveTo>
                  <a:lnTo>
                    <a:pt x="0" y="25049"/>
                  </a:lnTo>
                  <a:lnTo>
                    <a:pt x="43449" y="37274"/>
                  </a:lnTo>
                  <a:lnTo>
                    <a:pt x="18024" y="0"/>
                  </a:lnTo>
                  <a:lnTo>
                    <a:pt x="21549" y="21524"/>
                  </a:lnTo>
                  <a:close/>
                </a:path>
              </a:pathLst>
            </a:custGeom>
            <a:ln w="12699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49" name="object 25">
              <a:extLst>
                <a:ext uri="{FF2B5EF4-FFF2-40B4-BE49-F238E27FC236}">
                  <a16:creationId xmlns:a16="http://schemas.microsoft.com/office/drawing/2014/main" id="{50425D93-6658-49C8-B3E2-7A8853F439D2}"/>
                </a:ext>
              </a:extLst>
            </p:cNvPr>
            <p:cNvSpPr/>
            <p:nvPr/>
          </p:nvSpPr>
          <p:spPr>
            <a:xfrm>
              <a:off x="7626032" y="3331601"/>
              <a:ext cx="1972310" cy="757555"/>
            </a:xfrm>
            <a:custGeom>
              <a:avLst/>
              <a:gdLst/>
              <a:ahLst/>
              <a:cxnLst/>
              <a:rect l="l" t="t" r="r" b="b"/>
              <a:pathLst>
                <a:path w="1972309" h="757554">
                  <a:moveTo>
                    <a:pt x="1972196" y="757198"/>
                  </a:moveTo>
                  <a:lnTo>
                    <a:pt x="298249" y="757198"/>
                  </a:lnTo>
                  <a:lnTo>
                    <a:pt x="0" y="378599"/>
                  </a:lnTo>
                  <a:lnTo>
                    <a:pt x="298249" y="0"/>
                  </a:lnTo>
                  <a:lnTo>
                    <a:pt x="1972196" y="0"/>
                  </a:lnTo>
                  <a:lnTo>
                    <a:pt x="1972196" y="757198"/>
                  </a:lnTo>
                  <a:close/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0" name="object 26">
              <a:extLst>
                <a:ext uri="{FF2B5EF4-FFF2-40B4-BE49-F238E27FC236}">
                  <a16:creationId xmlns:a16="http://schemas.microsoft.com/office/drawing/2014/main" id="{4C58D34E-DE2D-4617-841F-DE2F9F40AF0E}"/>
                </a:ext>
              </a:extLst>
            </p:cNvPr>
            <p:cNvSpPr/>
            <p:nvPr/>
          </p:nvSpPr>
          <p:spPr>
            <a:xfrm>
              <a:off x="7639832" y="4714698"/>
              <a:ext cx="1958975" cy="757555"/>
            </a:xfrm>
            <a:custGeom>
              <a:avLst/>
              <a:gdLst/>
              <a:ahLst/>
              <a:cxnLst/>
              <a:rect l="l" t="t" r="r" b="b"/>
              <a:pathLst>
                <a:path w="1958975" h="757554">
                  <a:moveTo>
                    <a:pt x="1958396" y="757198"/>
                  </a:moveTo>
                  <a:lnTo>
                    <a:pt x="298249" y="757198"/>
                  </a:lnTo>
                  <a:lnTo>
                    <a:pt x="0" y="378599"/>
                  </a:lnTo>
                  <a:lnTo>
                    <a:pt x="298249" y="0"/>
                  </a:lnTo>
                  <a:lnTo>
                    <a:pt x="1958396" y="0"/>
                  </a:lnTo>
                  <a:lnTo>
                    <a:pt x="1958396" y="757198"/>
                  </a:lnTo>
                  <a:close/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1" name="object 27">
              <a:extLst>
                <a:ext uri="{FF2B5EF4-FFF2-40B4-BE49-F238E27FC236}">
                  <a16:creationId xmlns:a16="http://schemas.microsoft.com/office/drawing/2014/main" id="{4C914393-49FB-4D7F-9F14-F57440B7FBAE}"/>
                </a:ext>
              </a:extLst>
            </p:cNvPr>
            <p:cNvSpPr/>
            <p:nvPr/>
          </p:nvSpPr>
          <p:spPr>
            <a:xfrm>
              <a:off x="8591031" y="4167524"/>
              <a:ext cx="318135" cy="483234"/>
            </a:xfrm>
            <a:custGeom>
              <a:avLst/>
              <a:gdLst/>
              <a:ahLst/>
              <a:cxnLst/>
              <a:rect l="l" t="t" r="r" b="b"/>
              <a:pathLst>
                <a:path w="318134" h="483235">
                  <a:moveTo>
                    <a:pt x="317699" y="139774"/>
                  </a:moveTo>
                  <a:lnTo>
                    <a:pt x="0" y="139774"/>
                  </a:lnTo>
                  <a:lnTo>
                    <a:pt x="158849" y="0"/>
                  </a:lnTo>
                  <a:lnTo>
                    <a:pt x="317699" y="139774"/>
                  </a:lnTo>
                  <a:close/>
                </a:path>
                <a:path w="318134" h="483235">
                  <a:moveTo>
                    <a:pt x="241499" y="343199"/>
                  </a:moveTo>
                  <a:lnTo>
                    <a:pt x="76224" y="343199"/>
                  </a:lnTo>
                  <a:lnTo>
                    <a:pt x="76224" y="139774"/>
                  </a:lnTo>
                  <a:lnTo>
                    <a:pt x="241499" y="139774"/>
                  </a:lnTo>
                  <a:lnTo>
                    <a:pt x="241499" y="343199"/>
                  </a:lnTo>
                  <a:close/>
                </a:path>
                <a:path w="318134" h="483235">
                  <a:moveTo>
                    <a:pt x="158849" y="482999"/>
                  </a:moveTo>
                  <a:lnTo>
                    <a:pt x="0" y="343199"/>
                  </a:lnTo>
                  <a:lnTo>
                    <a:pt x="317699" y="343199"/>
                  </a:lnTo>
                  <a:lnTo>
                    <a:pt x="158849" y="482999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2" name="object 28">
              <a:extLst>
                <a:ext uri="{FF2B5EF4-FFF2-40B4-BE49-F238E27FC236}">
                  <a16:creationId xmlns:a16="http://schemas.microsoft.com/office/drawing/2014/main" id="{03F416D7-E6C4-4479-AFB1-5D681816C9C4}"/>
                </a:ext>
              </a:extLst>
            </p:cNvPr>
            <p:cNvSpPr/>
            <p:nvPr/>
          </p:nvSpPr>
          <p:spPr>
            <a:xfrm>
              <a:off x="8591031" y="4167524"/>
              <a:ext cx="318135" cy="483234"/>
            </a:xfrm>
            <a:custGeom>
              <a:avLst/>
              <a:gdLst/>
              <a:ahLst/>
              <a:cxnLst/>
              <a:rect l="l" t="t" r="r" b="b"/>
              <a:pathLst>
                <a:path w="318134" h="483235">
                  <a:moveTo>
                    <a:pt x="0" y="139774"/>
                  </a:moveTo>
                  <a:lnTo>
                    <a:pt x="158849" y="0"/>
                  </a:lnTo>
                  <a:lnTo>
                    <a:pt x="317699" y="139774"/>
                  </a:lnTo>
                  <a:lnTo>
                    <a:pt x="241499" y="139774"/>
                  </a:lnTo>
                  <a:lnTo>
                    <a:pt x="241499" y="343199"/>
                  </a:lnTo>
                  <a:lnTo>
                    <a:pt x="317699" y="343199"/>
                  </a:lnTo>
                  <a:lnTo>
                    <a:pt x="158849" y="482999"/>
                  </a:lnTo>
                  <a:lnTo>
                    <a:pt x="0" y="343199"/>
                  </a:lnTo>
                  <a:lnTo>
                    <a:pt x="76224" y="343199"/>
                  </a:lnTo>
                  <a:lnTo>
                    <a:pt x="76224" y="139774"/>
                  </a:lnTo>
                  <a:lnTo>
                    <a:pt x="0" y="139774"/>
                  </a:lnTo>
                  <a:close/>
                </a:path>
              </a:pathLst>
            </a:custGeom>
            <a:ln w="9524">
              <a:solidFill>
                <a:srgbClr val="D8D8D8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3" name="object 29">
              <a:extLst>
                <a:ext uri="{FF2B5EF4-FFF2-40B4-BE49-F238E27FC236}">
                  <a16:creationId xmlns:a16="http://schemas.microsoft.com/office/drawing/2014/main" id="{A5823A6B-85EB-4119-A4A1-AEABE08C7A4F}"/>
                </a:ext>
              </a:extLst>
            </p:cNvPr>
            <p:cNvSpPr/>
            <p:nvPr/>
          </p:nvSpPr>
          <p:spPr>
            <a:xfrm>
              <a:off x="7419658" y="4890823"/>
              <a:ext cx="431399" cy="35819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54" name="object 30">
              <a:extLst>
                <a:ext uri="{FF2B5EF4-FFF2-40B4-BE49-F238E27FC236}">
                  <a16:creationId xmlns:a16="http://schemas.microsoft.com/office/drawing/2014/main" id="{EE6C13AE-CC3C-4E11-8AEE-0649EDADA552}"/>
                </a:ext>
              </a:extLst>
            </p:cNvPr>
            <p:cNvSpPr/>
            <p:nvPr/>
          </p:nvSpPr>
          <p:spPr>
            <a:xfrm>
              <a:off x="7376770" y="3546763"/>
              <a:ext cx="541023" cy="3594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1" name="object 37">
              <a:extLst>
                <a:ext uri="{FF2B5EF4-FFF2-40B4-BE49-F238E27FC236}">
                  <a16:creationId xmlns:a16="http://schemas.microsoft.com/office/drawing/2014/main" id="{46A12510-AF4B-431B-9C8F-835B392425D7}"/>
                </a:ext>
              </a:extLst>
            </p:cNvPr>
            <p:cNvSpPr/>
            <p:nvPr/>
          </p:nvSpPr>
          <p:spPr>
            <a:xfrm>
              <a:off x="8084831" y="3590626"/>
              <a:ext cx="518795" cy="247015"/>
            </a:xfrm>
            <a:custGeom>
              <a:avLst/>
              <a:gdLst/>
              <a:ahLst/>
              <a:cxnLst/>
              <a:rect l="l" t="t" r="r" b="b"/>
              <a:pathLst>
                <a:path w="518795" h="247014">
                  <a:moveTo>
                    <a:pt x="0" y="123299"/>
                  </a:moveTo>
                  <a:lnTo>
                    <a:pt x="6848" y="95027"/>
                  </a:lnTo>
                  <a:lnTo>
                    <a:pt x="26357" y="69074"/>
                  </a:lnTo>
                  <a:lnTo>
                    <a:pt x="56971" y="46180"/>
                  </a:lnTo>
                  <a:lnTo>
                    <a:pt x="97133" y="27086"/>
                  </a:lnTo>
                  <a:lnTo>
                    <a:pt x="145287" y="12531"/>
                  </a:lnTo>
                  <a:lnTo>
                    <a:pt x="199878" y="3256"/>
                  </a:lnTo>
                  <a:lnTo>
                    <a:pt x="259349" y="0"/>
                  </a:lnTo>
                  <a:lnTo>
                    <a:pt x="318812" y="3256"/>
                  </a:lnTo>
                  <a:lnTo>
                    <a:pt x="373400" y="12531"/>
                  </a:lnTo>
                  <a:lnTo>
                    <a:pt x="421555" y="27086"/>
                  </a:lnTo>
                  <a:lnTo>
                    <a:pt x="461719" y="46180"/>
                  </a:lnTo>
                  <a:lnTo>
                    <a:pt x="492336" y="69074"/>
                  </a:lnTo>
                  <a:lnTo>
                    <a:pt x="518698" y="123299"/>
                  </a:lnTo>
                  <a:lnTo>
                    <a:pt x="492336" y="177525"/>
                  </a:lnTo>
                  <a:lnTo>
                    <a:pt x="461719" y="200418"/>
                  </a:lnTo>
                  <a:lnTo>
                    <a:pt x="421555" y="219512"/>
                  </a:lnTo>
                  <a:lnTo>
                    <a:pt x="373400" y="234067"/>
                  </a:lnTo>
                  <a:lnTo>
                    <a:pt x="318812" y="243343"/>
                  </a:lnTo>
                  <a:lnTo>
                    <a:pt x="259349" y="246599"/>
                  </a:lnTo>
                  <a:lnTo>
                    <a:pt x="199878" y="243343"/>
                  </a:lnTo>
                  <a:lnTo>
                    <a:pt x="145287" y="234067"/>
                  </a:lnTo>
                  <a:lnTo>
                    <a:pt x="97133" y="219512"/>
                  </a:lnTo>
                  <a:lnTo>
                    <a:pt x="56971" y="200418"/>
                  </a:lnTo>
                  <a:lnTo>
                    <a:pt x="26357" y="177525"/>
                  </a:lnTo>
                  <a:lnTo>
                    <a:pt x="6848" y="151572"/>
                  </a:lnTo>
                  <a:lnTo>
                    <a:pt x="0" y="123299"/>
                  </a:lnTo>
                  <a:close/>
                </a:path>
              </a:pathLst>
            </a:custGeom>
            <a:ln w="2857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2" name="object 38">
              <a:extLst>
                <a:ext uri="{FF2B5EF4-FFF2-40B4-BE49-F238E27FC236}">
                  <a16:creationId xmlns:a16="http://schemas.microsoft.com/office/drawing/2014/main" id="{AB644A19-E7B6-4DD8-AF30-3E327F5A831A}"/>
                </a:ext>
              </a:extLst>
            </p:cNvPr>
            <p:cNvSpPr/>
            <p:nvPr/>
          </p:nvSpPr>
          <p:spPr>
            <a:xfrm>
              <a:off x="8056369" y="3506288"/>
              <a:ext cx="371899" cy="37294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3" name="object 39">
              <a:extLst>
                <a:ext uri="{FF2B5EF4-FFF2-40B4-BE49-F238E27FC236}">
                  <a16:creationId xmlns:a16="http://schemas.microsoft.com/office/drawing/2014/main" id="{FF29BAA0-DD86-43D1-BC37-ECB60F4AEBB0}"/>
                </a:ext>
              </a:extLst>
            </p:cNvPr>
            <p:cNvSpPr/>
            <p:nvPr/>
          </p:nvSpPr>
          <p:spPr>
            <a:xfrm>
              <a:off x="8461018" y="3705013"/>
              <a:ext cx="178574" cy="1785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4" name="object 40">
              <a:extLst>
                <a:ext uri="{FF2B5EF4-FFF2-40B4-BE49-F238E27FC236}">
                  <a16:creationId xmlns:a16="http://schemas.microsoft.com/office/drawing/2014/main" id="{D0DFE19B-DA50-4B27-BB30-A730DB793A87}"/>
                </a:ext>
              </a:extLst>
            </p:cNvPr>
            <p:cNvSpPr/>
            <p:nvPr/>
          </p:nvSpPr>
          <p:spPr>
            <a:xfrm>
              <a:off x="8856030" y="3590626"/>
              <a:ext cx="518795" cy="247015"/>
            </a:xfrm>
            <a:custGeom>
              <a:avLst/>
              <a:gdLst/>
              <a:ahLst/>
              <a:cxnLst/>
              <a:rect l="l" t="t" r="r" b="b"/>
              <a:pathLst>
                <a:path w="518795" h="247014">
                  <a:moveTo>
                    <a:pt x="0" y="123299"/>
                  </a:moveTo>
                  <a:lnTo>
                    <a:pt x="6848" y="95027"/>
                  </a:lnTo>
                  <a:lnTo>
                    <a:pt x="26357" y="69074"/>
                  </a:lnTo>
                  <a:lnTo>
                    <a:pt x="56971" y="46180"/>
                  </a:lnTo>
                  <a:lnTo>
                    <a:pt x="97133" y="27086"/>
                  </a:lnTo>
                  <a:lnTo>
                    <a:pt x="145287" y="12531"/>
                  </a:lnTo>
                  <a:lnTo>
                    <a:pt x="199878" y="3256"/>
                  </a:lnTo>
                  <a:lnTo>
                    <a:pt x="259349" y="0"/>
                  </a:lnTo>
                  <a:lnTo>
                    <a:pt x="318812" y="3256"/>
                  </a:lnTo>
                  <a:lnTo>
                    <a:pt x="373400" y="12531"/>
                  </a:lnTo>
                  <a:lnTo>
                    <a:pt x="421555" y="27086"/>
                  </a:lnTo>
                  <a:lnTo>
                    <a:pt x="461719" y="46180"/>
                  </a:lnTo>
                  <a:lnTo>
                    <a:pt x="492336" y="69074"/>
                  </a:lnTo>
                  <a:lnTo>
                    <a:pt x="518698" y="123299"/>
                  </a:lnTo>
                  <a:lnTo>
                    <a:pt x="492336" y="177525"/>
                  </a:lnTo>
                  <a:lnTo>
                    <a:pt x="461719" y="200418"/>
                  </a:lnTo>
                  <a:lnTo>
                    <a:pt x="421555" y="219512"/>
                  </a:lnTo>
                  <a:lnTo>
                    <a:pt x="373400" y="234067"/>
                  </a:lnTo>
                  <a:lnTo>
                    <a:pt x="318812" y="243343"/>
                  </a:lnTo>
                  <a:lnTo>
                    <a:pt x="259349" y="246599"/>
                  </a:lnTo>
                  <a:lnTo>
                    <a:pt x="199878" y="243343"/>
                  </a:lnTo>
                  <a:lnTo>
                    <a:pt x="145287" y="234067"/>
                  </a:lnTo>
                  <a:lnTo>
                    <a:pt x="97133" y="219512"/>
                  </a:lnTo>
                  <a:lnTo>
                    <a:pt x="56971" y="200418"/>
                  </a:lnTo>
                  <a:lnTo>
                    <a:pt x="26357" y="177525"/>
                  </a:lnTo>
                  <a:lnTo>
                    <a:pt x="6848" y="151572"/>
                  </a:lnTo>
                  <a:lnTo>
                    <a:pt x="0" y="123299"/>
                  </a:lnTo>
                  <a:close/>
                </a:path>
              </a:pathLst>
            </a:custGeom>
            <a:ln w="2857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5" name="object 41">
              <a:extLst>
                <a:ext uri="{FF2B5EF4-FFF2-40B4-BE49-F238E27FC236}">
                  <a16:creationId xmlns:a16="http://schemas.microsoft.com/office/drawing/2014/main" id="{DA8ABF45-484E-4360-8351-FA7092ED53F5}"/>
                </a:ext>
              </a:extLst>
            </p:cNvPr>
            <p:cNvSpPr/>
            <p:nvPr/>
          </p:nvSpPr>
          <p:spPr>
            <a:xfrm>
              <a:off x="8827567" y="3506288"/>
              <a:ext cx="371899" cy="37294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6" name="object 42">
              <a:extLst>
                <a:ext uri="{FF2B5EF4-FFF2-40B4-BE49-F238E27FC236}">
                  <a16:creationId xmlns:a16="http://schemas.microsoft.com/office/drawing/2014/main" id="{EBBC8B6E-22EF-4744-BD0D-44F34537B96A}"/>
                </a:ext>
              </a:extLst>
            </p:cNvPr>
            <p:cNvSpPr/>
            <p:nvPr/>
          </p:nvSpPr>
          <p:spPr>
            <a:xfrm>
              <a:off x="9232216" y="3705013"/>
              <a:ext cx="178574" cy="1785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7" name="object 43">
              <a:extLst>
                <a:ext uri="{FF2B5EF4-FFF2-40B4-BE49-F238E27FC236}">
                  <a16:creationId xmlns:a16="http://schemas.microsoft.com/office/drawing/2014/main" id="{0215860E-DF69-43F9-A4FA-3072FE6EA959}"/>
                </a:ext>
              </a:extLst>
            </p:cNvPr>
            <p:cNvSpPr/>
            <p:nvPr/>
          </p:nvSpPr>
          <p:spPr>
            <a:xfrm>
              <a:off x="8085931" y="4989073"/>
              <a:ext cx="518795" cy="247015"/>
            </a:xfrm>
            <a:custGeom>
              <a:avLst/>
              <a:gdLst/>
              <a:ahLst/>
              <a:cxnLst/>
              <a:rect l="l" t="t" r="r" b="b"/>
              <a:pathLst>
                <a:path w="518795" h="247014">
                  <a:moveTo>
                    <a:pt x="0" y="123299"/>
                  </a:moveTo>
                  <a:lnTo>
                    <a:pt x="6850" y="95027"/>
                  </a:lnTo>
                  <a:lnTo>
                    <a:pt x="26362" y="69074"/>
                  </a:lnTo>
                  <a:lnTo>
                    <a:pt x="56979" y="46180"/>
                  </a:lnTo>
                  <a:lnTo>
                    <a:pt x="97143" y="27086"/>
                  </a:lnTo>
                  <a:lnTo>
                    <a:pt x="145298" y="12531"/>
                  </a:lnTo>
                  <a:lnTo>
                    <a:pt x="199886" y="3256"/>
                  </a:lnTo>
                  <a:lnTo>
                    <a:pt x="259349" y="0"/>
                  </a:lnTo>
                  <a:lnTo>
                    <a:pt x="318812" y="3256"/>
                  </a:lnTo>
                  <a:lnTo>
                    <a:pt x="373400" y="12531"/>
                  </a:lnTo>
                  <a:lnTo>
                    <a:pt x="421555" y="27086"/>
                  </a:lnTo>
                  <a:lnTo>
                    <a:pt x="461719" y="46180"/>
                  </a:lnTo>
                  <a:lnTo>
                    <a:pt x="492336" y="69074"/>
                  </a:lnTo>
                  <a:lnTo>
                    <a:pt x="518698" y="123299"/>
                  </a:lnTo>
                  <a:lnTo>
                    <a:pt x="492336" y="177525"/>
                  </a:lnTo>
                  <a:lnTo>
                    <a:pt x="461719" y="200418"/>
                  </a:lnTo>
                  <a:lnTo>
                    <a:pt x="421555" y="219512"/>
                  </a:lnTo>
                  <a:lnTo>
                    <a:pt x="373400" y="234067"/>
                  </a:lnTo>
                  <a:lnTo>
                    <a:pt x="318812" y="243343"/>
                  </a:lnTo>
                  <a:lnTo>
                    <a:pt x="259349" y="246599"/>
                  </a:lnTo>
                  <a:lnTo>
                    <a:pt x="199886" y="243343"/>
                  </a:lnTo>
                  <a:lnTo>
                    <a:pt x="145298" y="234067"/>
                  </a:lnTo>
                  <a:lnTo>
                    <a:pt x="97143" y="219512"/>
                  </a:lnTo>
                  <a:lnTo>
                    <a:pt x="56979" y="200418"/>
                  </a:lnTo>
                  <a:lnTo>
                    <a:pt x="26362" y="177525"/>
                  </a:lnTo>
                  <a:lnTo>
                    <a:pt x="6850" y="151572"/>
                  </a:lnTo>
                  <a:lnTo>
                    <a:pt x="0" y="123299"/>
                  </a:lnTo>
                  <a:close/>
                </a:path>
              </a:pathLst>
            </a:custGeom>
            <a:ln w="2857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8" name="object 44">
              <a:extLst>
                <a:ext uri="{FF2B5EF4-FFF2-40B4-BE49-F238E27FC236}">
                  <a16:creationId xmlns:a16="http://schemas.microsoft.com/office/drawing/2014/main" id="{29A9F8BC-F36B-412F-B3C0-3BF70EB0E11B}"/>
                </a:ext>
              </a:extLst>
            </p:cNvPr>
            <p:cNvSpPr/>
            <p:nvPr/>
          </p:nvSpPr>
          <p:spPr>
            <a:xfrm>
              <a:off x="8057494" y="4904736"/>
              <a:ext cx="371874" cy="37294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69" name="object 45">
              <a:extLst>
                <a:ext uri="{FF2B5EF4-FFF2-40B4-BE49-F238E27FC236}">
                  <a16:creationId xmlns:a16="http://schemas.microsoft.com/office/drawing/2014/main" id="{B44A4AD2-C77F-4C84-AC16-6EEFFB58DDEF}"/>
                </a:ext>
              </a:extLst>
            </p:cNvPr>
            <p:cNvSpPr/>
            <p:nvPr/>
          </p:nvSpPr>
          <p:spPr>
            <a:xfrm>
              <a:off x="8462118" y="5103485"/>
              <a:ext cx="178574" cy="17857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70" name="object 46">
              <a:extLst>
                <a:ext uri="{FF2B5EF4-FFF2-40B4-BE49-F238E27FC236}">
                  <a16:creationId xmlns:a16="http://schemas.microsoft.com/office/drawing/2014/main" id="{588A729E-D039-40D3-947C-1DE7ABD1D68F}"/>
                </a:ext>
              </a:extLst>
            </p:cNvPr>
            <p:cNvSpPr/>
            <p:nvPr/>
          </p:nvSpPr>
          <p:spPr>
            <a:xfrm>
              <a:off x="8857130" y="4989073"/>
              <a:ext cx="518795" cy="247015"/>
            </a:xfrm>
            <a:custGeom>
              <a:avLst/>
              <a:gdLst/>
              <a:ahLst/>
              <a:cxnLst/>
              <a:rect l="l" t="t" r="r" b="b"/>
              <a:pathLst>
                <a:path w="518795" h="247014">
                  <a:moveTo>
                    <a:pt x="0" y="123299"/>
                  </a:moveTo>
                  <a:lnTo>
                    <a:pt x="6850" y="95027"/>
                  </a:lnTo>
                  <a:lnTo>
                    <a:pt x="26362" y="69074"/>
                  </a:lnTo>
                  <a:lnTo>
                    <a:pt x="56979" y="46180"/>
                  </a:lnTo>
                  <a:lnTo>
                    <a:pt x="97143" y="27086"/>
                  </a:lnTo>
                  <a:lnTo>
                    <a:pt x="145298" y="12531"/>
                  </a:lnTo>
                  <a:lnTo>
                    <a:pt x="199886" y="3256"/>
                  </a:lnTo>
                  <a:lnTo>
                    <a:pt x="259349" y="0"/>
                  </a:lnTo>
                  <a:lnTo>
                    <a:pt x="318812" y="3256"/>
                  </a:lnTo>
                  <a:lnTo>
                    <a:pt x="373400" y="12531"/>
                  </a:lnTo>
                  <a:lnTo>
                    <a:pt x="421555" y="27086"/>
                  </a:lnTo>
                  <a:lnTo>
                    <a:pt x="461719" y="46180"/>
                  </a:lnTo>
                  <a:lnTo>
                    <a:pt x="492336" y="69074"/>
                  </a:lnTo>
                  <a:lnTo>
                    <a:pt x="518698" y="123299"/>
                  </a:lnTo>
                  <a:lnTo>
                    <a:pt x="492336" y="177525"/>
                  </a:lnTo>
                  <a:lnTo>
                    <a:pt x="461719" y="200418"/>
                  </a:lnTo>
                  <a:lnTo>
                    <a:pt x="421555" y="219512"/>
                  </a:lnTo>
                  <a:lnTo>
                    <a:pt x="373400" y="234067"/>
                  </a:lnTo>
                  <a:lnTo>
                    <a:pt x="318812" y="243343"/>
                  </a:lnTo>
                  <a:lnTo>
                    <a:pt x="259349" y="246599"/>
                  </a:lnTo>
                  <a:lnTo>
                    <a:pt x="199886" y="243343"/>
                  </a:lnTo>
                  <a:lnTo>
                    <a:pt x="145298" y="234067"/>
                  </a:lnTo>
                  <a:lnTo>
                    <a:pt x="97143" y="219512"/>
                  </a:lnTo>
                  <a:lnTo>
                    <a:pt x="56979" y="200418"/>
                  </a:lnTo>
                  <a:lnTo>
                    <a:pt x="26362" y="177525"/>
                  </a:lnTo>
                  <a:lnTo>
                    <a:pt x="6850" y="151572"/>
                  </a:lnTo>
                  <a:lnTo>
                    <a:pt x="0" y="123299"/>
                  </a:lnTo>
                  <a:close/>
                </a:path>
              </a:pathLst>
            </a:custGeom>
            <a:ln w="28574">
              <a:solidFill>
                <a:srgbClr val="A5A5A5"/>
              </a:solidFill>
            </a:ln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71" name="object 47">
              <a:extLst>
                <a:ext uri="{FF2B5EF4-FFF2-40B4-BE49-F238E27FC236}">
                  <a16:creationId xmlns:a16="http://schemas.microsoft.com/office/drawing/2014/main" id="{A3ACE9F4-8756-491E-A93E-C8CE5CE693BC}"/>
                </a:ext>
              </a:extLst>
            </p:cNvPr>
            <p:cNvSpPr/>
            <p:nvPr/>
          </p:nvSpPr>
          <p:spPr>
            <a:xfrm>
              <a:off x="8828692" y="4904736"/>
              <a:ext cx="371874" cy="37294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72" name="object 48">
              <a:extLst>
                <a:ext uri="{FF2B5EF4-FFF2-40B4-BE49-F238E27FC236}">
                  <a16:creationId xmlns:a16="http://schemas.microsoft.com/office/drawing/2014/main" id="{FE6421EA-2B08-4E14-95E4-2A7DE9801731}"/>
                </a:ext>
              </a:extLst>
            </p:cNvPr>
            <p:cNvSpPr/>
            <p:nvPr/>
          </p:nvSpPr>
          <p:spPr>
            <a:xfrm>
              <a:off x="9233342" y="5103485"/>
              <a:ext cx="178549" cy="178574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>
                <a:solidFill>
                  <a:schemeClr val="bg2"/>
                </a:solidFill>
              </a:endParaRPr>
            </a:p>
          </p:txBody>
        </p:sp>
      </p:grpSp>
      <p:sp>
        <p:nvSpPr>
          <p:cNvPr id="173" name="object 49">
            <a:extLst>
              <a:ext uri="{FF2B5EF4-FFF2-40B4-BE49-F238E27FC236}">
                <a16:creationId xmlns:a16="http://schemas.microsoft.com/office/drawing/2014/main" id="{17EB590F-3544-4A36-A502-9321980D3771}"/>
              </a:ext>
            </a:extLst>
          </p:cNvPr>
          <p:cNvSpPr/>
          <p:nvPr/>
        </p:nvSpPr>
        <p:spPr>
          <a:xfrm>
            <a:off x="5902086" y="2546530"/>
            <a:ext cx="549298" cy="44279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74" name="object 50">
            <a:extLst>
              <a:ext uri="{FF2B5EF4-FFF2-40B4-BE49-F238E27FC236}">
                <a16:creationId xmlns:a16="http://schemas.microsoft.com/office/drawing/2014/main" id="{3D69586E-9E4F-4657-956E-91DFC63DFED6}"/>
              </a:ext>
            </a:extLst>
          </p:cNvPr>
          <p:cNvSpPr/>
          <p:nvPr/>
        </p:nvSpPr>
        <p:spPr>
          <a:xfrm>
            <a:off x="8645006" y="2561978"/>
            <a:ext cx="568198" cy="59189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75" name="object 51">
            <a:extLst>
              <a:ext uri="{FF2B5EF4-FFF2-40B4-BE49-F238E27FC236}">
                <a16:creationId xmlns:a16="http://schemas.microsoft.com/office/drawing/2014/main" id="{7B41FEEF-83AC-4F72-9259-CE1A129D4516}"/>
              </a:ext>
            </a:extLst>
          </p:cNvPr>
          <p:cNvSpPr/>
          <p:nvPr/>
        </p:nvSpPr>
        <p:spPr>
          <a:xfrm>
            <a:off x="8102356" y="2664015"/>
            <a:ext cx="485094" cy="381444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76" name="object 52">
            <a:extLst>
              <a:ext uri="{FF2B5EF4-FFF2-40B4-BE49-F238E27FC236}">
                <a16:creationId xmlns:a16="http://schemas.microsoft.com/office/drawing/2014/main" id="{F3714FD0-3F02-4488-A3A8-16903267A45D}"/>
              </a:ext>
            </a:extLst>
          </p:cNvPr>
          <p:cNvSpPr/>
          <p:nvPr/>
        </p:nvSpPr>
        <p:spPr>
          <a:xfrm>
            <a:off x="5553311" y="2739447"/>
            <a:ext cx="205104" cy="137795"/>
          </a:xfrm>
          <a:custGeom>
            <a:avLst/>
            <a:gdLst/>
            <a:ahLst/>
            <a:cxnLst/>
            <a:rect l="l" t="t" r="r" b="b"/>
            <a:pathLst>
              <a:path w="205104" h="137794">
                <a:moveTo>
                  <a:pt x="0" y="0"/>
                </a:moveTo>
                <a:lnTo>
                  <a:pt x="204799" y="0"/>
                </a:lnTo>
                <a:lnTo>
                  <a:pt x="204799" y="137477"/>
                </a:lnTo>
                <a:lnTo>
                  <a:pt x="0" y="137477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77" name="object 53">
            <a:extLst>
              <a:ext uri="{FF2B5EF4-FFF2-40B4-BE49-F238E27FC236}">
                <a16:creationId xmlns:a16="http://schemas.microsoft.com/office/drawing/2014/main" id="{00C53301-A776-4BCC-8A80-2F7622E4614A}"/>
              </a:ext>
            </a:extLst>
          </p:cNvPr>
          <p:cNvSpPr/>
          <p:nvPr/>
        </p:nvSpPr>
        <p:spPr>
          <a:xfrm>
            <a:off x="5504162" y="2644615"/>
            <a:ext cx="290195" cy="344805"/>
          </a:xfrm>
          <a:custGeom>
            <a:avLst/>
            <a:gdLst/>
            <a:ahLst/>
            <a:cxnLst/>
            <a:rect l="l" t="t" r="r" b="b"/>
            <a:pathLst>
              <a:path w="290195" h="344805">
                <a:moveTo>
                  <a:pt x="39649" y="344714"/>
                </a:moveTo>
                <a:lnTo>
                  <a:pt x="4949" y="344714"/>
                </a:lnTo>
                <a:lnTo>
                  <a:pt x="0" y="338769"/>
                </a:lnTo>
                <a:lnTo>
                  <a:pt x="0" y="5939"/>
                </a:lnTo>
                <a:lnTo>
                  <a:pt x="4949" y="0"/>
                </a:lnTo>
                <a:lnTo>
                  <a:pt x="39649" y="0"/>
                </a:lnTo>
                <a:lnTo>
                  <a:pt x="44624" y="5939"/>
                </a:lnTo>
                <a:lnTo>
                  <a:pt x="44624" y="98062"/>
                </a:lnTo>
                <a:lnTo>
                  <a:pt x="290049" y="98062"/>
                </a:lnTo>
                <a:lnTo>
                  <a:pt x="290049" y="142639"/>
                </a:lnTo>
                <a:lnTo>
                  <a:pt x="44624" y="142639"/>
                </a:lnTo>
                <a:lnTo>
                  <a:pt x="44624" y="243674"/>
                </a:lnTo>
                <a:lnTo>
                  <a:pt x="290049" y="243674"/>
                </a:lnTo>
                <a:lnTo>
                  <a:pt x="290049" y="285279"/>
                </a:lnTo>
                <a:lnTo>
                  <a:pt x="44624" y="285279"/>
                </a:lnTo>
                <a:lnTo>
                  <a:pt x="44624" y="338769"/>
                </a:lnTo>
                <a:lnTo>
                  <a:pt x="39649" y="344714"/>
                </a:lnTo>
                <a:close/>
              </a:path>
              <a:path w="290195" h="344805">
                <a:moveTo>
                  <a:pt x="290049" y="98062"/>
                </a:moveTo>
                <a:lnTo>
                  <a:pt x="242949" y="98062"/>
                </a:lnTo>
                <a:lnTo>
                  <a:pt x="242949" y="5939"/>
                </a:lnTo>
                <a:lnTo>
                  <a:pt x="250374" y="0"/>
                </a:lnTo>
                <a:lnTo>
                  <a:pt x="285074" y="0"/>
                </a:lnTo>
                <a:lnTo>
                  <a:pt x="290049" y="5939"/>
                </a:lnTo>
                <a:lnTo>
                  <a:pt x="290049" y="98062"/>
                </a:lnTo>
                <a:close/>
              </a:path>
              <a:path w="290195" h="344805">
                <a:moveTo>
                  <a:pt x="290049" y="243674"/>
                </a:moveTo>
                <a:lnTo>
                  <a:pt x="242949" y="243674"/>
                </a:lnTo>
                <a:lnTo>
                  <a:pt x="242949" y="142639"/>
                </a:lnTo>
                <a:lnTo>
                  <a:pt x="290049" y="142639"/>
                </a:lnTo>
                <a:lnTo>
                  <a:pt x="290049" y="243674"/>
                </a:lnTo>
                <a:close/>
              </a:path>
              <a:path w="290195" h="344805">
                <a:moveTo>
                  <a:pt x="285074" y="344714"/>
                </a:moveTo>
                <a:lnTo>
                  <a:pt x="250374" y="344714"/>
                </a:lnTo>
                <a:lnTo>
                  <a:pt x="242949" y="338769"/>
                </a:lnTo>
                <a:lnTo>
                  <a:pt x="242949" y="285279"/>
                </a:lnTo>
                <a:lnTo>
                  <a:pt x="290049" y="285279"/>
                </a:lnTo>
                <a:lnTo>
                  <a:pt x="290049" y="338769"/>
                </a:lnTo>
                <a:lnTo>
                  <a:pt x="285074" y="3447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78" name="object 54">
            <a:extLst>
              <a:ext uri="{FF2B5EF4-FFF2-40B4-BE49-F238E27FC236}">
                <a16:creationId xmlns:a16="http://schemas.microsoft.com/office/drawing/2014/main" id="{A53F69B4-6EC7-4DA8-A268-BFD73398FA6F}"/>
              </a:ext>
            </a:extLst>
          </p:cNvPr>
          <p:cNvSpPr/>
          <p:nvPr/>
        </p:nvSpPr>
        <p:spPr>
          <a:xfrm>
            <a:off x="5548786" y="2787255"/>
            <a:ext cx="198755" cy="101600"/>
          </a:xfrm>
          <a:custGeom>
            <a:avLst/>
            <a:gdLst/>
            <a:ahLst/>
            <a:cxnLst/>
            <a:rect l="l" t="t" r="r" b="b"/>
            <a:pathLst>
              <a:path w="198754" h="101600">
                <a:moveTo>
                  <a:pt x="0" y="0"/>
                </a:moveTo>
                <a:lnTo>
                  <a:pt x="0" y="58410"/>
                </a:lnTo>
                <a:lnTo>
                  <a:pt x="0" y="88405"/>
                </a:lnTo>
                <a:lnTo>
                  <a:pt x="0" y="99456"/>
                </a:lnTo>
                <a:lnTo>
                  <a:pt x="0" y="101034"/>
                </a:lnTo>
                <a:lnTo>
                  <a:pt x="114656" y="101034"/>
                </a:lnTo>
                <a:lnTo>
                  <a:pt x="173534" y="101034"/>
                </a:lnTo>
                <a:lnTo>
                  <a:pt x="195225" y="101034"/>
                </a:lnTo>
                <a:lnTo>
                  <a:pt x="198324" y="101034"/>
                </a:lnTo>
                <a:lnTo>
                  <a:pt x="198324" y="42624"/>
                </a:lnTo>
                <a:lnTo>
                  <a:pt x="198324" y="12629"/>
                </a:lnTo>
                <a:lnTo>
                  <a:pt x="198324" y="1578"/>
                </a:lnTo>
                <a:lnTo>
                  <a:pt x="198324" y="0"/>
                </a:lnTo>
                <a:lnTo>
                  <a:pt x="0" y="0"/>
                </a:lnTo>
                <a:close/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79" name="object 55">
            <a:extLst>
              <a:ext uri="{FF2B5EF4-FFF2-40B4-BE49-F238E27FC236}">
                <a16:creationId xmlns:a16="http://schemas.microsoft.com/office/drawing/2014/main" id="{03AF9E6C-6CA7-4385-8E40-074C81FDFDB8}"/>
              </a:ext>
            </a:extLst>
          </p:cNvPr>
          <p:cNvSpPr/>
          <p:nvPr/>
        </p:nvSpPr>
        <p:spPr>
          <a:xfrm>
            <a:off x="5504162" y="2644615"/>
            <a:ext cx="290195" cy="344805"/>
          </a:xfrm>
          <a:custGeom>
            <a:avLst/>
            <a:gdLst/>
            <a:ahLst/>
            <a:cxnLst/>
            <a:rect l="l" t="t" r="r" b="b"/>
            <a:pathLst>
              <a:path w="290195" h="344805">
                <a:moveTo>
                  <a:pt x="44624" y="98062"/>
                </a:moveTo>
                <a:lnTo>
                  <a:pt x="44624" y="98062"/>
                </a:lnTo>
                <a:lnTo>
                  <a:pt x="44624" y="5939"/>
                </a:lnTo>
                <a:lnTo>
                  <a:pt x="39649" y="0"/>
                </a:lnTo>
                <a:lnTo>
                  <a:pt x="4949" y="0"/>
                </a:lnTo>
                <a:lnTo>
                  <a:pt x="0" y="5939"/>
                </a:lnTo>
                <a:lnTo>
                  <a:pt x="0" y="338769"/>
                </a:lnTo>
                <a:lnTo>
                  <a:pt x="4949" y="344714"/>
                </a:lnTo>
                <a:lnTo>
                  <a:pt x="32224" y="344714"/>
                </a:lnTo>
                <a:lnTo>
                  <a:pt x="39649" y="344714"/>
                </a:lnTo>
                <a:lnTo>
                  <a:pt x="44624" y="338769"/>
                </a:lnTo>
                <a:lnTo>
                  <a:pt x="44624" y="285279"/>
                </a:lnTo>
                <a:lnTo>
                  <a:pt x="159281" y="285279"/>
                </a:lnTo>
                <a:lnTo>
                  <a:pt x="218158" y="285279"/>
                </a:lnTo>
                <a:lnTo>
                  <a:pt x="239850" y="285279"/>
                </a:lnTo>
                <a:lnTo>
                  <a:pt x="242949" y="285279"/>
                </a:lnTo>
                <a:lnTo>
                  <a:pt x="242949" y="312767"/>
                </a:lnTo>
                <a:lnTo>
                  <a:pt x="242949" y="326883"/>
                </a:lnTo>
                <a:lnTo>
                  <a:pt x="242949" y="332083"/>
                </a:lnTo>
                <a:lnTo>
                  <a:pt x="242949" y="332826"/>
                </a:lnTo>
                <a:lnTo>
                  <a:pt x="242949" y="338769"/>
                </a:lnTo>
                <a:lnTo>
                  <a:pt x="250374" y="344714"/>
                </a:lnTo>
                <a:lnTo>
                  <a:pt x="277649" y="344714"/>
                </a:lnTo>
                <a:lnTo>
                  <a:pt x="285074" y="344714"/>
                </a:lnTo>
                <a:lnTo>
                  <a:pt x="290049" y="338769"/>
                </a:lnTo>
                <a:lnTo>
                  <a:pt x="290049" y="5939"/>
                </a:lnTo>
                <a:lnTo>
                  <a:pt x="285074" y="0"/>
                </a:lnTo>
                <a:lnTo>
                  <a:pt x="250374" y="0"/>
                </a:lnTo>
                <a:lnTo>
                  <a:pt x="242949" y="5939"/>
                </a:lnTo>
                <a:lnTo>
                  <a:pt x="242949" y="98062"/>
                </a:lnTo>
                <a:lnTo>
                  <a:pt x="44624" y="98062"/>
                </a:lnTo>
                <a:close/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0" name="object 56">
            <a:extLst>
              <a:ext uri="{FF2B5EF4-FFF2-40B4-BE49-F238E27FC236}">
                <a16:creationId xmlns:a16="http://schemas.microsoft.com/office/drawing/2014/main" id="{CB131598-DE44-447D-8D50-05DB42A9BA06}"/>
              </a:ext>
            </a:extLst>
          </p:cNvPr>
          <p:cNvSpPr/>
          <p:nvPr/>
        </p:nvSpPr>
        <p:spPr>
          <a:xfrm>
            <a:off x="5553312" y="2662572"/>
            <a:ext cx="45085" cy="77470"/>
          </a:xfrm>
          <a:custGeom>
            <a:avLst/>
            <a:gdLst/>
            <a:ahLst/>
            <a:cxnLst/>
            <a:rect l="l" t="t" r="r" b="b"/>
            <a:pathLst>
              <a:path w="45085" h="77469">
                <a:moveTo>
                  <a:pt x="44849" y="76927"/>
                </a:moveTo>
                <a:lnTo>
                  <a:pt x="0" y="0"/>
                </a:lnTo>
                <a:lnTo>
                  <a:pt x="42349" y="0"/>
                </a:lnTo>
                <a:lnTo>
                  <a:pt x="44849" y="2959"/>
                </a:lnTo>
                <a:lnTo>
                  <a:pt x="44849" y="76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1" name="object 57">
            <a:extLst>
              <a:ext uri="{FF2B5EF4-FFF2-40B4-BE49-F238E27FC236}">
                <a16:creationId xmlns:a16="http://schemas.microsoft.com/office/drawing/2014/main" id="{12E8A9F8-E2FC-41CE-97A2-D99D9CDB7216}"/>
              </a:ext>
            </a:extLst>
          </p:cNvPr>
          <p:cNvSpPr/>
          <p:nvPr/>
        </p:nvSpPr>
        <p:spPr>
          <a:xfrm>
            <a:off x="5553311" y="2662572"/>
            <a:ext cx="45085" cy="77470"/>
          </a:xfrm>
          <a:custGeom>
            <a:avLst/>
            <a:gdLst/>
            <a:ahLst/>
            <a:cxnLst/>
            <a:rect l="l" t="t" r="r" b="b"/>
            <a:pathLst>
              <a:path w="45085" h="77469">
                <a:moveTo>
                  <a:pt x="0" y="0"/>
                </a:moveTo>
                <a:lnTo>
                  <a:pt x="0" y="0"/>
                </a:lnTo>
                <a:lnTo>
                  <a:pt x="42349" y="0"/>
                </a:lnTo>
                <a:lnTo>
                  <a:pt x="44849" y="2959"/>
                </a:lnTo>
                <a:lnTo>
                  <a:pt x="44849" y="5917"/>
                </a:lnTo>
                <a:lnTo>
                  <a:pt x="44849" y="46970"/>
                </a:lnTo>
                <a:lnTo>
                  <a:pt x="44849" y="68051"/>
                </a:lnTo>
                <a:lnTo>
                  <a:pt x="44849" y="75817"/>
                </a:lnTo>
                <a:lnTo>
                  <a:pt x="44849" y="76927"/>
                </a:lnTo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2" name="object 58">
            <a:extLst>
              <a:ext uri="{FF2B5EF4-FFF2-40B4-BE49-F238E27FC236}">
                <a16:creationId xmlns:a16="http://schemas.microsoft.com/office/drawing/2014/main" id="{02C07804-86AA-479F-89C2-78C16F39CDEC}"/>
              </a:ext>
            </a:extLst>
          </p:cNvPr>
          <p:cNvSpPr/>
          <p:nvPr/>
        </p:nvSpPr>
        <p:spPr>
          <a:xfrm>
            <a:off x="5650236" y="2662572"/>
            <a:ext cx="96520" cy="77470"/>
          </a:xfrm>
          <a:custGeom>
            <a:avLst/>
            <a:gdLst/>
            <a:ahLst/>
            <a:cxnLst/>
            <a:rect l="l" t="t" r="r" b="b"/>
            <a:pathLst>
              <a:path w="96520" h="77469">
                <a:moveTo>
                  <a:pt x="0" y="76927"/>
                </a:moveTo>
                <a:lnTo>
                  <a:pt x="0" y="2959"/>
                </a:lnTo>
                <a:lnTo>
                  <a:pt x="2449" y="0"/>
                </a:lnTo>
                <a:lnTo>
                  <a:pt x="96124" y="0"/>
                </a:lnTo>
                <a:lnTo>
                  <a:pt x="0" y="769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3" name="object 59">
            <a:extLst>
              <a:ext uri="{FF2B5EF4-FFF2-40B4-BE49-F238E27FC236}">
                <a16:creationId xmlns:a16="http://schemas.microsoft.com/office/drawing/2014/main" id="{ACF2D807-FE2E-47D0-B9DB-238F9C72C1F9}"/>
              </a:ext>
            </a:extLst>
          </p:cNvPr>
          <p:cNvSpPr/>
          <p:nvPr/>
        </p:nvSpPr>
        <p:spPr>
          <a:xfrm>
            <a:off x="5650236" y="2662572"/>
            <a:ext cx="96520" cy="77470"/>
          </a:xfrm>
          <a:custGeom>
            <a:avLst/>
            <a:gdLst/>
            <a:ahLst/>
            <a:cxnLst/>
            <a:rect l="l" t="t" r="r" b="b"/>
            <a:pathLst>
              <a:path w="96520" h="77469">
                <a:moveTo>
                  <a:pt x="0" y="76927"/>
                </a:moveTo>
                <a:lnTo>
                  <a:pt x="0" y="76927"/>
                </a:lnTo>
                <a:lnTo>
                  <a:pt x="0" y="2959"/>
                </a:lnTo>
                <a:lnTo>
                  <a:pt x="2449" y="0"/>
                </a:lnTo>
                <a:lnTo>
                  <a:pt x="4924" y="0"/>
                </a:lnTo>
                <a:lnTo>
                  <a:pt x="57649" y="0"/>
                </a:lnTo>
                <a:lnTo>
                  <a:pt x="84724" y="0"/>
                </a:lnTo>
                <a:lnTo>
                  <a:pt x="94699" y="0"/>
                </a:lnTo>
                <a:lnTo>
                  <a:pt x="96124" y="0"/>
                </a:lnTo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4" name="object 60">
            <a:extLst>
              <a:ext uri="{FF2B5EF4-FFF2-40B4-BE49-F238E27FC236}">
                <a16:creationId xmlns:a16="http://schemas.microsoft.com/office/drawing/2014/main" id="{F0A06910-08D3-4A65-8D89-ED1C638A5A21}"/>
              </a:ext>
            </a:extLst>
          </p:cNvPr>
          <p:cNvSpPr/>
          <p:nvPr/>
        </p:nvSpPr>
        <p:spPr>
          <a:xfrm>
            <a:off x="5598211" y="2787430"/>
            <a:ext cx="0" cy="95250"/>
          </a:xfrm>
          <a:custGeom>
            <a:avLst/>
            <a:gdLst/>
            <a:ahLst/>
            <a:cxnLst/>
            <a:rect l="l" t="t" r="r" b="b"/>
            <a:pathLst>
              <a:path h="95250">
                <a:moveTo>
                  <a:pt x="0" y="0"/>
                </a:moveTo>
                <a:lnTo>
                  <a:pt x="0" y="94864"/>
                </a:lnTo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5" name="object 61">
            <a:extLst>
              <a:ext uri="{FF2B5EF4-FFF2-40B4-BE49-F238E27FC236}">
                <a16:creationId xmlns:a16="http://schemas.microsoft.com/office/drawing/2014/main" id="{165E292D-0700-4F6E-9286-8FAAEAB2EF83}"/>
              </a:ext>
            </a:extLst>
          </p:cNvPr>
          <p:cNvSpPr/>
          <p:nvPr/>
        </p:nvSpPr>
        <p:spPr>
          <a:xfrm>
            <a:off x="5647386" y="2787430"/>
            <a:ext cx="0" cy="95250"/>
          </a:xfrm>
          <a:custGeom>
            <a:avLst/>
            <a:gdLst/>
            <a:ahLst/>
            <a:cxnLst/>
            <a:rect l="l" t="t" r="r" b="b"/>
            <a:pathLst>
              <a:path h="95250">
                <a:moveTo>
                  <a:pt x="0" y="0"/>
                </a:moveTo>
                <a:lnTo>
                  <a:pt x="0" y="94864"/>
                </a:lnTo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6" name="object 62">
            <a:extLst>
              <a:ext uri="{FF2B5EF4-FFF2-40B4-BE49-F238E27FC236}">
                <a16:creationId xmlns:a16="http://schemas.microsoft.com/office/drawing/2014/main" id="{4BA1DE1F-3B11-4CFA-9E57-D619530A8AA7}"/>
              </a:ext>
            </a:extLst>
          </p:cNvPr>
          <p:cNvSpPr/>
          <p:nvPr/>
        </p:nvSpPr>
        <p:spPr>
          <a:xfrm>
            <a:off x="5697261" y="2787430"/>
            <a:ext cx="0" cy="95250"/>
          </a:xfrm>
          <a:custGeom>
            <a:avLst/>
            <a:gdLst/>
            <a:ahLst/>
            <a:cxnLst/>
            <a:rect l="l" t="t" r="r" b="b"/>
            <a:pathLst>
              <a:path h="95250">
                <a:moveTo>
                  <a:pt x="0" y="0"/>
                </a:moveTo>
                <a:lnTo>
                  <a:pt x="0" y="94864"/>
                </a:lnTo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7" name="object 63">
            <a:extLst>
              <a:ext uri="{FF2B5EF4-FFF2-40B4-BE49-F238E27FC236}">
                <a16:creationId xmlns:a16="http://schemas.microsoft.com/office/drawing/2014/main" id="{EAD49F7B-178D-476E-80AF-5DE719E00B0B}"/>
              </a:ext>
            </a:extLst>
          </p:cNvPr>
          <p:cNvSpPr/>
          <p:nvPr/>
        </p:nvSpPr>
        <p:spPr>
          <a:xfrm>
            <a:off x="5697261" y="2662572"/>
            <a:ext cx="0" cy="80010"/>
          </a:xfrm>
          <a:custGeom>
            <a:avLst/>
            <a:gdLst/>
            <a:ahLst/>
            <a:cxnLst/>
            <a:rect l="l" t="t" r="r" b="b"/>
            <a:pathLst>
              <a:path h="80010">
                <a:moveTo>
                  <a:pt x="0" y="0"/>
                </a:moveTo>
                <a:lnTo>
                  <a:pt x="0" y="79512"/>
                </a:lnTo>
              </a:path>
            </a:pathLst>
          </a:custGeom>
          <a:ln w="15874">
            <a:solidFill>
              <a:srgbClr val="1A171C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E46A533-6E9A-4165-8A1D-85DF5CD2CACE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 spc="-5" dirty="0">
                <a:solidFill>
                  <a:schemeClr val="bg2"/>
                </a:solidFill>
              </a:rPr>
              <a:t>Docker: </a:t>
            </a:r>
            <a:r>
              <a:rPr lang="en-US" sz="2400" b="1" spc="-10" dirty="0">
                <a:solidFill>
                  <a:schemeClr val="bg2"/>
                </a:solidFill>
              </a:rPr>
              <a:t>Build, Ship, </a:t>
            </a:r>
            <a:r>
              <a:rPr lang="en-US" sz="2400" b="1" spc="-5" dirty="0">
                <a:solidFill>
                  <a:schemeClr val="bg2"/>
                </a:solidFill>
              </a:rPr>
              <a:t>Run</a:t>
            </a:r>
            <a:r>
              <a:rPr lang="en-US" sz="2400" b="1" spc="-70" dirty="0">
                <a:solidFill>
                  <a:schemeClr val="bg2"/>
                </a:solidFill>
              </a:rPr>
              <a:t> </a:t>
            </a:r>
            <a:r>
              <a:rPr lang="en-US" sz="2400" b="1" spc="-5" dirty="0">
                <a:solidFill>
                  <a:schemeClr val="bg2"/>
                </a:solidFill>
              </a:rPr>
              <a:t>Workflow</a:t>
            </a:r>
            <a:endParaRPr lang="en-US" sz="2400" b="1" dirty="0">
              <a:solidFill>
                <a:schemeClr val="bg2"/>
              </a:solidFill>
            </a:endParaRPr>
          </a:p>
        </p:txBody>
      </p: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DEC917D4-BE40-4D7F-8A85-B07DC36BCC6F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631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5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2"/>
                </a:solidFill>
              </a:rPr>
              <a:t>Docker is available in two editions:</a:t>
            </a:r>
          </a:p>
          <a:p>
            <a:r>
              <a:rPr lang="en-US" sz="2100" dirty="0">
                <a:solidFill>
                  <a:schemeClr val="bg2"/>
                </a:solidFill>
              </a:rPr>
              <a:t>     Community Edition (CE)</a:t>
            </a:r>
          </a:p>
          <a:p>
            <a:r>
              <a:rPr lang="en-US" sz="2100" dirty="0">
                <a:solidFill>
                  <a:schemeClr val="bg2"/>
                </a:solidFill>
              </a:rPr>
              <a:t>     Enterprise Edition (EE)</a:t>
            </a:r>
          </a:p>
          <a:p>
            <a:endParaRPr lang="en-US" sz="2100" dirty="0">
              <a:solidFill>
                <a:schemeClr val="bg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Overview of Docker editions</a:t>
            </a:r>
            <a:endParaRPr lang="en-IN" sz="2400" b="1" dirty="0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731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2"/>
                </a:solidFill>
              </a:rPr>
              <a:t>Docker is available in two editions:</a:t>
            </a:r>
          </a:p>
          <a:p>
            <a:r>
              <a:rPr lang="en-US" sz="2100" dirty="0">
                <a:solidFill>
                  <a:schemeClr val="bg2"/>
                </a:solidFill>
              </a:rPr>
              <a:t>     Community Edition (CE)</a:t>
            </a:r>
          </a:p>
          <a:p>
            <a:r>
              <a:rPr lang="en-US" sz="2100" dirty="0">
                <a:solidFill>
                  <a:schemeClr val="bg2"/>
                </a:solidFill>
              </a:rPr>
              <a:t>     Enterprise Edition (EE)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bg2"/>
              </a:solidFill>
            </a:endParaRPr>
          </a:p>
          <a:p>
            <a:r>
              <a:rPr lang="en-US" sz="2100" dirty="0">
                <a:solidFill>
                  <a:schemeClr val="bg2"/>
                </a:solidFill>
              </a:rPr>
              <a:t>Docker Community Edition (CE) is ideal for individual developers and small teams looking to get started with Docker and experimenting with container-based apps.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Overview of Docker editions</a:t>
            </a:r>
            <a:endParaRPr lang="en-IN" sz="2400" b="1" dirty="0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3646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00" dirty="0">
                <a:solidFill>
                  <a:schemeClr val="bg2"/>
                </a:solidFill>
              </a:rPr>
              <a:t>Docker is available in two editions:</a:t>
            </a:r>
          </a:p>
          <a:p>
            <a:r>
              <a:rPr lang="en-US" sz="2100" dirty="0">
                <a:solidFill>
                  <a:schemeClr val="bg2"/>
                </a:solidFill>
              </a:rPr>
              <a:t>     Community Edition (CE)</a:t>
            </a:r>
          </a:p>
          <a:p>
            <a:r>
              <a:rPr lang="en-US" sz="2100" dirty="0">
                <a:solidFill>
                  <a:schemeClr val="bg2"/>
                </a:solidFill>
              </a:rPr>
              <a:t>     Enterprise Edition (EE)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bg2"/>
              </a:solidFill>
            </a:endParaRPr>
          </a:p>
          <a:p>
            <a:r>
              <a:rPr lang="en-US" sz="2100" dirty="0">
                <a:solidFill>
                  <a:schemeClr val="bg2"/>
                </a:solidFill>
              </a:rPr>
              <a:t>Docker Community Edition (CE) is ideal for individual developers and small teams looking to get started with Docker and experimenting with container-based apps.</a:t>
            </a:r>
          </a:p>
          <a:p>
            <a:endParaRPr lang="en-US" sz="2100" dirty="0">
              <a:solidFill>
                <a:schemeClr val="bg2"/>
              </a:solidFill>
            </a:endParaRPr>
          </a:p>
          <a:p>
            <a:r>
              <a:rPr lang="en-US" sz="2100" dirty="0">
                <a:solidFill>
                  <a:schemeClr val="bg2"/>
                </a:solidFill>
              </a:rPr>
              <a:t>Docker Enterprise Edition (EE) is designed for enterprise development and IT teams who build, ship, and run business critical applications in production at scale.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Overview of Docker editions</a:t>
            </a:r>
            <a:endParaRPr lang="en-IN" sz="2400" b="1" dirty="0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578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 flip="none" rotWithShape="1">
          <a:gsLst>
            <a:gs pos="0">
              <a:schemeClr val="tx1"/>
            </a:gs>
            <a:gs pos="0">
              <a:schemeClr val="tx1"/>
            </a:gs>
          </a:gsLst>
          <a:lin ang="612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Overview of Docker editions</a:t>
            </a:r>
            <a:endParaRPr lang="en-IN" sz="2400" b="1" dirty="0">
              <a:solidFill>
                <a:schemeClr val="bg2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BDF2854-314D-4D65-AEDB-1AD822E8E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96" y="1645930"/>
            <a:ext cx="10889481" cy="432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2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015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1622738"/>
            <a:ext cx="10958288" cy="4778061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1" y="1622738"/>
            <a:ext cx="10823577" cy="45684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9BE96F0-6287-442E-9630-0E70B9B7E663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Docker and DevOps Tools</a:t>
            </a:r>
            <a:endParaRPr lang="en-IN" sz="2400" b="1" dirty="0">
              <a:solidFill>
                <a:schemeClr val="bg2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78E4CE-E6D1-4419-A019-4A3AE7477A38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578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31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Images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 - The file system and configuration of our application which are used to create containers.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-apple-system"/>
              </a:rPr>
              <a:t>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0140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Images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 - The file system and configuration of our application which are used to create containers.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Containers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 - Running instances of Docker images — containers run the actual applications. A container includes an application and all of its dependencies. It shares the kernel with other containers, and runs as an isolated process in user space on the host OS.</a:t>
            </a:r>
            <a:endParaRPr lang="en-IN" sz="2400" dirty="0">
              <a:solidFill>
                <a:schemeClr val="bg2"/>
              </a:solidFill>
              <a:latin typeface="-apple-system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-apple-system"/>
              </a:rPr>
              <a:t>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4952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Images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 - The file system and configuration of our application which are used to create containers.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Containers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 - Running instances of Docker images — containers run the actual applications. A container includes an application and all of its dependencies. It shares the kernel with other containers, and runs as an isolated process in user space on the host OS.</a:t>
            </a:r>
            <a:endParaRPr lang="en-IN" sz="2400" dirty="0">
              <a:solidFill>
                <a:schemeClr val="bg2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Docker daemon</a:t>
            </a: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 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- The background service running on the host that manages building, running and distributing Docker containers.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-apple-system"/>
              </a:rPr>
              <a:t>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524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Images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 - The file system and configuration of our application which are used to create containers.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Containers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 - Running instances of Docker images — containers run the actual applications. A container includes an application and all of its dependencies. It shares the kernel with other containers, and runs as an isolated process in user space on the host OS.</a:t>
            </a:r>
            <a:endParaRPr lang="en-IN" sz="2400" dirty="0">
              <a:solidFill>
                <a:schemeClr val="bg2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Docker daemon</a:t>
            </a: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 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- The background service running on the host that manages building, running and distributing Docker containers.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Docker client</a:t>
            </a: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 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- The command line tool that allows the user to interact with the Docker daemon.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-apple-system"/>
              </a:rPr>
              <a:t>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136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79707" y="1590223"/>
            <a:ext cx="108241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Images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 - The file system and configuration of our application which are used to create containers.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Containers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 - Running instances of Docker images — containers run the actual applications. A container includes an application and all of its dependencies. It shares the kernel with other containers, and runs as an isolated process in user space on the host OS.</a:t>
            </a:r>
            <a:endParaRPr lang="en-IN" sz="2400" dirty="0">
              <a:solidFill>
                <a:schemeClr val="bg2"/>
              </a:solidFill>
              <a:latin typeface="-apple-system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Docker daemon</a:t>
            </a: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 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- The background service running on the host that manages building, running and distributing Docker containers.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Docker client</a:t>
            </a: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 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- The command line tool that allows the user to interact with the Docker daemon.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i="1" dirty="0">
                <a:solidFill>
                  <a:schemeClr val="bg2"/>
                </a:solidFill>
                <a:effectLst/>
                <a:latin typeface="-apple-system"/>
              </a:rPr>
              <a:t>Docker Store</a:t>
            </a:r>
            <a:r>
              <a:rPr lang="en-US" sz="2400" b="1" i="0" dirty="0">
                <a:solidFill>
                  <a:schemeClr val="bg2"/>
                </a:solidFill>
                <a:effectLst/>
                <a:latin typeface="-apple-system"/>
              </a:rPr>
              <a:t> 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- A </a:t>
            </a:r>
            <a:r>
              <a:rPr lang="en-US" sz="2400" b="0" i="0" u="none" strike="noStrike" dirty="0">
                <a:solidFill>
                  <a:schemeClr val="bg2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registry</a:t>
            </a:r>
            <a:r>
              <a:rPr lang="en-US" sz="2400" b="0" i="0" dirty="0">
                <a:solidFill>
                  <a:schemeClr val="bg2"/>
                </a:solidFill>
                <a:effectLst/>
                <a:latin typeface="-apple-system"/>
              </a:rPr>
              <a:t> of Docker images, where you can find trusted and enterprise ready containers, plugins, and Docker editions.</a:t>
            </a:r>
            <a:endParaRPr lang="en-IN" sz="2400" dirty="0">
              <a:solidFill>
                <a:schemeClr val="bg2"/>
              </a:solidFill>
              <a:latin typeface="-apple-system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48E1A40-B855-4996-AF27-76B0414FFAEA}"/>
              </a:ext>
            </a:extLst>
          </p:cNvPr>
          <p:cNvSpPr txBox="1"/>
          <p:nvPr/>
        </p:nvSpPr>
        <p:spPr>
          <a:xfrm>
            <a:off x="553583" y="736020"/>
            <a:ext cx="61199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-apple-system"/>
              </a:rPr>
              <a:t>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94FEA8-2088-4020-BD2C-8EB0E875ED9D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528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4636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4301622"/>
              </p:ext>
            </p:extLst>
          </p:nvPr>
        </p:nvGraphicFramePr>
        <p:xfrm>
          <a:off x="11377862" y="78623"/>
          <a:ext cx="749968" cy="52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90720" imgH="1171440" progId="Paint.Picture">
                  <p:embed/>
                </p:oleObj>
              </mc:Choice>
              <mc:Fallback>
                <p:oleObj name="Bitmap Image" r:id="rId2" imgW="990720" imgH="1171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77862" y="78623"/>
                        <a:ext cx="749968" cy="526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236715-213A-4138-8CF4-242A760C8D69}"/>
              </a:ext>
            </a:extLst>
          </p:cNvPr>
          <p:cNvSpPr txBox="1"/>
          <p:nvPr/>
        </p:nvSpPr>
        <p:spPr>
          <a:xfrm>
            <a:off x="538843" y="2983602"/>
            <a:ext cx="2752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Docker Engine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8C491F-CDC0-4B6F-A464-465834473663}"/>
              </a:ext>
            </a:extLst>
          </p:cNvPr>
          <p:cNvCxnSpPr>
            <a:cxnSpLocks/>
          </p:cNvCxnSpPr>
          <p:nvPr/>
        </p:nvCxnSpPr>
        <p:spPr>
          <a:xfrm>
            <a:off x="3291840" y="600242"/>
            <a:ext cx="0" cy="568262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D818BA9B-8F2E-4B16-8367-13CCB05DA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7651" y="1006018"/>
            <a:ext cx="7658100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89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948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377862" y="78623"/>
          <a:ext cx="749968" cy="52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90720" imgH="1171440" progId="Paint.Picture">
                  <p:embed/>
                </p:oleObj>
              </mc:Choice>
              <mc:Fallback>
                <p:oleObj name="Bitmap Image" r:id="rId2" imgW="990720" imgH="1171440" progId="Paint.Pictur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77862" y="78623"/>
                        <a:ext cx="749968" cy="526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236715-213A-4138-8CF4-242A760C8D69}"/>
              </a:ext>
            </a:extLst>
          </p:cNvPr>
          <p:cNvSpPr txBox="1"/>
          <p:nvPr/>
        </p:nvSpPr>
        <p:spPr>
          <a:xfrm>
            <a:off x="591096" y="738295"/>
            <a:ext cx="27529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Docker Architecture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470131-1904-40D9-9B6F-76034E34CE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24" y="1441181"/>
            <a:ext cx="10824166" cy="496551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9ACF6A1-A7EA-452B-BB64-0011AB6CF9A6}"/>
              </a:ext>
            </a:extLst>
          </p:cNvPr>
          <p:cNvCxnSpPr/>
          <p:nvPr/>
        </p:nvCxnSpPr>
        <p:spPr>
          <a:xfrm>
            <a:off x="684211" y="1355089"/>
            <a:ext cx="10824166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6957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19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377862" y="78623"/>
          <a:ext cx="749968" cy="52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90720" imgH="1171440" progId="Paint.Picture">
                  <p:embed/>
                </p:oleObj>
              </mc:Choice>
              <mc:Fallback>
                <p:oleObj name="Bitmap Image" r:id="rId2" imgW="990720" imgH="1171440" progId="Paint.Pictur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77862" y="78623"/>
                        <a:ext cx="749968" cy="526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236715-213A-4138-8CF4-242A760C8D69}"/>
              </a:ext>
            </a:extLst>
          </p:cNvPr>
          <p:cNvSpPr txBox="1"/>
          <p:nvPr/>
        </p:nvSpPr>
        <p:spPr>
          <a:xfrm>
            <a:off x="382089" y="423396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/ Why Docker Container?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8C491F-CDC0-4B6F-A464-465834473663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2FD05D9-E601-416C-902C-70AAD850D7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24" y="1441181"/>
            <a:ext cx="10824166" cy="4965519"/>
          </a:xfrm>
          <a:prstGeom prst="rect">
            <a:avLst/>
          </a:prstGeom>
        </p:spPr>
      </p:pic>
      <p:sp>
        <p:nvSpPr>
          <p:cNvPr id="3" name="Thought Bubble: Cloud 2">
            <a:extLst>
              <a:ext uri="{FF2B5EF4-FFF2-40B4-BE49-F238E27FC236}">
                <a16:creationId xmlns:a16="http://schemas.microsoft.com/office/drawing/2014/main" id="{FDC2ABA8-0D41-44AA-AD4C-E911D37D41FD}"/>
              </a:ext>
            </a:extLst>
          </p:cNvPr>
          <p:cNvSpPr/>
          <p:nvPr/>
        </p:nvSpPr>
        <p:spPr>
          <a:xfrm>
            <a:off x="548640" y="4637314"/>
            <a:ext cx="2246811" cy="1541409"/>
          </a:xfrm>
          <a:prstGeom prst="cloudCallout">
            <a:avLst>
              <a:gd name="adj1" fmla="val 98353"/>
              <a:gd name="adj2" fmla="val -6292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?????</a:t>
            </a:r>
          </a:p>
        </p:txBody>
      </p:sp>
    </p:spTree>
    <p:extLst>
      <p:ext uri="{BB962C8B-B14F-4D97-AF65-F5344CB8AC3E}">
        <p14:creationId xmlns:p14="http://schemas.microsoft.com/office/powerpoint/2010/main" val="343639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377862" y="78623"/>
          <a:ext cx="749968" cy="52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90720" imgH="1171440" progId="Paint.Picture">
                  <p:embed/>
                </p:oleObj>
              </mc:Choice>
              <mc:Fallback>
                <p:oleObj name="Bitmap Image" r:id="rId2" imgW="990720" imgH="1171440" progId="Paint.Pictur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77862" y="78623"/>
                        <a:ext cx="749968" cy="526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236715-213A-4138-8CF4-242A760C8D69}"/>
              </a:ext>
            </a:extLst>
          </p:cNvPr>
          <p:cNvSpPr txBox="1"/>
          <p:nvPr/>
        </p:nvSpPr>
        <p:spPr>
          <a:xfrm>
            <a:off x="382089" y="423396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/ Why Docker Container?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8C491F-CDC0-4B6F-A464-465834473663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37C44A-D496-4E10-9428-A51630D8E782}"/>
              </a:ext>
            </a:extLst>
          </p:cNvPr>
          <p:cNvSpPr/>
          <p:nvPr/>
        </p:nvSpPr>
        <p:spPr>
          <a:xfrm>
            <a:off x="421278" y="2621879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E73B5C1-4ACA-4420-8CEB-34438243D8DF}"/>
              </a:ext>
            </a:extLst>
          </p:cNvPr>
          <p:cNvSpPr/>
          <p:nvPr/>
        </p:nvSpPr>
        <p:spPr>
          <a:xfrm>
            <a:off x="4140959" y="2626235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488E40-6DAB-4F11-B62E-A753078EBC98}"/>
              </a:ext>
            </a:extLst>
          </p:cNvPr>
          <p:cNvSpPr/>
          <p:nvPr/>
        </p:nvSpPr>
        <p:spPr>
          <a:xfrm>
            <a:off x="7872588" y="2621879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F03F9192-EFF5-4E6F-907C-39AA831B791D}"/>
              </a:ext>
            </a:extLst>
          </p:cNvPr>
          <p:cNvSpPr/>
          <p:nvPr/>
        </p:nvSpPr>
        <p:spPr>
          <a:xfrm rot="5400000">
            <a:off x="4939911" y="-1243856"/>
            <a:ext cx="1919313" cy="10956585"/>
          </a:xfrm>
          <a:prstGeom prst="righ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8A9C8-29C2-43F0-8714-873CC0BCA314}"/>
              </a:ext>
            </a:extLst>
          </p:cNvPr>
          <p:cNvSpPr txBox="1"/>
          <p:nvPr/>
        </p:nvSpPr>
        <p:spPr>
          <a:xfrm>
            <a:off x="4519749" y="5194094"/>
            <a:ext cx="3618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???????????</a:t>
            </a:r>
          </a:p>
        </p:txBody>
      </p:sp>
    </p:spTree>
    <p:extLst>
      <p:ext uri="{BB962C8B-B14F-4D97-AF65-F5344CB8AC3E}">
        <p14:creationId xmlns:p14="http://schemas.microsoft.com/office/powerpoint/2010/main" val="37767904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377862" y="78623"/>
          <a:ext cx="749968" cy="52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90720" imgH="1171440" progId="Paint.Picture">
                  <p:embed/>
                </p:oleObj>
              </mc:Choice>
              <mc:Fallback>
                <p:oleObj name="Bitmap Image" r:id="rId2" imgW="990720" imgH="1171440" progId="Paint.Pictur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1377862" y="78623"/>
                        <a:ext cx="749968" cy="526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236715-213A-4138-8CF4-242A760C8D69}"/>
              </a:ext>
            </a:extLst>
          </p:cNvPr>
          <p:cNvSpPr txBox="1"/>
          <p:nvPr/>
        </p:nvSpPr>
        <p:spPr>
          <a:xfrm>
            <a:off x="382089" y="423396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/ Why Docker Container?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8C491F-CDC0-4B6F-A464-465834473663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382089" y="115798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</p:spTree>
    <p:extLst>
      <p:ext uri="{BB962C8B-B14F-4D97-AF65-F5344CB8AC3E}">
        <p14:creationId xmlns:p14="http://schemas.microsoft.com/office/powerpoint/2010/main" val="3623038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1377862" y="78623"/>
          <a:ext cx="749968" cy="5269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3" imgW="990720" imgH="1171440" progId="Paint.Picture">
                  <p:embed/>
                </p:oleObj>
              </mc:Choice>
              <mc:Fallback>
                <p:oleObj name="Bitmap Image" r:id="rId3" imgW="990720" imgH="1171440" progId="Paint.Picture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377862" y="78623"/>
                        <a:ext cx="749968" cy="5269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236715-213A-4138-8CF4-242A760C8D69}"/>
              </a:ext>
            </a:extLst>
          </p:cNvPr>
          <p:cNvSpPr txBox="1"/>
          <p:nvPr/>
        </p:nvSpPr>
        <p:spPr>
          <a:xfrm>
            <a:off x="382089" y="423396"/>
            <a:ext cx="41899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Why Docker Container?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080770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5FE593DF-8DE6-4926-AEEC-463559FCA673}"/>
              </a:ext>
            </a:extLst>
          </p:cNvPr>
          <p:cNvSpPr/>
          <p:nvPr/>
        </p:nvSpPr>
        <p:spPr>
          <a:xfrm>
            <a:off x="4144196" y="990444"/>
            <a:ext cx="1044000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VM 1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8D0239B7-484F-4A70-B583-D0E3FD4CEA5D}"/>
              </a:ext>
            </a:extLst>
          </p:cNvPr>
          <p:cNvSpPr/>
          <p:nvPr/>
        </p:nvSpPr>
        <p:spPr>
          <a:xfrm>
            <a:off x="5328560" y="1012214"/>
            <a:ext cx="1044000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MV 2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MV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2222759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2505486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322854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325031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325902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254492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4549" y="256669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257539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637282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2505486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322854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325031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325902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254492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4549" y="256669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257539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6C5D8755-E575-4D3C-998C-FAD14C7EEF3D}"/>
              </a:ext>
            </a:extLst>
          </p:cNvPr>
          <p:cNvSpPr/>
          <p:nvPr/>
        </p:nvSpPr>
        <p:spPr>
          <a:xfrm>
            <a:off x="8738" y="1031643"/>
            <a:ext cx="3670663" cy="1611007"/>
          </a:xfrm>
          <a:prstGeom prst="wedgeEllipseCallout">
            <a:avLst>
              <a:gd name="adj1" fmla="val -20833"/>
              <a:gd name="adj2" fmla="val 84393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App A will have their own Bins/Libs</a:t>
            </a:r>
          </a:p>
        </p:txBody>
      </p:sp>
    </p:spTree>
    <p:extLst>
      <p:ext uri="{BB962C8B-B14F-4D97-AF65-F5344CB8AC3E}">
        <p14:creationId xmlns:p14="http://schemas.microsoft.com/office/powerpoint/2010/main" val="24695141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2505486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  <a:solidFill>
            <a:srgbClr val="92D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322854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325031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325902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254492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4549" y="256669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257539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E92D995E-E49A-4D5B-B61D-6F9161C5D329}"/>
              </a:ext>
            </a:extLst>
          </p:cNvPr>
          <p:cNvSpPr/>
          <p:nvPr/>
        </p:nvSpPr>
        <p:spPr>
          <a:xfrm>
            <a:off x="8738" y="1031643"/>
            <a:ext cx="3670663" cy="1611007"/>
          </a:xfrm>
          <a:prstGeom prst="wedgeEllipseCallout">
            <a:avLst>
              <a:gd name="adj1" fmla="val 12619"/>
              <a:gd name="adj2" fmla="val 86826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App B will have their own Bins/Libs</a:t>
            </a:r>
          </a:p>
        </p:txBody>
      </p:sp>
    </p:spTree>
    <p:extLst>
      <p:ext uri="{BB962C8B-B14F-4D97-AF65-F5344CB8AC3E}">
        <p14:creationId xmlns:p14="http://schemas.microsoft.com/office/powerpoint/2010/main" val="2429211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2505486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322854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325031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325902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254492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4549" y="256669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257539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  <p:sp>
        <p:nvSpPr>
          <p:cNvPr id="7" name="Speech Bubble: Oval 6">
            <a:extLst>
              <a:ext uri="{FF2B5EF4-FFF2-40B4-BE49-F238E27FC236}">
                <a16:creationId xmlns:a16="http://schemas.microsoft.com/office/drawing/2014/main" id="{8D4E297B-3E01-4F64-95F9-3E57254EFB5D}"/>
              </a:ext>
            </a:extLst>
          </p:cNvPr>
          <p:cNvSpPr/>
          <p:nvPr/>
        </p:nvSpPr>
        <p:spPr>
          <a:xfrm>
            <a:off x="8738" y="1031643"/>
            <a:ext cx="3670663" cy="1611007"/>
          </a:xfrm>
          <a:prstGeom prst="wedgeEllipseCallout">
            <a:avLst>
              <a:gd name="adj1" fmla="val 34683"/>
              <a:gd name="adj2" fmla="val 86015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App C will have their own Bins/Libs</a:t>
            </a:r>
          </a:p>
        </p:txBody>
      </p:sp>
    </p:spTree>
    <p:extLst>
      <p:ext uri="{BB962C8B-B14F-4D97-AF65-F5344CB8AC3E}">
        <p14:creationId xmlns:p14="http://schemas.microsoft.com/office/powerpoint/2010/main" val="29321177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2505486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  <a:solidFill>
            <a:srgbClr val="FF00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322854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325031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325902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254492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4549" y="256669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257539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060452C7-6758-401F-A7A4-3E63F6EC4159}"/>
              </a:ext>
            </a:extLst>
          </p:cNvPr>
          <p:cNvSpPr/>
          <p:nvPr/>
        </p:nvSpPr>
        <p:spPr>
          <a:xfrm>
            <a:off x="548640" y="1149531"/>
            <a:ext cx="3004457" cy="1721879"/>
          </a:xfrm>
          <a:prstGeom prst="cloudCallout">
            <a:avLst>
              <a:gd name="adj1" fmla="val 70906"/>
              <a:gd name="adj2" fmla="val 74638"/>
            </a:avLst>
          </a:prstGeom>
          <a:solidFill>
            <a:srgbClr val="FF00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Guest OS occupied more resources, CPU and Disk</a:t>
            </a:r>
          </a:p>
        </p:txBody>
      </p:sp>
    </p:spTree>
    <p:extLst>
      <p:ext uri="{BB962C8B-B14F-4D97-AF65-F5344CB8AC3E}">
        <p14:creationId xmlns:p14="http://schemas.microsoft.com/office/powerpoint/2010/main" val="97493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17739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1765258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1747844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2497026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2518796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2527503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252646"/>
            <a:ext cx="3419202" cy="65290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02527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04704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055752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1813401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4549" y="1835171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1843878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CF0D9E8-63B4-4D29-845F-245FEDA4D2D3}"/>
              </a:ext>
            </a:extLst>
          </p:cNvPr>
          <p:cNvSpPr/>
          <p:nvPr/>
        </p:nvSpPr>
        <p:spPr>
          <a:xfrm>
            <a:off x="7827930" y="3958041"/>
            <a:ext cx="3419202" cy="65290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VM</a:t>
            </a:r>
          </a:p>
        </p:txBody>
      </p:sp>
      <p:sp>
        <p:nvSpPr>
          <p:cNvPr id="14" name="Speech Bubble: Oval 13">
            <a:extLst>
              <a:ext uri="{FF2B5EF4-FFF2-40B4-BE49-F238E27FC236}">
                <a16:creationId xmlns:a16="http://schemas.microsoft.com/office/drawing/2014/main" id="{6D634DDC-A107-4806-B30F-16E1A5FC3027}"/>
              </a:ext>
            </a:extLst>
          </p:cNvPr>
          <p:cNvSpPr/>
          <p:nvPr/>
        </p:nvSpPr>
        <p:spPr>
          <a:xfrm>
            <a:off x="395152" y="1280160"/>
            <a:ext cx="3580294" cy="1760812"/>
          </a:xfrm>
          <a:prstGeom prst="wedgeEllipseCallout">
            <a:avLst>
              <a:gd name="adj1" fmla="val 156121"/>
              <a:gd name="adj2" fmla="val 8178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/>
              <a:t>Host OS &gt; Guest OS &gt; Docker Engine &gt; Applications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29892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8990518" y="2505486"/>
            <a:ext cx="1168031" cy="1432556"/>
          </a:xfrm>
          <a:prstGeom prst="rect">
            <a:avLst/>
          </a:prstGeom>
          <a:solidFill>
            <a:schemeClr val="tx1"/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F240FC8-2E6C-491B-90D6-B720A4F34E5D}"/>
              </a:ext>
            </a:extLst>
          </p:cNvPr>
          <p:cNvSpPr/>
          <p:nvPr/>
        </p:nvSpPr>
        <p:spPr>
          <a:xfrm>
            <a:off x="6425840" y="1728648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FA3C0EB-40DC-4AD5-B3DE-1090C56C697E}"/>
              </a:ext>
            </a:extLst>
          </p:cNvPr>
          <p:cNvSpPr/>
          <p:nvPr/>
        </p:nvSpPr>
        <p:spPr>
          <a:xfrm>
            <a:off x="5280666" y="1719941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B1C3B6D-BCCF-46AD-975B-BDBEFEEAB54E}"/>
              </a:ext>
            </a:extLst>
          </p:cNvPr>
          <p:cNvSpPr/>
          <p:nvPr/>
        </p:nvSpPr>
        <p:spPr>
          <a:xfrm>
            <a:off x="4096300" y="1711234"/>
            <a:ext cx="1168031" cy="2205043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1825D8-470E-4B83-BE56-D9F2F82974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395152" y="5394960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1551A-7A11-458E-B920-3C43AA4CC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113713" y="539495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862865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520389C-8050-4A45-817B-6B343973B4DB}"/>
              </a:ext>
            </a:extLst>
          </p:cNvPr>
          <p:cNvSpPr/>
          <p:nvPr/>
        </p:nvSpPr>
        <p:spPr>
          <a:xfrm>
            <a:off x="395152" y="4689565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2D6B4E-0D4C-44BC-A8E7-5137ECAF90C3}"/>
              </a:ext>
            </a:extLst>
          </p:cNvPr>
          <p:cNvSpPr/>
          <p:nvPr/>
        </p:nvSpPr>
        <p:spPr>
          <a:xfrm>
            <a:off x="395152" y="3986590"/>
            <a:ext cx="3419202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Bins/Libs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2510B3D-4FA1-4478-BB86-DF5AE1F25949}"/>
              </a:ext>
            </a:extLst>
          </p:cNvPr>
          <p:cNvSpPr/>
          <p:nvPr/>
        </p:nvSpPr>
        <p:spPr>
          <a:xfrm>
            <a:off x="421278" y="323725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1BB91E7-15C0-4851-B84B-61940F452A7D}"/>
              </a:ext>
            </a:extLst>
          </p:cNvPr>
          <p:cNvSpPr/>
          <p:nvPr/>
        </p:nvSpPr>
        <p:spPr>
          <a:xfrm>
            <a:off x="1605642" y="3259028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361E1C34-759A-4650-B6DE-8E4E00D18CFE}"/>
              </a:ext>
            </a:extLst>
          </p:cNvPr>
          <p:cNvSpPr/>
          <p:nvPr/>
        </p:nvSpPr>
        <p:spPr>
          <a:xfrm>
            <a:off x="2776944" y="3267735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E66E733C-033C-4D9F-BEE9-5FE7B7901C92}"/>
              </a:ext>
            </a:extLst>
          </p:cNvPr>
          <p:cNvSpPr/>
          <p:nvPr/>
        </p:nvSpPr>
        <p:spPr>
          <a:xfrm>
            <a:off x="42127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Standard Machine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1FC0A0C-59F5-4E85-ACB2-E8D193F640BE}"/>
              </a:ext>
            </a:extLst>
          </p:cNvPr>
          <p:cNvSpPr/>
          <p:nvPr/>
        </p:nvSpPr>
        <p:spPr>
          <a:xfrm>
            <a:off x="4113719" y="4672146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E9497D-1A85-46EE-A928-40B7D119D0A9}"/>
              </a:ext>
            </a:extLst>
          </p:cNvPr>
          <p:cNvSpPr/>
          <p:nvPr/>
        </p:nvSpPr>
        <p:spPr>
          <a:xfrm>
            <a:off x="4139845" y="252750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CCE3503-7264-4E9B-A61E-CEB430C7036F}"/>
              </a:ext>
            </a:extLst>
          </p:cNvPr>
          <p:cNvSpPr/>
          <p:nvPr/>
        </p:nvSpPr>
        <p:spPr>
          <a:xfrm>
            <a:off x="5324209" y="2549277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ED901D-17AF-4ADB-BB25-63FD44275C53}"/>
              </a:ext>
            </a:extLst>
          </p:cNvPr>
          <p:cNvSpPr/>
          <p:nvPr/>
        </p:nvSpPr>
        <p:spPr>
          <a:xfrm>
            <a:off x="6495511" y="255798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D09EFF4-3771-4144-A7A0-53B53D4DEB21}"/>
              </a:ext>
            </a:extLst>
          </p:cNvPr>
          <p:cNvSpPr/>
          <p:nvPr/>
        </p:nvSpPr>
        <p:spPr>
          <a:xfrm>
            <a:off x="4109363" y="3988523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Hypervisor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32B422B-82E8-430E-AC9C-29497AB8E826}"/>
              </a:ext>
            </a:extLst>
          </p:cNvPr>
          <p:cNvSpPr/>
          <p:nvPr/>
        </p:nvSpPr>
        <p:spPr>
          <a:xfrm>
            <a:off x="4152910" y="323290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E3146FC-BB2B-417A-8C1A-D23BF3E1FD2E}"/>
              </a:ext>
            </a:extLst>
          </p:cNvPr>
          <p:cNvSpPr/>
          <p:nvPr/>
        </p:nvSpPr>
        <p:spPr>
          <a:xfrm>
            <a:off x="5337274" y="3254672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DF41CA6-1EE8-425D-889C-9F021134AFFD}"/>
              </a:ext>
            </a:extLst>
          </p:cNvPr>
          <p:cNvSpPr/>
          <p:nvPr/>
        </p:nvSpPr>
        <p:spPr>
          <a:xfrm>
            <a:off x="6508576" y="3263379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Guest OS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6D8E138-26B0-46EE-8C35-B7DD03C847E2}"/>
              </a:ext>
            </a:extLst>
          </p:cNvPr>
          <p:cNvSpPr/>
          <p:nvPr/>
        </p:nvSpPr>
        <p:spPr>
          <a:xfrm>
            <a:off x="4135489" y="180469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BE2CED2-D182-41CC-9DAA-507F57777862}"/>
              </a:ext>
            </a:extLst>
          </p:cNvPr>
          <p:cNvSpPr/>
          <p:nvPr/>
        </p:nvSpPr>
        <p:spPr>
          <a:xfrm>
            <a:off x="5319853" y="1826464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7BF75523-679E-4DEB-8198-0B21FF39A58D}"/>
              </a:ext>
            </a:extLst>
          </p:cNvPr>
          <p:cNvSpPr/>
          <p:nvPr/>
        </p:nvSpPr>
        <p:spPr>
          <a:xfrm>
            <a:off x="6491155" y="1835171"/>
            <a:ext cx="1044000" cy="652901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35B553-74D0-4DA5-8441-CA4F82D77B1B}"/>
              </a:ext>
            </a:extLst>
          </p:cNvPr>
          <p:cNvSpPr/>
          <p:nvPr/>
        </p:nvSpPr>
        <p:spPr>
          <a:xfrm>
            <a:off x="6499862" y="1020921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C437DD3-A09E-48B1-AAF3-C582E760BD3A}"/>
              </a:ext>
            </a:extLst>
          </p:cNvPr>
          <p:cNvSpPr/>
          <p:nvPr/>
        </p:nvSpPr>
        <p:spPr>
          <a:xfrm>
            <a:off x="4140959" y="170417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Virtual Machine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F2AC52-8BF9-4F6D-80E7-73DAF9EF0CEA}"/>
              </a:ext>
            </a:extLst>
          </p:cNvPr>
          <p:cNvSpPr txBox="1"/>
          <p:nvPr/>
        </p:nvSpPr>
        <p:spPr>
          <a:xfrm>
            <a:off x="1253582" y="577378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CF1780-9C97-4CAE-8E66-CD75CB36168F}"/>
              </a:ext>
            </a:extLst>
          </p:cNvPr>
          <p:cNvSpPr txBox="1"/>
          <p:nvPr/>
        </p:nvSpPr>
        <p:spPr>
          <a:xfrm>
            <a:off x="4957934" y="5810473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8753376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10157469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7827929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7845348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7871474" y="3228547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9055838" y="3280792"/>
            <a:ext cx="1044000" cy="622426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10227140" y="3259024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7840992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7875825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9060189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10231491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7872588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7880185" y="2544922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9062293" y="2577660"/>
            <a:ext cx="1044000" cy="622426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10235851" y="2575399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27FB5EDC-F8E3-498A-A3CA-FB7F394B4045}"/>
              </a:ext>
            </a:extLst>
          </p:cNvPr>
          <p:cNvSpPr/>
          <p:nvPr/>
        </p:nvSpPr>
        <p:spPr>
          <a:xfrm>
            <a:off x="4209504" y="101656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1</a:t>
            </a:r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17C63209-62D1-4C41-98B3-B64AEE6363BE}"/>
              </a:ext>
            </a:extLst>
          </p:cNvPr>
          <p:cNvSpPr/>
          <p:nvPr/>
        </p:nvSpPr>
        <p:spPr>
          <a:xfrm>
            <a:off x="5354679" y="10383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/>
              <a:t>MV</a:t>
            </a:r>
            <a:r>
              <a:rPr lang="en-IN" sz="1600" dirty="0"/>
              <a:t> 2</a:t>
            </a:r>
          </a:p>
        </p:txBody>
      </p:sp>
      <p:sp>
        <p:nvSpPr>
          <p:cNvPr id="14" name="Thought Bubble: Cloud 13">
            <a:extLst>
              <a:ext uri="{FF2B5EF4-FFF2-40B4-BE49-F238E27FC236}">
                <a16:creationId xmlns:a16="http://schemas.microsoft.com/office/drawing/2014/main" id="{8E152C3F-3B88-4570-8E2D-5C6EA9BC3241}"/>
              </a:ext>
            </a:extLst>
          </p:cNvPr>
          <p:cNvSpPr/>
          <p:nvPr/>
        </p:nvSpPr>
        <p:spPr>
          <a:xfrm>
            <a:off x="573819" y="1151992"/>
            <a:ext cx="3378917" cy="1708816"/>
          </a:xfrm>
          <a:prstGeom prst="cloudCallout">
            <a:avLst>
              <a:gd name="adj1" fmla="val 163574"/>
              <a:gd name="adj2" fmla="val 6250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Containers are efficient easily portable across different platform.</a:t>
            </a:r>
          </a:p>
        </p:txBody>
      </p:sp>
    </p:spTree>
    <p:extLst>
      <p:ext uri="{BB962C8B-B14F-4D97-AF65-F5344CB8AC3E}">
        <p14:creationId xmlns:p14="http://schemas.microsoft.com/office/powerpoint/2010/main" val="4170016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FE450C2-4A27-4F89-B34E-D868FD406F13}"/>
              </a:ext>
            </a:extLst>
          </p:cNvPr>
          <p:cNvSpPr/>
          <p:nvPr/>
        </p:nvSpPr>
        <p:spPr>
          <a:xfrm>
            <a:off x="2707265" y="2492423"/>
            <a:ext cx="1168031" cy="1432556"/>
          </a:xfrm>
          <a:prstGeom prst="rect">
            <a:avLst/>
          </a:prstGeom>
          <a:solidFill>
            <a:schemeClr val="tx1"/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A7AE67E-CB44-44B2-9959-3437C6FE29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1579612" y="5394719"/>
            <a:ext cx="3419202" cy="96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B7436B9B-0C4F-430E-9C6F-603EA224CD73}"/>
              </a:ext>
            </a:extLst>
          </p:cNvPr>
          <p:cNvSpPr txBox="1"/>
          <p:nvPr/>
        </p:nvSpPr>
        <p:spPr>
          <a:xfrm>
            <a:off x="2470123" y="5809992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43D3DA-62AA-4D35-812A-AFE5230BFF20}"/>
              </a:ext>
            </a:extLst>
          </p:cNvPr>
          <p:cNvSpPr/>
          <p:nvPr/>
        </p:nvSpPr>
        <p:spPr>
          <a:xfrm>
            <a:off x="3874216" y="249677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A25750-697F-4FD8-816A-D6D8E70BCD33}"/>
              </a:ext>
            </a:extLst>
          </p:cNvPr>
          <p:cNvSpPr/>
          <p:nvPr/>
        </p:nvSpPr>
        <p:spPr>
          <a:xfrm>
            <a:off x="1544676" y="2479365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A0FC35-ECF8-4F64-BE1E-C4693B5D1669}"/>
              </a:ext>
            </a:extLst>
          </p:cNvPr>
          <p:cNvSpPr/>
          <p:nvPr/>
        </p:nvSpPr>
        <p:spPr>
          <a:xfrm>
            <a:off x="1562095" y="4667790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E748676-00C6-4F88-AF4A-037B5AF36842}"/>
              </a:ext>
            </a:extLst>
          </p:cNvPr>
          <p:cNvSpPr/>
          <p:nvPr/>
        </p:nvSpPr>
        <p:spPr>
          <a:xfrm>
            <a:off x="1588221" y="3228547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C414B02-52FB-4DEB-A689-9D530F08F304}"/>
              </a:ext>
            </a:extLst>
          </p:cNvPr>
          <p:cNvSpPr/>
          <p:nvPr/>
        </p:nvSpPr>
        <p:spPr>
          <a:xfrm>
            <a:off x="2772585" y="3254672"/>
            <a:ext cx="1044000" cy="648546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B915C34-A44A-4D76-8C0A-074432F5BD1D}"/>
              </a:ext>
            </a:extLst>
          </p:cNvPr>
          <p:cNvSpPr/>
          <p:nvPr/>
        </p:nvSpPr>
        <p:spPr>
          <a:xfrm>
            <a:off x="3943887" y="3259024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Bins/</a:t>
            </a:r>
          </a:p>
          <a:p>
            <a:pPr algn="ctr"/>
            <a:r>
              <a:rPr lang="en-IN" sz="1600" dirty="0"/>
              <a:t>Libs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588BA60-8E98-422D-AD1A-469C149F2C22}"/>
              </a:ext>
            </a:extLst>
          </p:cNvPr>
          <p:cNvSpPr/>
          <p:nvPr/>
        </p:nvSpPr>
        <p:spPr>
          <a:xfrm>
            <a:off x="1557739" y="3984167"/>
            <a:ext cx="3419202" cy="652901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85849DA-C8A6-4CC6-A7B3-15DF6B977568}"/>
              </a:ext>
            </a:extLst>
          </p:cNvPr>
          <p:cNvSpPr/>
          <p:nvPr/>
        </p:nvSpPr>
        <p:spPr>
          <a:xfrm>
            <a:off x="1592572" y="175679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1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D487884-5C29-4FB8-8C62-8A10B6289E18}"/>
              </a:ext>
            </a:extLst>
          </p:cNvPr>
          <p:cNvSpPr/>
          <p:nvPr/>
        </p:nvSpPr>
        <p:spPr>
          <a:xfrm>
            <a:off x="2776936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2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CF38FB8-9508-4141-B6A0-F6918160F0B4}"/>
              </a:ext>
            </a:extLst>
          </p:cNvPr>
          <p:cNvSpPr/>
          <p:nvPr/>
        </p:nvSpPr>
        <p:spPr>
          <a:xfrm>
            <a:off x="3948238" y="178727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5616611-28B4-4352-9D98-146A6C4AE721}"/>
              </a:ext>
            </a:extLst>
          </p:cNvPr>
          <p:cNvSpPr/>
          <p:nvPr/>
        </p:nvSpPr>
        <p:spPr>
          <a:xfrm>
            <a:off x="1589335" y="16606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C3B129-48E9-4285-ACEB-8A0299ACEBB4}"/>
              </a:ext>
            </a:extLst>
          </p:cNvPr>
          <p:cNvSpPr/>
          <p:nvPr/>
        </p:nvSpPr>
        <p:spPr>
          <a:xfrm>
            <a:off x="1596932" y="2544922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A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266C360-E956-43B5-972D-F317A3BA9D34}"/>
              </a:ext>
            </a:extLst>
          </p:cNvPr>
          <p:cNvSpPr/>
          <p:nvPr/>
        </p:nvSpPr>
        <p:spPr>
          <a:xfrm>
            <a:off x="2779040" y="2577660"/>
            <a:ext cx="1044000" cy="622426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B</a:t>
            </a: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FB838506-09AC-42DB-AD7A-3EEAD78E72C2}"/>
              </a:ext>
            </a:extLst>
          </p:cNvPr>
          <p:cNvSpPr/>
          <p:nvPr/>
        </p:nvSpPr>
        <p:spPr>
          <a:xfrm>
            <a:off x="3952598" y="2575399"/>
            <a:ext cx="1044000" cy="652901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App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462A91-2B68-4A94-9734-1D71C0086151}"/>
              </a:ext>
            </a:extLst>
          </p:cNvPr>
          <p:cNvSpPr/>
          <p:nvPr/>
        </p:nvSpPr>
        <p:spPr>
          <a:xfrm>
            <a:off x="8006447" y="2527256"/>
            <a:ext cx="1168031" cy="1432556"/>
          </a:xfrm>
          <a:prstGeom prst="rect">
            <a:avLst/>
          </a:prstGeom>
          <a:solidFill>
            <a:schemeClr val="tx1"/>
          </a:solidFill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B6E021-8C07-420A-BB65-ED04E8EAB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78793" y="5068289"/>
            <a:ext cx="4651455" cy="13143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C0FD964-82A1-498F-A952-9EE7774E859A}"/>
              </a:ext>
            </a:extLst>
          </p:cNvPr>
          <p:cNvSpPr txBox="1"/>
          <p:nvPr/>
        </p:nvSpPr>
        <p:spPr>
          <a:xfrm>
            <a:off x="8296048" y="5688689"/>
            <a:ext cx="2570631" cy="3692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Infrastructure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57B56E-5C7C-4C6A-AC8E-BA99FE7554A7}"/>
              </a:ext>
            </a:extLst>
          </p:cNvPr>
          <p:cNvSpPr/>
          <p:nvPr/>
        </p:nvSpPr>
        <p:spPr>
          <a:xfrm>
            <a:off x="9173398" y="2518549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9753CE5-A237-44D8-8E74-B9DE1AAD03ED}"/>
              </a:ext>
            </a:extLst>
          </p:cNvPr>
          <p:cNvSpPr/>
          <p:nvPr/>
        </p:nvSpPr>
        <p:spPr>
          <a:xfrm>
            <a:off x="6843858" y="2527261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2AAC10-B9A7-4E52-8727-F0E9043248A7}"/>
              </a:ext>
            </a:extLst>
          </p:cNvPr>
          <p:cNvSpPr/>
          <p:nvPr/>
        </p:nvSpPr>
        <p:spPr>
          <a:xfrm>
            <a:off x="6861276" y="4722061"/>
            <a:ext cx="4651455" cy="620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Host OS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5D36FEE-8DA4-480A-B83D-97D7EDF53728}"/>
              </a:ext>
            </a:extLst>
          </p:cNvPr>
          <p:cNvSpPr/>
          <p:nvPr/>
        </p:nvSpPr>
        <p:spPr>
          <a:xfrm>
            <a:off x="6887403" y="3250317"/>
            <a:ext cx="1044000" cy="65290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Bins/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Libs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93B3632-EEDC-44E4-B276-8B8882F86FE4}"/>
              </a:ext>
            </a:extLst>
          </p:cNvPr>
          <p:cNvSpPr/>
          <p:nvPr/>
        </p:nvSpPr>
        <p:spPr>
          <a:xfrm>
            <a:off x="8071767" y="3276442"/>
            <a:ext cx="1044000" cy="648546"/>
          </a:xfrm>
          <a:prstGeom prst="round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Bins/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Libs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C0DDE99-9B1A-4CAB-901F-8097FDE280E3}"/>
              </a:ext>
            </a:extLst>
          </p:cNvPr>
          <p:cNvSpPr/>
          <p:nvPr/>
        </p:nvSpPr>
        <p:spPr>
          <a:xfrm>
            <a:off x="9243069" y="3280794"/>
            <a:ext cx="1044000" cy="652901"/>
          </a:xfrm>
          <a:prstGeom prst="roundRect">
            <a:avLst/>
          </a:prstGeom>
          <a:solidFill>
            <a:srgbClr val="C7BF71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</a:rPr>
              <a:t>Bins/</a:t>
            </a:r>
          </a:p>
          <a:p>
            <a:pPr algn="ctr"/>
            <a:r>
              <a:rPr lang="en-IN" sz="1600" dirty="0">
                <a:solidFill>
                  <a:schemeClr val="tx1"/>
                </a:solidFill>
              </a:rPr>
              <a:t>Libs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C1F1215-5EC9-47D3-A823-434D581F4204}"/>
              </a:ext>
            </a:extLst>
          </p:cNvPr>
          <p:cNvSpPr/>
          <p:nvPr/>
        </p:nvSpPr>
        <p:spPr>
          <a:xfrm>
            <a:off x="6856920" y="4038438"/>
            <a:ext cx="4651455" cy="620400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Docker Engine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C8D82342-325B-4A5E-94E5-64B6B9AADED0}"/>
              </a:ext>
            </a:extLst>
          </p:cNvPr>
          <p:cNvSpPr/>
          <p:nvPr/>
        </p:nvSpPr>
        <p:spPr>
          <a:xfrm>
            <a:off x="6891754" y="177856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 for httpd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D1EF16C9-A2AE-43CB-AEDA-02110E06FFC3}"/>
              </a:ext>
            </a:extLst>
          </p:cNvPr>
          <p:cNvSpPr/>
          <p:nvPr/>
        </p:nvSpPr>
        <p:spPr>
          <a:xfrm>
            <a:off x="8076118" y="1800336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for Nginx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DC8581D3-03A2-43B6-97B5-F5040F1033E4}"/>
              </a:ext>
            </a:extLst>
          </p:cNvPr>
          <p:cNvSpPr/>
          <p:nvPr/>
        </p:nvSpPr>
        <p:spPr>
          <a:xfrm>
            <a:off x="9247420" y="1809043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for Tomcat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4B309B32-8F7D-4757-95D5-9DFCFE625B9D}"/>
              </a:ext>
            </a:extLst>
          </p:cNvPr>
          <p:cNvSpPr/>
          <p:nvPr/>
        </p:nvSpPr>
        <p:spPr>
          <a:xfrm>
            <a:off x="6888517" y="187831"/>
            <a:ext cx="3419202" cy="6529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00B050"/>
                </a:solidFill>
              </a:rPr>
              <a:t>Docker Container</a:t>
            </a: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A4141FDE-F1BA-443F-825C-FD8128390577}"/>
              </a:ext>
            </a:extLst>
          </p:cNvPr>
          <p:cNvSpPr/>
          <p:nvPr/>
        </p:nvSpPr>
        <p:spPr>
          <a:xfrm>
            <a:off x="6896114" y="2566692"/>
            <a:ext cx="1044000" cy="652901"/>
          </a:xfrm>
          <a:prstGeom prst="roundRect">
            <a:avLst/>
          </a:prstGeom>
          <a:solidFill>
            <a:srgbClr val="B3B63A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79372A5-C338-4DFA-9EE5-87D2EC8F2E0D}"/>
              </a:ext>
            </a:extLst>
          </p:cNvPr>
          <p:cNvSpPr/>
          <p:nvPr/>
        </p:nvSpPr>
        <p:spPr>
          <a:xfrm>
            <a:off x="8078222" y="2599430"/>
            <a:ext cx="1044000" cy="62242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0CD5E1BE-DD5F-42BF-BD90-C50B07D83C66}"/>
              </a:ext>
            </a:extLst>
          </p:cNvPr>
          <p:cNvSpPr/>
          <p:nvPr/>
        </p:nvSpPr>
        <p:spPr>
          <a:xfrm>
            <a:off x="9251780" y="2597169"/>
            <a:ext cx="1044000" cy="65290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dirty="0"/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8CF78879-4DAB-48E9-8042-C7FD185DF0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8794" y="2544922"/>
            <a:ext cx="1075397" cy="704493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D120CB2C-8BC6-4E94-B0CE-B8E6EE1A35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6015" y="2561379"/>
            <a:ext cx="1057982" cy="675635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6DB39E9-4A5F-42E2-B65B-9DBE04C74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1295" y="2582841"/>
            <a:ext cx="1116240" cy="676184"/>
          </a:xfrm>
          <a:prstGeom prst="rect">
            <a:avLst/>
          </a:prstGeom>
        </p:spPr>
      </p:pic>
      <p:sp>
        <p:nvSpPr>
          <p:cNvPr id="85" name="Arrow: Right 84">
            <a:extLst>
              <a:ext uri="{FF2B5EF4-FFF2-40B4-BE49-F238E27FC236}">
                <a16:creationId xmlns:a16="http://schemas.microsoft.com/office/drawing/2014/main" id="{9CE7F877-2236-4643-815C-D1551554B789}"/>
              </a:ext>
            </a:extLst>
          </p:cNvPr>
          <p:cNvSpPr/>
          <p:nvPr/>
        </p:nvSpPr>
        <p:spPr>
          <a:xfrm>
            <a:off x="5232749" y="2813600"/>
            <a:ext cx="1436914" cy="925683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374A35F-8AD5-4109-83E1-88CCE69EE593}"/>
              </a:ext>
            </a:extLst>
          </p:cNvPr>
          <p:cNvSpPr/>
          <p:nvPr/>
        </p:nvSpPr>
        <p:spPr>
          <a:xfrm>
            <a:off x="10344701" y="2527256"/>
            <a:ext cx="1168031" cy="1432556"/>
          </a:xfrm>
          <a:prstGeom prst="rect">
            <a:avLst/>
          </a:prstGeom>
          <a:ln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Your Application's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083E3B33-92BC-408C-9A70-C6576F54120E}"/>
              </a:ext>
            </a:extLst>
          </p:cNvPr>
          <p:cNvSpPr/>
          <p:nvPr/>
        </p:nvSpPr>
        <p:spPr>
          <a:xfrm>
            <a:off x="10418723" y="1752435"/>
            <a:ext cx="1044000" cy="652901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100" dirty="0"/>
              <a:t>Docker Container for XXXXXX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8A4CE242-5BF9-4B41-9E98-BB4CCC9F2E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4998" y="4765356"/>
            <a:ext cx="556769" cy="536399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E1329B21-066A-4C61-B062-9AB34B73498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4998" y="4076006"/>
            <a:ext cx="583973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4926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8A8BD65-AC49-41E5-BA79-F6C79117DA5C}"/>
              </a:ext>
            </a:extLst>
          </p:cNvPr>
          <p:cNvSpPr txBox="1"/>
          <p:nvPr/>
        </p:nvSpPr>
        <p:spPr>
          <a:xfrm>
            <a:off x="5453834" y="1813902"/>
            <a:ext cx="5884726" cy="2354491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45415" marR="253365" indent="-132715">
              <a:lnSpc>
                <a:spcPts val="2170"/>
              </a:lnSpc>
              <a:spcBef>
                <a:spcPts val="360"/>
              </a:spcBef>
              <a:buClr>
                <a:srgbClr val="1AAAF7"/>
              </a:buClr>
              <a:buChar char="•"/>
              <a:tabLst>
                <a:tab pos="146050" algn="l"/>
              </a:tabLst>
            </a:pP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Standardized packaging for  </a:t>
            </a:r>
            <a:r>
              <a:rPr sz="2000" dirty="0">
                <a:solidFill>
                  <a:srgbClr val="708391"/>
                </a:solidFill>
                <a:latin typeface="Arial"/>
                <a:cs typeface="Arial"/>
              </a:rPr>
              <a:t>software </a:t>
            </a: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and</a:t>
            </a:r>
            <a:r>
              <a:rPr sz="2000" spc="-100" dirty="0">
                <a:solidFill>
                  <a:srgbClr val="708391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dependencies</a:t>
            </a:r>
            <a:endParaRPr sz="2000" dirty="0">
              <a:latin typeface="Arial"/>
              <a:cs typeface="Arial"/>
            </a:endParaRPr>
          </a:p>
          <a:p>
            <a:pPr marL="145415" indent="-132715">
              <a:lnSpc>
                <a:spcPct val="100000"/>
              </a:lnSpc>
              <a:spcBef>
                <a:spcPts val="950"/>
              </a:spcBef>
              <a:buClr>
                <a:srgbClr val="1AAAF7"/>
              </a:buClr>
              <a:buChar char="•"/>
              <a:tabLst>
                <a:tab pos="146050" algn="l"/>
              </a:tabLst>
            </a:pP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Isolate apps from each</a:t>
            </a:r>
            <a:r>
              <a:rPr sz="2000" spc="-60" dirty="0">
                <a:solidFill>
                  <a:srgbClr val="708391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other</a:t>
            </a:r>
            <a:endParaRPr sz="2000" dirty="0">
              <a:latin typeface="Arial"/>
              <a:cs typeface="Arial"/>
            </a:endParaRPr>
          </a:p>
          <a:p>
            <a:pPr marL="145415" indent="-132715">
              <a:lnSpc>
                <a:spcPct val="100000"/>
              </a:lnSpc>
              <a:spcBef>
                <a:spcPts val="975"/>
              </a:spcBef>
              <a:buClr>
                <a:srgbClr val="1AAAF7"/>
              </a:buClr>
              <a:buChar char="•"/>
              <a:tabLst>
                <a:tab pos="146050" algn="l"/>
              </a:tabLst>
            </a:pP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Share the </a:t>
            </a:r>
            <a:r>
              <a:rPr sz="2000" dirty="0">
                <a:solidFill>
                  <a:srgbClr val="708391"/>
                </a:solidFill>
                <a:latin typeface="Arial"/>
                <a:cs typeface="Arial"/>
              </a:rPr>
              <a:t>same </a:t>
            </a: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OS</a:t>
            </a:r>
            <a:r>
              <a:rPr sz="2000" spc="-55" dirty="0">
                <a:solidFill>
                  <a:srgbClr val="708391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708391"/>
                </a:solidFill>
                <a:latin typeface="Arial"/>
                <a:cs typeface="Arial"/>
              </a:rPr>
              <a:t>kernel</a:t>
            </a:r>
            <a:endParaRPr sz="2000" dirty="0">
              <a:latin typeface="Arial"/>
              <a:cs typeface="Arial"/>
            </a:endParaRPr>
          </a:p>
          <a:p>
            <a:pPr marL="145415" marR="568960" indent="-132715">
              <a:lnSpc>
                <a:spcPts val="2170"/>
              </a:lnSpc>
              <a:spcBef>
                <a:spcPts val="1235"/>
              </a:spcBef>
              <a:buClr>
                <a:srgbClr val="1AAAF7"/>
              </a:buClr>
              <a:buChar char="•"/>
              <a:tabLst>
                <a:tab pos="146050" algn="l"/>
              </a:tabLst>
            </a:pP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Works for all major</a:t>
            </a:r>
            <a:r>
              <a:rPr sz="2000" spc="-90" dirty="0">
                <a:solidFill>
                  <a:srgbClr val="708391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Linux  distributions</a:t>
            </a:r>
            <a:endParaRPr sz="2000" dirty="0">
              <a:latin typeface="Arial"/>
              <a:cs typeface="Arial"/>
            </a:endParaRPr>
          </a:p>
          <a:p>
            <a:pPr marL="145415" marR="5080" indent="-132715">
              <a:lnSpc>
                <a:spcPts val="2170"/>
              </a:lnSpc>
              <a:spcBef>
                <a:spcPts val="1210"/>
              </a:spcBef>
              <a:buClr>
                <a:srgbClr val="1AAAF7"/>
              </a:buClr>
              <a:buChar char="•"/>
              <a:tabLst>
                <a:tab pos="146050" algn="l"/>
              </a:tabLst>
            </a:pP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Containers native to Windows  Server</a:t>
            </a:r>
            <a:r>
              <a:rPr sz="2000" spc="-15" dirty="0">
                <a:solidFill>
                  <a:srgbClr val="708391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708391"/>
                </a:solidFill>
                <a:latin typeface="Arial"/>
                <a:cs typeface="Arial"/>
              </a:rPr>
              <a:t>2016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80D53B36-62A2-4FBA-B607-BFE8EA588E50}"/>
              </a:ext>
            </a:extLst>
          </p:cNvPr>
          <p:cNvSpPr/>
          <p:nvPr/>
        </p:nvSpPr>
        <p:spPr>
          <a:xfrm>
            <a:off x="382089" y="1898811"/>
            <a:ext cx="4652800" cy="33655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8A16A0-1BEA-413F-880E-E66387FB989C}"/>
              </a:ext>
            </a:extLst>
          </p:cNvPr>
          <p:cNvSpPr txBox="1"/>
          <p:nvPr/>
        </p:nvSpPr>
        <p:spPr>
          <a:xfrm>
            <a:off x="382089" y="423396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/ Why Docker Container?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2F7CAD-9195-475F-AD87-4B5133EC4F44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1916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19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974D00-BDED-4F77-A132-934A60DDF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24" y="1441181"/>
            <a:ext cx="10824166" cy="4965519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BC79CB5D-12DC-4E83-AA4A-4E375850D452}"/>
              </a:ext>
            </a:extLst>
          </p:cNvPr>
          <p:cNvSpPr/>
          <p:nvPr/>
        </p:nvSpPr>
        <p:spPr>
          <a:xfrm>
            <a:off x="4689565" y="533909"/>
            <a:ext cx="3435532" cy="690511"/>
          </a:xfrm>
          <a:prstGeom prst="wedgeEllipseCallout">
            <a:avLst>
              <a:gd name="adj1" fmla="val -143647"/>
              <a:gd name="adj2" fmla="val 137128"/>
            </a:avLst>
          </a:prstGeom>
          <a:solidFill>
            <a:srgbClr val="00B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1833491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7CC042-6FEA-47B2-90DC-436408AE1F9D}"/>
              </a:ext>
            </a:extLst>
          </p:cNvPr>
          <p:cNvSpPr txBox="1"/>
          <p:nvPr/>
        </p:nvSpPr>
        <p:spPr>
          <a:xfrm>
            <a:off x="279275" y="561273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 Client?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798B0DC-FBBC-4418-8E82-BDA023660C96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B77013-7FE5-42C2-AA7C-03DFEC7702E4}"/>
              </a:ext>
            </a:extLst>
          </p:cNvPr>
          <p:cNvSpPr txBox="1"/>
          <p:nvPr/>
        </p:nvSpPr>
        <p:spPr>
          <a:xfrm>
            <a:off x="279274" y="1373666"/>
            <a:ext cx="110985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 client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) is the primary way that many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users interact with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When you use commands such as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run ,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client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sends these commands to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dockerd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, which carries them out.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command uses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API. The </a:t>
            </a:r>
            <a:r>
              <a:rPr lang="en-US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Docker client</a:t>
            </a:r>
            <a:r>
              <a:rPr 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can communicate with more than one daemon.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76244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1777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701F3-6889-4B00-B390-FB8FEAC71279}"/>
              </a:ext>
            </a:extLst>
          </p:cNvPr>
          <p:cNvSpPr txBox="1"/>
          <p:nvPr/>
        </p:nvSpPr>
        <p:spPr>
          <a:xfrm>
            <a:off x="279275" y="561273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Dockerfile?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B22BF-5400-4FA1-9684-790EFFAF366E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FBDC9AA-C541-41C9-BDEB-2DFEFE103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89" y="1395139"/>
            <a:ext cx="9134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037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557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974D00-BDED-4F77-A132-934A60DDF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24" y="1441181"/>
            <a:ext cx="10824166" cy="4965519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3ADB61B0-7C67-478C-9C10-0048B0163E00}"/>
              </a:ext>
            </a:extLst>
          </p:cNvPr>
          <p:cNvSpPr/>
          <p:nvPr/>
        </p:nvSpPr>
        <p:spPr>
          <a:xfrm>
            <a:off x="4689565" y="533909"/>
            <a:ext cx="3435532" cy="690511"/>
          </a:xfrm>
          <a:prstGeom prst="wedgeEllipseCallout">
            <a:avLst>
              <a:gd name="adj1" fmla="val 839"/>
              <a:gd name="adj2" fmla="val 279011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551929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906E2B-2E02-4A21-A6AE-F074C4117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" y="1201782"/>
            <a:ext cx="9639300" cy="5656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0D51F6-6CCF-40EA-B644-025A2937A92B}"/>
              </a:ext>
            </a:extLst>
          </p:cNvPr>
          <p:cNvSpPr txBox="1"/>
          <p:nvPr/>
        </p:nvSpPr>
        <p:spPr>
          <a:xfrm>
            <a:off x="279275" y="561273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 Image and Dockerfile?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C11BF2-287C-4321-B286-531636119CFA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77668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701F3-6889-4B00-B390-FB8FEAC71279}"/>
              </a:ext>
            </a:extLst>
          </p:cNvPr>
          <p:cNvSpPr txBox="1"/>
          <p:nvPr/>
        </p:nvSpPr>
        <p:spPr>
          <a:xfrm>
            <a:off x="279275" y="561273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Dockerfile?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B22BF-5400-4FA1-9684-790EFFAF366E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FBDC9AA-C541-41C9-BDEB-2DFEFE103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089" y="1395139"/>
            <a:ext cx="9134475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931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701F3-6889-4B00-B390-FB8FEAC71279}"/>
              </a:ext>
            </a:extLst>
          </p:cNvPr>
          <p:cNvSpPr txBox="1"/>
          <p:nvPr/>
        </p:nvSpPr>
        <p:spPr>
          <a:xfrm>
            <a:off x="279275" y="561273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 Image?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B22BF-5400-4FA1-9684-790EFFAF366E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AF6CBD2-113F-4D54-8354-B28FA0D6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5" y="1306285"/>
            <a:ext cx="10641274" cy="5355771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1701F3-6889-4B00-B390-FB8FEAC71279}"/>
              </a:ext>
            </a:extLst>
          </p:cNvPr>
          <p:cNvSpPr txBox="1"/>
          <p:nvPr/>
        </p:nvSpPr>
        <p:spPr>
          <a:xfrm>
            <a:off x="279275" y="561273"/>
            <a:ext cx="8237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 Image and Dockerfile together?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E8B22BF-5400-4FA1-9684-790EFFAF366E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AF6CBD2-113F-4D54-8354-B28FA0D6E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75" y="1306285"/>
            <a:ext cx="5816725" cy="53557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C8144B-6C74-4AF8-B60E-C38ED4B7F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336" y="1845807"/>
            <a:ext cx="5816724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2981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561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D974D00-BDED-4F77-A132-934A60DDF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24" y="1441181"/>
            <a:ext cx="10824166" cy="4965519"/>
          </a:xfrm>
          <a:prstGeom prst="rect">
            <a:avLst/>
          </a:prstGeom>
        </p:spPr>
      </p:pic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BC79CB5D-12DC-4E83-AA4A-4E375850D452}"/>
              </a:ext>
            </a:extLst>
          </p:cNvPr>
          <p:cNvSpPr/>
          <p:nvPr/>
        </p:nvSpPr>
        <p:spPr>
          <a:xfrm>
            <a:off x="4689565" y="533909"/>
            <a:ext cx="3435532" cy="690511"/>
          </a:xfrm>
          <a:prstGeom prst="wedgeEllipseCallout">
            <a:avLst>
              <a:gd name="adj1" fmla="val 65098"/>
              <a:gd name="adj2" fmla="val 133345"/>
            </a:avLst>
          </a:prstGeom>
          <a:solidFill>
            <a:srgbClr val="FFFF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2578004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0CFFC9F-FEDF-4E58-B8D1-6A9FFD2F98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3837" y="1739144"/>
            <a:ext cx="6772275" cy="4061414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E27CC042-6FEA-47B2-90DC-436408AE1F9D}"/>
              </a:ext>
            </a:extLst>
          </p:cNvPr>
          <p:cNvSpPr txBox="1"/>
          <p:nvPr/>
        </p:nvSpPr>
        <p:spPr>
          <a:xfrm>
            <a:off x="279275" y="561273"/>
            <a:ext cx="560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chemeClr val="bg2"/>
                </a:solidFill>
                <a:effectLst/>
                <a:latin typeface="Geomanist Book"/>
              </a:rPr>
              <a:t>What is Docker Registry?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798B0DC-FBBC-4418-8E82-BDA023660C96}"/>
              </a:ext>
            </a:extLst>
          </p:cNvPr>
          <p:cNvCxnSpPr>
            <a:cxnSpLocks/>
          </p:cNvCxnSpPr>
          <p:nvPr/>
        </p:nvCxnSpPr>
        <p:spPr>
          <a:xfrm>
            <a:off x="382089" y="1057442"/>
            <a:ext cx="10995773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2B77013-7FE5-42C2-AA7C-03DFEC7702E4}"/>
              </a:ext>
            </a:extLst>
          </p:cNvPr>
          <p:cNvSpPr txBox="1"/>
          <p:nvPr/>
        </p:nvSpPr>
        <p:spPr>
          <a:xfrm>
            <a:off x="279274" y="1373666"/>
            <a:ext cx="110985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33444C"/>
                </a:solidFill>
                <a:effectLst/>
                <a:latin typeface="Open Sans"/>
              </a:rPr>
              <a:t>The Registry is a stateless, highly scalable server side application that stores and lets you distribute Docker images.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43942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05E2F76-F782-400F-9133-DAC50DE4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7316"/>
            <a:ext cx="12156764" cy="702056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24609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BD25361-18F4-461D-AE6B-361737957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4" y="600242"/>
            <a:ext cx="10309218" cy="5721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136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0FA302A-F2E4-4576-A784-69F8A9749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25" y="2608909"/>
            <a:ext cx="10084526" cy="35996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93025C-18C2-4A54-AFDC-29592A12CD93}"/>
              </a:ext>
            </a:extLst>
          </p:cNvPr>
          <p:cNvSpPr txBox="1"/>
          <p:nvPr/>
        </p:nvSpPr>
        <p:spPr>
          <a:xfrm>
            <a:off x="796834" y="866894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https://aws.amazon.com/ecr/</a:t>
            </a:r>
          </a:p>
        </p:txBody>
      </p:sp>
      <p:pic>
        <p:nvPicPr>
          <p:cNvPr id="38914" name="Picture 2" descr="Introduction to Cloud Security with AWS | by Aregbesola Olumuyiwa | Data  Driven Investor | Medium">
            <a:extLst>
              <a:ext uri="{FF2B5EF4-FFF2-40B4-BE49-F238E27FC236}">
                <a16:creationId xmlns:a16="http://schemas.microsoft.com/office/drawing/2014/main" id="{03300CD9-9BAF-457B-BA79-5DD27C223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26" y="258719"/>
            <a:ext cx="5426666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39805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C93025C-18C2-4A54-AFDC-29592A12CD93}"/>
              </a:ext>
            </a:extLst>
          </p:cNvPr>
          <p:cNvSpPr txBox="1"/>
          <p:nvPr/>
        </p:nvSpPr>
        <p:spPr>
          <a:xfrm>
            <a:off x="1580605" y="6216151"/>
            <a:ext cx="61068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https://cloud.google.com/container-registry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4BD570-C5AC-4367-8C53-795E4000D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0605" y="1526585"/>
            <a:ext cx="8394791" cy="4562475"/>
          </a:xfrm>
          <a:prstGeom prst="rect">
            <a:avLst/>
          </a:prstGeom>
        </p:spPr>
      </p:pic>
      <p:pic>
        <p:nvPicPr>
          <p:cNvPr id="39938" name="Picture 2" descr="Vodafone Chooses Google Cloud as Strategic Cloud Platform for  Infrastructure, Data Analytics, and Machine Learning">
            <a:extLst>
              <a:ext uri="{FF2B5EF4-FFF2-40B4-BE49-F238E27FC236}">
                <a16:creationId xmlns:a16="http://schemas.microsoft.com/office/drawing/2014/main" id="{D1491546-535A-438A-A79E-5B5AA1775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461" y="57317"/>
            <a:ext cx="2721836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9901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134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57A2E1F-005D-4CEC-A095-C3A82D0CF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404" y="475248"/>
            <a:ext cx="7733191" cy="41048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3175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574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 rot="19904804">
            <a:off x="10954108" y="984066"/>
            <a:ext cx="48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  <a:p>
            <a:r>
              <a:rPr lang="en-US" dirty="0"/>
              <a:t>Y</a:t>
            </a:r>
          </a:p>
          <a:p>
            <a:endParaRPr lang="en-US" dirty="0"/>
          </a:p>
          <a:p>
            <a:r>
              <a:rPr lang="en-US" dirty="0"/>
              <a:t>K</a:t>
            </a:r>
          </a:p>
          <a:p>
            <a:r>
              <a:rPr lang="en-US" dirty="0"/>
              <a:t>U</a:t>
            </a:r>
          </a:p>
          <a:p>
            <a:r>
              <a:rPr lang="en-US" dirty="0"/>
              <a:t>M</a:t>
            </a:r>
          </a:p>
          <a:p>
            <a:r>
              <a:rPr lang="en-US" dirty="0"/>
              <a:t>A</a:t>
            </a:r>
          </a:p>
          <a:p>
            <a:r>
              <a:rPr lang="en-US" dirty="0"/>
              <a:t>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739" y="57317"/>
            <a:ext cx="962025" cy="5429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DBEFB8E-29CF-4A1D-8011-6257633676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3100" y="723900"/>
            <a:ext cx="83058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6394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FA27-53F2-8A59-8AE6-829C4E91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610C8BA-E50D-CDC6-D060-32A665085158}"/>
              </a:ext>
            </a:extLst>
          </p:cNvPr>
          <p:cNvSpPr/>
          <p:nvPr/>
        </p:nvSpPr>
        <p:spPr>
          <a:xfrm>
            <a:off x="530087" y="967409"/>
            <a:ext cx="2398643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Spring-Boot – H2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0EEB8A-DC76-5D5F-8A42-FAF2487BFE69}"/>
              </a:ext>
            </a:extLst>
          </p:cNvPr>
          <p:cNvSpPr/>
          <p:nvPr/>
        </p:nvSpPr>
        <p:spPr>
          <a:xfrm>
            <a:off x="4273826" y="967409"/>
            <a:ext cx="2398643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Spring-Boot – H2 – Ec2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D09C5-DBA0-E38B-F3B1-A1522C993E18}"/>
              </a:ext>
            </a:extLst>
          </p:cNvPr>
          <p:cNvSpPr/>
          <p:nvPr/>
        </p:nvSpPr>
        <p:spPr>
          <a:xfrm>
            <a:off x="7156173" y="967409"/>
            <a:ext cx="2398643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Ec2 – git, </a:t>
            </a:r>
            <a:r>
              <a:rPr lang="en-US" dirty="0" err="1"/>
              <a:t>wget</a:t>
            </a:r>
            <a:r>
              <a:rPr lang="en-US" dirty="0"/>
              <a:t> java, </a:t>
            </a:r>
            <a:r>
              <a:rPr lang="en-US" dirty="0" err="1"/>
              <a:t>javac</a:t>
            </a:r>
            <a:r>
              <a:rPr lang="en-US" dirty="0"/>
              <a:t>, and Maven, Docker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23AF5-15F3-4AB9-0FD0-77D939DC3C6B}"/>
              </a:ext>
            </a:extLst>
          </p:cNvPr>
          <p:cNvSpPr/>
          <p:nvPr/>
        </p:nvSpPr>
        <p:spPr>
          <a:xfrm>
            <a:off x="530087" y="3200400"/>
            <a:ext cx="2398643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build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5B8A66-F247-AA99-CDDB-08EE522E6853}"/>
              </a:ext>
            </a:extLst>
          </p:cNvPr>
          <p:cNvSpPr/>
          <p:nvPr/>
        </p:nvSpPr>
        <p:spPr>
          <a:xfrm>
            <a:off x="4273826" y="3200399"/>
            <a:ext cx="2398643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Hub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BC328B-6B4D-9CC5-5566-E8C53DE3A892}"/>
              </a:ext>
            </a:extLst>
          </p:cNvPr>
          <p:cNvSpPr/>
          <p:nvPr/>
        </p:nvSpPr>
        <p:spPr>
          <a:xfrm>
            <a:off x="7156172" y="3127510"/>
            <a:ext cx="2398643" cy="10336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Docker Hub – Kubernetes / Docker Run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8187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AEAC8-0BC5-4FB7-9EE7-DF2404E4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64E7A-73B0-0DC7-3308-795C376370BE}"/>
              </a:ext>
            </a:extLst>
          </p:cNvPr>
          <p:cNvSpPr/>
          <p:nvPr/>
        </p:nvSpPr>
        <p:spPr>
          <a:xfrm>
            <a:off x="808383" y="2146852"/>
            <a:ext cx="3326295" cy="2305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–EC2</a:t>
            </a:r>
          </a:p>
          <a:p>
            <a:pPr algn="ctr"/>
            <a:r>
              <a:rPr lang="en-US" dirty="0"/>
              <a:t>Docker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Docker login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49C5F63-30FE-4563-7D4E-ADA376AE7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982" y="2028186"/>
            <a:ext cx="5461635" cy="242454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C429E1-EF91-5E82-E907-965CA9D09CC4}"/>
              </a:ext>
            </a:extLst>
          </p:cNvPr>
          <p:cNvCxnSpPr/>
          <p:nvPr/>
        </p:nvCxnSpPr>
        <p:spPr>
          <a:xfrm>
            <a:off x="4439478" y="3127513"/>
            <a:ext cx="13517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220556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43CD3-36D0-8E35-FF80-DA307B3D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2F8C96-A521-7245-CF33-002406CE3169}"/>
              </a:ext>
            </a:extLst>
          </p:cNvPr>
          <p:cNvSpPr/>
          <p:nvPr/>
        </p:nvSpPr>
        <p:spPr>
          <a:xfrm>
            <a:off x="808383" y="2146852"/>
            <a:ext cx="3326295" cy="23058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AWS –EC2</a:t>
            </a:r>
          </a:p>
          <a:p>
            <a:pPr algn="ctr"/>
            <a:r>
              <a:rPr lang="en-US" dirty="0"/>
              <a:t>Docker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Docker login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C80D24-AEEE-83A7-E2FB-E87F48A02E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982" y="2028186"/>
            <a:ext cx="5461635" cy="242454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11BDB5E-DD10-AF60-C961-C7F785AA0726}"/>
              </a:ext>
            </a:extLst>
          </p:cNvPr>
          <p:cNvCxnSpPr/>
          <p:nvPr/>
        </p:nvCxnSpPr>
        <p:spPr>
          <a:xfrm flipH="1">
            <a:off x="4134678" y="3207026"/>
            <a:ext cx="15770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14935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5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6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7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8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9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0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2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3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ppt/theme/themeOverride14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17464</TotalTime>
  <Words>2647</Words>
  <Application>Microsoft Office PowerPoint</Application>
  <PresentationFormat>Widescreen</PresentationFormat>
  <Paragraphs>784</Paragraphs>
  <Slides>66</Slides>
  <Notes>59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-apple-system</vt:lpstr>
      <vt:lpstr>Arial</vt:lpstr>
      <vt:lpstr>Arial</vt:lpstr>
      <vt:lpstr>Calibri</vt:lpstr>
      <vt:lpstr>Century Gothic</vt:lpstr>
      <vt:lpstr>Geomanist Book</vt:lpstr>
      <vt:lpstr>Open Sans</vt:lpstr>
      <vt:lpstr>Wingdings</vt:lpstr>
      <vt:lpstr>Wingdings 3</vt:lpstr>
      <vt:lpstr>Slice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Cloud solution for AWSomeTrips</dc:title>
  <dc:creator>vinod.k</dc:creator>
  <cp:lastModifiedBy>Kumar Kumar</cp:lastModifiedBy>
  <cp:revision>609</cp:revision>
  <dcterms:created xsi:type="dcterms:W3CDTF">2018-04-05T06:53:35Z</dcterms:created>
  <dcterms:modified xsi:type="dcterms:W3CDTF">2025-11-30T12:41:16Z</dcterms:modified>
</cp:coreProperties>
</file>