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theme/themeOverride3.xml" ContentType="application/vnd.openxmlformats-officedocument.themeOverride+xml"/>
  <Override PartName="/ppt/notesSlides/notesSlide5.xml" ContentType="application/vnd.openxmlformats-officedocument.presentationml.notesSlide+xml"/>
  <Override PartName="/ppt/theme/themeOverride4.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256" r:id="rId2"/>
    <p:sldId id="367" r:id="rId3"/>
    <p:sldId id="320" r:id="rId4"/>
    <p:sldId id="341" r:id="rId5"/>
    <p:sldId id="322" r:id="rId6"/>
    <p:sldId id="321" r:id="rId7"/>
    <p:sldId id="317" r:id="rId8"/>
    <p:sldId id="319" r:id="rId9"/>
    <p:sldId id="353" r:id="rId10"/>
    <p:sldId id="348" r:id="rId11"/>
    <p:sldId id="343" r:id="rId12"/>
    <p:sldId id="345" r:id="rId13"/>
    <p:sldId id="349" r:id="rId14"/>
    <p:sldId id="340" r:id="rId15"/>
    <p:sldId id="346" r:id="rId16"/>
    <p:sldId id="347" r:id="rId17"/>
    <p:sldId id="352" r:id="rId18"/>
    <p:sldId id="366" r:id="rId19"/>
    <p:sldId id="351" r:id="rId20"/>
    <p:sldId id="334" r:id="rId21"/>
    <p:sldId id="335" r:id="rId22"/>
    <p:sldId id="336" r:id="rId23"/>
    <p:sldId id="308" r:id="rId24"/>
    <p:sldId id="278" r:id="rId25"/>
    <p:sldId id="27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0072" autoAdjust="0"/>
  </p:normalViewPr>
  <p:slideViewPr>
    <p:cSldViewPr snapToGrid="0">
      <p:cViewPr varScale="1">
        <p:scale>
          <a:sx n="48" d="100"/>
          <a:sy n="48" d="100"/>
        </p:scale>
        <p:origin x="1364" y="40"/>
      </p:cViewPr>
      <p:guideLst>
        <p:guide orient="horz" pos="2160"/>
        <p:guide pos="3840"/>
      </p:guideLst>
    </p:cSldViewPr>
  </p:slideViewPr>
  <p:notesTextViewPr>
    <p:cViewPr>
      <p:scale>
        <a:sx n="1" d="1"/>
        <a:sy n="1" d="1"/>
      </p:scale>
      <p:origin x="0" y="0"/>
    </p:cViewPr>
  </p:notesTextViewPr>
  <p:sorterViewPr>
    <p:cViewPr>
      <p:scale>
        <a:sx n="100" d="100"/>
        <a:sy n="100" d="100"/>
      </p:scale>
      <p:origin x="0" y="-23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033EC-38BF-4AD4-9467-7D2380108C19}" type="datetimeFigureOut">
              <a:rPr lang="en-US" smtClean="0"/>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9A354F-E8EA-4E4F-BEEB-F269B5F913B6}" type="slidenum">
              <a:rPr lang="en-US" smtClean="0"/>
              <a:t>‹#›</a:t>
            </a:fld>
            <a:endParaRPr lang="en-US"/>
          </a:p>
        </p:txBody>
      </p:sp>
    </p:spTree>
    <p:extLst>
      <p:ext uri="{BB962C8B-B14F-4D97-AF65-F5344CB8AC3E}">
        <p14:creationId xmlns:p14="http://schemas.microsoft.com/office/powerpoint/2010/main" val="1901645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1</a:t>
            </a:fld>
            <a:endParaRPr lang="en-US"/>
          </a:p>
        </p:txBody>
      </p:sp>
    </p:spTree>
    <p:extLst>
      <p:ext uri="{BB962C8B-B14F-4D97-AF65-F5344CB8AC3E}">
        <p14:creationId xmlns:p14="http://schemas.microsoft.com/office/powerpoint/2010/main" val="2057554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287FF-B726-2EF6-E490-BEFB19B95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6B320-52A7-4979-7483-00FFCA3F5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3F279-B822-A7CD-E357-EE2CEAA820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79422C-0186-ECBE-66FB-21BD028CFED3}"/>
              </a:ext>
            </a:extLst>
          </p:cNvPr>
          <p:cNvSpPr>
            <a:spLocks noGrp="1"/>
          </p:cNvSpPr>
          <p:nvPr>
            <p:ph type="sldNum" sz="quarter" idx="10"/>
          </p:nvPr>
        </p:nvSpPr>
        <p:spPr/>
        <p:txBody>
          <a:bodyPr/>
          <a:lstStyle/>
          <a:p>
            <a:fld id="{A79A354F-E8EA-4E4F-BEEB-F269B5F913B6}" type="slidenum">
              <a:rPr lang="en-US" smtClean="0"/>
              <a:t>2</a:t>
            </a:fld>
            <a:endParaRPr lang="en-US"/>
          </a:p>
        </p:txBody>
      </p:sp>
    </p:spTree>
    <p:extLst>
      <p:ext uri="{BB962C8B-B14F-4D97-AF65-F5344CB8AC3E}">
        <p14:creationId xmlns:p14="http://schemas.microsoft.com/office/powerpoint/2010/main" val="2370671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3</a:t>
            </a:fld>
            <a:endParaRPr lang="en-US"/>
          </a:p>
        </p:txBody>
      </p:sp>
    </p:spTree>
    <p:extLst>
      <p:ext uri="{BB962C8B-B14F-4D97-AF65-F5344CB8AC3E}">
        <p14:creationId xmlns:p14="http://schemas.microsoft.com/office/powerpoint/2010/main" val="2276495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4</a:t>
            </a:fld>
            <a:endParaRPr lang="en-US"/>
          </a:p>
        </p:txBody>
      </p:sp>
    </p:spTree>
    <p:extLst>
      <p:ext uri="{BB962C8B-B14F-4D97-AF65-F5344CB8AC3E}">
        <p14:creationId xmlns:p14="http://schemas.microsoft.com/office/powerpoint/2010/main" val="3083426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5</a:t>
            </a:fld>
            <a:endParaRPr lang="en-US"/>
          </a:p>
        </p:txBody>
      </p:sp>
    </p:spTree>
    <p:extLst>
      <p:ext uri="{BB962C8B-B14F-4D97-AF65-F5344CB8AC3E}">
        <p14:creationId xmlns:p14="http://schemas.microsoft.com/office/powerpoint/2010/main" val="479292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https://blog.gruntwork.io/why-we-use-terraform-and-not-chef-puppet-ansible-saltstack-or-cloudformation-7989dad2865c</a:t>
            </a:r>
          </a:p>
        </p:txBody>
      </p:sp>
      <p:sp>
        <p:nvSpPr>
          <p:cNvPr id="4" name="Slide Number Placeholder 3"/>
          <p:cNvSpPr>
            <a:spLocks noGrp="1"/>
          </p:cNvSpPr>
          <p:nvPr>
            <p:ph type="sldNum" sz="quarter" idx="10"/>
          </p:nvPr>
        </p:nvSpPr>
        <p:spPr/>
        <p:txBody>
          <a:bodyPr/>
          <a:lstStyle/>
          <a:p>
            <a:fld id="{A79A354F-E8EA-4E4F-BEEB-F269B5F913B6}" type="slidenum">
              <a:rPr lang="en-US" smtClean="0"/>
              <a:t>6</a:t>
            </a:fld>
            <a:endParaRPr lang="en-US"/>
          </a:p>
        </p:txBody>
      </p:sp>
    </p:spTree>
    <p:extLst>
      <p:ext uri="{BB962C8B-B14F-4D97-AF65-F5344CB8AC3E}">
        <p14:creationId xmlns:p14="http://schemas.microsoft.com/office/powerpoint/2010/main" val="3832824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sudo</a:t>
            </a:r>
            <a:r>
              <a:rPr lang="en-US" dirty="0"/>
              <a:t> </a:t>
            </a:r>
            <a:r>
              <a:rPr lang="en-US" dirty="0" err="1"/>
              <a:t>su</a:t>
            </a:r>
            <a:endParaRPr lang="en-US" dirty="0"/>
          </a:p>
          <a:p>
            <a:r>
              <a:rPr lang="en-US" dirty="0"/>
              <a:t>pip install </a:t>
            </a:r>
            <a:r>
              <a:rPr lang="en-US" dirty="0" err="1"/>
              <a:t>ansible</a:t>
            </a:r>
            <a:endParaRPr lang="en-US" dirty="0"/>
          </a:p>
          <a:p>
            <a:r>
              <a:rPr lang="en-US" dirty="0" err="1"/>
              <a:t>ansible</a:t>
            </a:r>
            <a:r>
              <a:rPr lang="en-US" dirty="0"/>
              <a:t> --version</a:t>
            </a:r>
          </a:p>
          <a:p>
            <a:r>
              <a:rPr lang="en-US" dirty="0" err="1"/>
              <a:t>mkdir</a:t>
            </a:r>
            <a:r>
              <a:rPr lang="en-US" dirty="0"/>
              <a:t> </a:t>
            </a:r>
            <a:r>
              <a:rPr lang="en-US" dirty="0" err="1"/>
              <a:t>ansible</a:t>
            </a:r>
            <a:endParaRPr lang="en-US" dirty="0"/>
          </a:p>
          <a:p>
            <a:r>
              <a:rPr lang="en-US" dirty="0"/>
              <a:t>cd </a:t>
            </a:r>
            <a:r>
              <a:rPr lang="en-US" dirty="0" err="1"/>
              <a:t>ansible</a:t>
            </a:r>
            <a:r>
              <a:rPr lang="en-US" dirty="0"/>
              <a:t>/</a:t>
            </a:r>
          </a:p>
          <a:p>
            <a:r>
              <a:rPr lang="en-US" dirty="0" err="1"/>
              <a:t>wget</a:t>
            </a:r>
            <a:r>
              <a:rPr lang="en-US" dirty="0"/>
              <a:t> https://raw.githubusercontent.com/ansible/ansible/devel/contrib/inventory/ec2.py</a:t>
            </a:r>
          </a:p>
          <a:p>
            <a:r>
              <a:rPr lang="en-US" dirty="0" err="1"/>
              <a:t>wget</a:t>
            </a:r>
            <a:r>
              <a:rPr lang="en-US" dirty="0"/>
              <a:t> https://raw.githubusercontent.com/ansible/ansible/devel/contrib/inventory/ec2.ini</a:t>
            </a:r>
          </a:p>
          <a:p>
            <a:endParaRPr lang="en-US" dirty="0"/>
          </a:p>
          <a:p>
            <a:r>
              <a:rPr lang="en-US" dirty="0"/>
              <a:t>vi ec2.py</a:t>
            </a:r>
          </a:p>
          <a:p>
            <a:r>
              <a:rPr lang="en-US" dirty="0"/>
              <a:t>export EC2_INI_PATH=./ec2.ini</a:t>
            </a:r>
          </a:p>
          <a:p>
            <a:endParaRPr lang="en-US" dirty="0"/>
          </a:p>
          <a:p>
            <a:r>
              <a:rPr lang="en-US" dirty="0" err="1"/>
              <a:t>chmod</a:t>
            </a:r>
            <a:r>
              <a:rPr lang="en-US" dirty="0"/>
              <a:t> +x ec2.py</a:t>
            </a:r>
          </a:p>
          <a:p>
            <a:r>
              <a:rPr lang="en-US" dirty="0"/>
              <a:t>#place your key and value in it</a:t>
            </a:r>
          </a:p>
          <a:p>
            <a:r>
              <a:rPr lang="en-US" dirty="0"/>
              <a:t>export AWS_ACCESS_KEY_ID='access-key'</a:t>
            </a:r>
          </a:p>
          <a:p>
            <a:r>
              <a:rPr lang="en-US" dirty="0"/>
              <a:t>export AWS_SECRET_ACCESS_KEY='secret-access-key'</a:t>
            </a:r>
          </a:p>
          <a:p>
            <a:endParaRPr lang="en-US" dirty="0"/>
          </a:p>
          <a:p>
            <a:r>
              <a:rPr lang="en-US" dirty="0"/>
              <a:t>./ec2.py --list</a:t>
            </a:r>
          </a:p>
          <a:p>
            <a:endParaRPr lang="en-US" dirty="0"/>
          </a:p>
          <a:p>
            <a:endParaRPr lang="en-US" dirty="0"/>
          </a:p>
          <a:p>
            <a:r>
              <a:rPr lang="en-US" dirty="0"/>
              <a:t>vi </a:t>
            </a:r>
            <a:r>
              <a:rPr lang="en-US" dirty="0" err="1"/>
              <a:t>site.yml</a:t>
            </a:r>
            <a:endParaRPr lang="en-US" dirty="0"/>
          </a:p>
          <a:p>
            <a:endParaRPr lang="en-US" dirty="0"/>
          </a:p>
          <a:p>
            <a:endParaRPr lang="en-US" dirty="0"/>
          </a:p>
          <a:p>
            <a:r>
              <a:rPr lang="en-US" dirty="0"/>
              <a:t>---</a:t>
            </a:r>
          </a:p>
          <a:p>
            <a:r>
              <a:rPr lang="en-US" dirty="0"/>
              <a:t>- name: Create a new Demo EC2 instance</a:t>
            </a:r>
          </a:p>
          <a:p>
            <a:r>
              <a:rPr lang="en-US" dirty="0"/>
              <a:t>  hosts: </a:t>
            </a:r>
            <a:r>
              <a:rPr lang="en-US" dirty="0" err="1"/>
              <a:t>localhost</a:t>
            </a:r>
            <a:endParaRPr lang="en-US" dirty="0"/>
          </a:p>
          <a:p>
            <a:r>
              <a:rPr lang="en-US" dirty="0"/>
              <a:t>  </a:t>
            </a:r>
            <a:r>
              <a:rPr lang="en-US" dirty="0" err="1"/>
              <a:t>gather_facts</a:t>
            </a:r>
            <a:r>
              <a:rPr lang="en-US" dirty="0"/>
              <a:t>: False</a:t>
            </a:r>
          </a:p>
          <a:p>
            <a:endParaRPr lang="en-US" dirty="0"/>
          </a:p>
          <a:p>
            <a:r>
              <a:rPr lang="en-US" dirty="0"/>
              <a:t>  </a:t>
            </a:r>
            <a:r>
              <a:rPr lang="en-US" dirty="0" err="1"/>
              <a:t>vars</a:t>
            </a:r>
            <a:r>
              <a:rPr lang="en-US" dirty="0"/>
              <a:t>:</a:t>
            </a:r>
          </a:p>
          <a:p>
            <a:r>
              <a:rPr lang="en-US" dirty="0"/>
              <a:t>    region: us-east-1</a:t>
            </a:r>
          </a:p>
          <a:p>
            <a:r>
              <a:rPr lang="en-US" dirty="0"/>
              <a:t>    </a:t>
            </a:r>
            <a:r>
              <a:rPr lang="en-US" dirty="0" err="1"/>
              <a:t>instance_type</a:t>
            </a:r>
            <a:r>
              <a:rPr lang="en-US" dirty="0"/>
              <a:t>: t2.micro</a:t>
            </a:r>
          </a:p>
          <a:p>
            <a:r>
              <a:rPr lang="en-US" dirty="0"/>
              <a:t>    </a:t>
            </a:r>
            <a:r>
              <a:rPr lang="en-US" dirty="0" err="1"/>
              <a:t>ami</a:t>
            </a:r>
            <a:r>
              <a:rPr lang="en-US" dirty="0"/>
              <a:t>: ami-14c5486b</a:t>
            </a:r>
          </a:p>
          <a:p>
            <a:r>
              <a:rPr lang="en-US" dirty="0"/>
              <a:t>    </a:t>
            </a:r>
            <a:r>
              <a:rPr lang="en-US" dirty="0" err="1"/>
              <a:t>keypair</a:t>
            </a:r>
            <a:r>
              <a:rPr lang="en-US" dirty="0"/>
              <a:t>: </a:t>
            </a:r>
            <a:r>
              <a:rPr lang="en-US" dirty="0" err="1"/>
              <a:t>MyKey</a:t>
            </a:r>
            <a:r>
              <a:rPr lang="en-US" dirty="0"/>
              <a:t> # </a:t>
            </a:r>
            <a:r>
              <a:rPr lang="en-US" dirty="0" err="1"/>
              <a:t>pem</a:t>
            </a:r>
            <a:r>
              <a:rPr lang="en-US" dirty="0"/>
              <a:t> file name</a:t>
            </a:r>
          </a:p>
          <a:p>
            <a:endParaRPr lang="en-US" dirty="0"/>
          </a:p>
          <a:p>
            <a:r>
              <a:rPr lang="en-US" dirty="0"/>
              <a:t>  tasks:</a:t>
            </a:r>
          </a:p>
          <a:p>
            <a:r>
              <a:rPr lang="en-US" dirty="0"/>
              <a:t>    - name: Create an ec2 instance</a:t>
            </a:r>
          </a:p>
          <a:p>
            <a:r>
              <a:rPr lang="en-US" dirty="0"/>
              <a:t>      ec2:</a:t>
            </a:r>
          </a:p>
          <a:p>
            <a:r>
              <a:rPr lang="en-US" dirty="0"/>
              <a:t>         </a:t>
            </a:r>
            <a:r>
              <a:rPr lang="en-US" dirty="0" err="1"/>
              <a:t>key_name</a:t>
            </a:r>
            <a:r>
              <a:rPr lang="en-US" dirty="0"/>
              <a:t>: "{{ </a:t>
            </a:r>
            <a:r>
              <a:rPr lang="en-US" dirty="0" err="1"/>
              <a:t>keypair</a:t>
            </a:r>
            <a:r>
              <a:rPr lang="en-US" dirty="0"/>
              <a:t> }}"</a:t>
            </a:r>
          </a:p>
          <a:p>
            <a:r>
              <a:rPr lang="en-US" dirty="0"/>
              <a:t>         </a:t>
            </a:r>
            <a:r>
              <a:rPr lang="en-US" dirty="0" err="1"/>
              <a:t>group_id</a:t>
            </a:r>
            <a:r>
              <a:rPr lang="en-US" dirty="0"/>
              <a:t>: "sg-69337e21" # security group name</a:t>
            </a:r>
          </a:p>
          <a:p>
            <a:r>
              <a:rPr lang="en-US" dirty="0"/>
              <a:t>         </a:t>
            </a:r>
            <a:r>
              <a:rPr lang="en-US" dirty="0" err="1"/>
              <a:t>instance_type</a:t>
            </a:r>
            <a:r>
              <a:rPr lang="en-US" dirty="0"/>
              <a:t>: "{{ </a:t>
            </a:r>
            <a:r>
              <a:rPr lang="en-US" dirty="0" err="1"/>
              <a:t>instance_type</a:t>
            </a:r>
            <a:r>
              <a:rPr lang="en-US" dirty="0"/>
              <a:t>}}"</a:t>
            </a:r>
          </a:p>
          <a:p>
            <a:r>
              <a:rPr lang="en-US" dirty="0"/>
              <a:t>         image: "{{ </a:t>
            </a:r>
            <a:r>
              <a:rPr lang="en-US" dirty="0" err="1"/>
              <a:t>ami</a:t>
            </a:r>
            <a:r>
              <a:rPr lang="en-US" dirty="0"/>
              <a:t> }}"</a:t>
            </a:r>
          </a:p>
          <a:p>
            <a:r>
              <a:rPr lang="en-US" dirty="0"/>
              <a:t>         region: "{{ region }}"</a:t>
            </a:r>
          </a:p>
          <a:p>
            <a:r>
              <a:rPr lang="en-US" dirty="0"/>
              <a:t>         wait: true</a:t>
            </a:r>
          </a:p>
          <a:p>
            <a:r>
              <a:rPr lang="en-US" dirty="0"/>
              <a:t>         count: 1  # default</a:t>
            </a:r>
          </a:p>
          <a:p>
            <a:r>
              <a:rPr lang="en-US" dirty="0"/>
              <a:t>         </a:t>
            </a:r>
            <a:r>
              <a:rPr lang="en-US" dirty="0" err="1"/>
              <a:t>count_tag</a:t>
            </a:r>
            <a:r>
              <a:rPr lang="en-US" dirty="0"/>
              <a:t>:</a:t>
            </a:r>
          </a:p>
          <a:p>
            <a:r>
              <a:rPr lang="en-US" dirty="0"/>
              <a:t>            Name: </a:t>
            </a:r>
            <a:r>
              <a:rPr lang="en-US" dirty="0" err="1"/>
              <a:t>Ansible</a:t>
            </a:r>
            <a:endParaRPr lang="en-US" dirty="0"/>
          </a:p>
          <a:p>
            <a:r>
              <a:rPr lang="en-US" dirty="0"/>
              <a:t>         </a:t>
            </a:r>
            <a:r>
              <a:rPr lang="en-US" dirty="0" err="1"/>
              <a:t>instance_tags</a:t>
            </a:r>
            <a:r>
              <a:rPr lang="en-US" dirty="0"/>
              <a:t>:</a:t>
            </a:r>
          </a:p>
          <a:p>
            <a:r>
              <a:rPr lang="en-US" dirty="0"/>
              <a:t>            Name: </a:t>
            </a:r>
            <a:r>
              <a:rPr lang="en-US" dirty="0" err="1"/>
              <a:t>Ansible</a:t>
            </a:r>
            <a:endParaRPr lang="en-US" dirty="0"/>
          </a:p>
          <a:p>
            <a:r>
              <a:rPr lang="en-US" dirty="0"/>
              <a:t>         </a:t>
            </a:r>
            <a:r>
              <a:rPr lang="en-US" dirty="0" err="1"/>
              <a:t>vpc_subnet_id</a:t>
            </a:r>
            <a:r>
              <a:rPr lang="en-US" dirty="0"/>
              <a:t>: subnet-3525e77e</a:t>
            </a:r>
          </a:p>
          <a:p>
            <a:r>
              <a:rPr lang="en-US" dirty="0"/>
              <a:t>         </a:t>
            </a:r>
            <a:r>
              <a:rPr lang="en-US" dirty="0" err="1"/>
              <a:t>assign_public_ip</a:t>
            </a:r>
            <a:r>
              <a:rPr lang="en-US" dirty="0"/>
              <a:t>: yes</a:t>
            </a:r>
          </a:p>
          <a:p>
            <a:r>
              <a:rPr lang="en-US" dirty="0"/>
              <a:t>      register: ec2</a:t>
            </a:r>
          </a:p>
          <a:p>
            <a:endParaRPr lang="en-US" dirty="0"/>
          </a:p>
          <a:p>
            <a:endParaRPr lang="en-US" dirty="0"/>
          </a:p>
          <a:p>
            <a:endParaRPr lang="en-US" dirty="0"/>
          </a:p>
          <a:p>
            <a:r>
              <a:rPr lang="en-US" dirty="0"/>
              <a:t>.</a:t>
            </a:r>
          </a:p>
          <a:p>
            <a:r>
              <a:rPr lang="en-US" dirty="0"/>
              <a:t>├── ec2.ini</a:t>
            </a:r>
          </a:p>
          <a:p>
            <a:r>
              <a:rPr lang="en-US" dirty="0"/>
              <a:t>├── ec2.py</a:t>
            </a:r>
          </a:p>
          <a:p>
            <a:r>
              <a:rPr lang="en-US" dirty="0"/>
              <a:t>└── </a:t>
            </a:r>
            <a:r>
              <a:rPr lang="en-US" dirty="0" err="1"/>
              <a:t>site.yml</a:t>
            </a:r>
            <a:r>
              <a:rPr lang="en-US" dirty="0"/>
              <a:t>	  </a:t>
            </a:r>
          </a:p>
          <a:p>
            <a:r>
              <a:rPr lang="en-US" dirty="0"/>
              <a:t>	  </a:t>
            </a:r>
          </a:p>
          <a:p>
            <a:r>
              <a:rPr lang="en-US" dirty="0" err="1"/>
              <a:t>ansible</a:t>
            </a:r>
            <a:r>
              <a:rPr lang="en-US" dirty="0"/>
              <a:t>-playbook -</a:t>
            </a:r>
            <a:r>
              <a:rPr lang="en-US" dirty="0" err="1"/>
              <a:t>i</a:t>
            </a:r>
            <a:r>
              <a:rPr lang="en-US" dirty="0"/>
              <a:t> ec2.py </a:t>
            </a:r>
            <a:r>
              <a:rPr lang="en-US" dirty="0" err="1"/>
              <a:t>site.yml</a:t>
            </a:r>
            <a:r>
              <a:rPr lang="en-US" dirty="0"/>
              <a:t> -</a:t>
            </a:r>
            <a:r>
              <a:rPr lang="en-US" dirty="0" err="1"/>
              <a:t>vvv</a:t>
            </a:r>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19</a:t>
            </a:fld>
            <a:endParaRPr lang="en-US"/>
          </a:p>
        </p:txBody>
      </p:sp>
    </p:spTree>
    <p:extLst>
      <p:ext uri="{BB962C8B-B14F-4D97-AF65-F5344CB8AC3E}">
        <p14:creationId xmlns:p14="http://schemas.microsoft.com/office/powerpoint/2010/main" val="3705673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a:t>
            </a:r>
          </a:p>
          <a:p>
            <a:r>
              <a:rPr lang="en-US" dirty="0"/>
              <a:t>Access key</a:t>
            </a:r>
          </a:p>
          <a:p>
            <a:r>
              <a:rPr lang="en-US" dirty="0"/>
              <a:t>Secret key</a:t>
            </a:r>
          </a:p>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20</a:t>
            </a:fld>
            <a:endParaRPr lang="en-US"/>
          </a:p>
        </p:txBody>
      </p:sp>
    </p:spTree>
    <p:extLst>
      <p:ext uri="{BB962C8B-B14F-4D97-AF65-F5344CB8AC3E}">
        <p14:creationId xmlns:p14="http://schemas.microsoft.com/office/powerpoint/2010/main" val="752818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VPC</a:t>
            </a:r>
          </a:p>
        </p:txBody>
      </p:sp>
      <p:sp>
        <p:nvSpPr>
          <p:cNvPr id="4" name="Slide Number Placeholder 3"/>
          <p:cNvSpPr>
            <a:spLocks noGrp="1"/>
          </p:cNvSpPr>
          <p:nvPr>
            <p:ph type="sldNum" sz="quarter" idx="10"/>
          </p:nvPr>
        </p:nvSpPr>
        <p:spPr/>
        <p:txBody>
          <a:bodyPr/>
          <a:lstStyle/>
          <a:p>
            <a:fld id="{A79A354F-E8EA-4E4F-BEEB-F269B5F913B6}" type="slidenum">
              <a:rPr lang="en-US" smtClean="0"/>
              <a:t>21</a:t>
            </a:fld>
            <a:endParaRPr lang="en-US"/>
          </a:p>
        </p:txBody>
      </p:sp>
    </p:spTree>
    <p:extLst>
      <p:ext uri="{BB962C8B-B14F-4D97-AF65-F5344CB8AC3E}">
        <p14:creationId xmlns:p14="http://schemas.microsoft.com/office/powerpoint/2010/main" val="4038508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VPC</a:t>
            </a:r>
          </a:p>
          <a:p>
            <a:r>
              <a:rPr lang="en-US" dirty="0"/>
              <a:t>With</a:t>
            </a:r>
            <a:r>
              <a:rPr lang="en-US" baseline="0" dirty="0"/>
              <a:t> high </a:t>
            </a:r>
            <a:r>
              <a:rPr lang="en-US" baseline="0" dirty="0" err="1"/>
              <a:t>avaibility</a:t>
            </a:r>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22</a:t>
            </a:fld>
            <a:endParaRPr lang="en-US"/>
          </a:p>
        </p:txBody>
      </p:sp>
    </p:spTree>
    <p:extLst>
      <p:ext uri="{BB962C8B-B14F-4D97-AF65-F5344CB8AC3E}">
        <p14:creationId xmlns:p14="http://schemas.microsoft.com/office/powerpoint/2010/main" val="3277029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23</a:t>
            </a:fld>
            <a:endParaRPr lang="en-US"/>
          </a:p>
        </p:txBody>
      </p:sp>
    </p:spTree>
    <p:extLst>
      <p:ext uri="{BB962C8B-B14F-4D97-AF65-F5344CB8AC3E}">
        <p14:creationId xmlns:p14="http://schemas.microsoft.com/office/powerpoint/2010/main" val="2025515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25</a:t>
            </a:fld>
            <a:endParaRPr lang="en-US"/>
          </a:p>
        </p:txBody>
      </p:sp>
    </p:spTree>
    <p:extLst>
      <p:ext uri="{BB962C8B-B14F-4D97-AF65-F5344CB8AC3E}">
        <p14:creationId xmlns:p14="http://schemas.microsoft.com/office/powerpoint/2010/main" val="715260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11/8/2025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2.xml"/><Relationship Id="rId5"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3.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4.xml"/><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11.gif"/><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8.wmf"/><Relationship Id="rId7"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41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727F024-C7DD-28ED-3C5E-7221C5A8C82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F28A05-019A-2ECC-0409-6DAF9D9DC89E}"/>
              </a:ext>
            </a:extLst>
          </p:cNvPr>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tretch>
            <a:fillRect/>
          </a:stretch>
        </p:blipFill>
        <p:spPr>
          <a:xfrm>
            <a:off x="684209" y="1484008"/>
            <a:ext cx="11403464" cy="5284928"/>
          </a:xfrm>
          <a:prstGeom prst="rect">
            <a:avLst/>
          </a:prstGeom>
          <a:ln>
            <a:noFill/>
          </a:ln>
          <a:effectLst>
            <a:softEdge rad="112500"/>
          </a:effectLst>
        </p:spPr>
      </p:pic>
      <p:sp>
        <p:nvSpPr>
          <p:cNvPr id="6" name="Title 1">
            <a:extLst>
              <a:ext uri="{FF2B5EF4-FFF2-40B4-BE49-F238E27FC236}">
                <a16:creationId xmlns:a16="http://schemas.microsoft.com/office/drawing/2014/main" id="{57B3AA55-48B4-CA04-C606-9F8FA488B47E}"/>
              </a:ext>
            </a:extLst>
          </p:cNvPr>
          <p:cNvSpPr txBox="1">
            <a:spLocks/>
          </p:cNvSpPr>
          <p:nvPr/>
        </p:nvSpPr>
        <p:spPr>
          <a:xfrm>
            <a:off x="684211" y="685800"/>
            <a:ext cx="11507789" cy="717998"/>
          </a:xfrm>
          <a:prstGeom prst="rect">
            <a:avLst/>
          </a:prstGeo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lnSpcReduction="10000"/>
          </a:bodyPr>
          <a:lstStyle>
            <a:lvl1pPr>
              <a:spcBef>
                <a:spcPct val="0"/>
              </a:spcBef>
              <a:buNone/>
              <a:defRPr sz="4800" cap="all">
                <a:ln w="3175" cmpd="sng">
                  <a:noFill/>
                </a:ln>
                <a:solidFill>
                  <a:schemeClr val="tx1"/>
                </a:solidFill>
                <a:effectLst/>
              </a:defRPr>
            </a:lvl1pPr>
          </a:lstStyle>
          <a:p>
            <a:r>
              <a:rPr lang="en-US" dirty="0"/>
              <a:t>Ansible</a:t>
            </a:r>
          </a:p>
        </p:txBody>
      </p:sp>
      <p:pic>
        <p:nvPicPr>
          <p:cNvPr id="8" name="Picture 7">
            <a:extLst>
              <a:ext uri="{FF2B5EF4-FFF2-40B4-BE49-F238E27FC236}">
                <a16:creationId xmlns:a16="http://schemas.microsoft.com/office/drawing/2014/main" id="{F28C1DB8-2404-92B5-9443-ABB9E1A1DA57}"/>
              </a:ext>
            </a:extLst>
          </p:cNvPr>
          <p:cNvPicPr>
            <a:picLocks noChangeAspect="1"/>
          </p:cNvPicPr>
          <p:nvPr/>
        </p:nvPicPr>
        <p:blipFill>
          <a:blip r:embed="rId5"/>
          <a:stretch>
            <a:fillRect/>
          </a:stretch>
        </p:blipFill>
        <p:spPr>
          <a:xfrm>
            <a:off x="11101137" y="26683"/>
            <a:ext cx="1062728" cy="659117"/>
          </a:xfrm>
          <a:prstGeom prst="rect">
            <a:avLst/>
          </a:prstGeom>
        </p:spPr>
      </p:pic>
      <p:sp>
        <p:nvSpPr>
          <p:cNvPr id="4" name="TextBox 3">
            <a:extLst>
              <a:ext uri="{FF2B5EF4-FFF2-40B4-BE49-F238E27FC236}">
                <a16:creationId xmlns:a16="http://schemas.microsoft.com/office/drawing/2014/main" id="{7B2C1A33-DFCC-5C3D-B410-BA6CD3E499BE}"/>
              </a:ext>
            </a:extLst>
          </p:cNvPr>
          <p:cNvSpPr txBox="1"/>
          <p:nvPr/>
        </p:nvSpPr>
        <p:spPr>
          <a:xfrm rot="20376568">
            <a:off x="2036722" y="1944218"/>
            <a:ext cx="481263" cy="2308324"/>
          </a:xfrm>
          <a:prstGeom prst="rect">
            <a:avLst/>
          </a:prstGeom>
          <a:noFill/>
        </p:spPr>
        <p:txBody>
          <a:bodyPr wrap="square" rtlCol="0">
            <a:spAutoFit/>
          </a:bodyPr>
          <a:lstStyle/>
          <a:p>
            <a:r>
              <a:rPr lang="en-US" dirty="0"/>
              <a:t>B</a:t>
            </a:r>
          </a:p>
          <a:p>
            <a:r>
              <a:rPr lang="en-US" dirty="0"/>
              <a:t>Y</a:t>
            </a:r>
          </a:p>
          <a:p>
            <a:endParaRPr lang="en-US" dirty="0"/>
          </a:p>
          <a:p>
            <a:r>
              <a:rPr lang="en-US" dirty="0"/>
              <a:t>K</a:t>
            </a:r>
          </a:p>
          <a:p>
            <a:r>
              <a:rPr lang="en-US" dirty="0"/>
              <a:t>U</a:t>
            </a:r>
          </a:p>
          <a:p>
            <a:r>
              <a:rPr lang="en-US" dirty="0"/>
              <a:t>M</a:t>
            </a:r>
          </a:p>
          <a:p>
            <a:r>
              <a:rPr lang="en-US" dirty="0"/>
              <a:t>A</a:t>
            </a:r>
          </a:p>
          <a:p>
            <a:r>
              <a:rPr lang="en-US" dirty="0"/>
              <a:t>R</a:t>
            </a:r>
          </a:p>
        </p:txBody>
      </p:sp>
      <p:sp>
        <p:nvSpPr>
          <p:cNvPr id="7" name="TextBox 6">
            <a:extLst>
              <a:ext uri="{FF2B5EF4-FFF2-40B4-BE49-F238E27FC236}">
                <a16:creationId xmlns:a16="http://schemas.microsoft.com/office/drawing/2014/main" id="{D8336CAD-E7BF-329A-BDA9-51A04AAAEF60}"/>
              </a:ext>
            </a:extLst>
          </p:cNvPr>
          <p:cNvSpPr txBox="1"/>
          <p:nvPr/>
        </p:nvSpPr>
        <p:spPr>
          <a:xfrm rot="1105580">
            <a:off x="10674052" y="1801261"/>
            <a:ext cx="481263" cy="2308324"/>
          </a:xfrm>
          <a:prstGeom prst="rect">
            <a:avLst/>
          </a:prstGeom>
          <a:noFill/>
        </p:spPr>
        <p:txBody>
          <a:bodyPr wrap="square" rtlCol="0">
            <a:spAutoFit/>
          </a:bodyPr>
          <a:lstStyle/>
          <a:p>
            <a:r>
              <a:rPr lang="en-US" dirty="0"/>
              <a:t>B</a:t>
            </a:r>
          </a:p>
          <a:p>
            <a:r>
              <a:rPr lang="en-US" dirty="0"/>
              <a:t>Y</a:t>
            </a:r>
          </a:p>
          <a:p>
            <a:endParaRPr lang="en-US" dirty="0"/>
          </a:p>
          <a:p>
            <a:r>
              <a:rPr lang="en-US" dirty="0"/>
              <a:t>K</a:t>
            </a:r>
          </a:p>
          <a:p>
            <a:r>
              <a:rPr lang="en-US" dirty="0"/>
              <a:t>U</a:t>
            </a:r>
          </a:p>
          <a:p>
            <a:r>
              <a:rPr lang="en-US" dirty="0"/>
              <a:t>M</a:t>
            </a:r>
          </a:p>
          <a:p>
            <a:r>
              <a:rPr lang="en-US" dirty="0"/>
              <a:t>A</a:t>
            </a:r>
          </a:p>
          <a:p>
            <a:r>
              <a:rPr lang="en-US" dirty="0"/>
              <a:t>R</a:t>
            </a:r>
          </a:p>
        </p:txBody>
      </p:sp>
    </p:spTree>
    <p:extLst>
      <p:ext uri="{BB962C8B-B14F-4D97-AF65-F5344CB8AC3E}">
        <p14:creationId xmlns:p14="http://schemas.microsoft.com/office/powerpoint/2010/main" val="705875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What is Ansible?</a:t>
            </a:r>
          </a:p>
        </p:txBody>
      </p:sp>
      <p:sp>
        <p:nvSpPr>
          <p:cNvPr id="3" name="Subtitle 2"/>
          <p:cNvSpPr>
            <a:spLocks noGrp="1"/>
          </p:cNvSpPr>
          <p:nvPr>
            <p:ph type="subTitle" idx="1"/>
          </p:nvPr>
        </p:nvSpPr>
        <p:spPr>
          <a:xfrm>
            <a:off x="684212" y="1622738"/>
            <a:ext cx="10958288" cy="1377135"/>
          </a:xfrm>
        </p:spPr>
        <p:txBody>
          <a:bodyPr>
            <a:normAutofit/>
          </a:bodyPr>
          <a:lstStyle/>
          <a:p>
            <a:pPr>
              <a:buClr>
                <a:schemeClr val="bg1"/>
              </a:buClr>
            </a:pPr>
            <a:r>
              <a:rPr lang="en-US" dirty="0">
                <a:solidFill>
                  <a:schemeClr val="bg1"/>
                </a:solidFill>
              </a:rPr>
              <a:t>Ansible is designed around the way people work and the way people work together.</a:t>
            </a:r>
          </a:p>
        </p:txBody>
      </p:sp>
      <p:pic>
        <p:nvPicPr>
          <p:cNvPr id="4" name="Picture 3"/>
          <p:cNvPicPr>
            <a:picLocks noChangeAspect="1"/>
          </p:cNvPicPr>
          <p:nvPr/>
        </p:nvPicPr>
        <p:blipFill>
          <a:blip r:embed="rId4"/>
          <a:stretch>
            <a:fillRect/>
          </a:stretch>
        </p:blipFill>
        <p:spPr>
          <a:xfrm>
            <a:off x="684211" y="2582779"/>
            <a:ext cx="11353800" cy="3810000"/>
          </a:xfrm>
          <a:prstGeom prst="rect">
            <a:avLst/>
          </a:prstGeom>
        </p:spPr>
      </p:pic>
      <p:pic>
        <p:nvPicPr>
          <p:cNvPr id="7" name="Picture 6"/>
          <p:cNvPicPr>
            <a:picLocks noChangeAspect="1"/>
          </p:cNvPicPr>
          <p:nvPr/>
        </p:nvPicPr>
        <p:blipFill>
          <a:blip r:embed="rId5"/>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3631506837"/>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What is Ansible?</a:t>
            </a:r>
          </a:p>
        </p:txBody>
      </p:sp>
      <p:pic>
        <p:nvPicPr>
          <p:cNvPr id="7" name="Picture 6"/>
          <p:cNvPicPr>
            <a:picLocks noChangeAspect="1"/>
          </p:cNvPicPr>
          <p:nvPr/>
        </p:nvPicPr>
        <p:blipFill>
          <a:blip r:embed="rId4"/>
          <a:stretch>
            <a:fillRect/>
          </a:stretch>
        </p:blipFill>
        <p:spPr>
          <a:xfrm>
            <a:off x="684211" y="1621505"/>
            <a:ext cx="11287125" cy="4426369"/>
          </a:xfrm>
          <a:prstGeom prst="rect">
            <a:avLst/>
          </a:prstGeom>
        </p:spPr>
      </p:pic>
      <p:pic>
        <p:nvPicPr>
          <p:cNvPr id="8" name="Picture 7"/>
          <p:cNvPicPr>
            <a:picLocks noChangeAspect="1"/>
          </p:cNvPicPr>
          <p:nvPr/>
        </p:nvPicPr>
        <p:blipFill>
          <a:blip r:embed="rId5"/>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2593646130"/>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Why Ansible?</a:t>
            </a:r>
          </a:p>
        </p:txBody>
      </p:sp>
      <p:sp>
        <p:nvSpPr>
          <p:cNvPr id="7" name="Rectangle 6"/>
          <p:cNvSpPr/>
          <p:nvPr/>
        </p:nvSpPr>
        <p:spPr>
          <a:xfrm>
            <a:off x="684210" y="1705889"/>
            <a:ext cx="11443619" cy="1061829"/>
          </a:xfrm>
          <a:prstGeom prst="rect">
            <a:avLst/>
          </a:prstGeom>
        </p:spPr>
        <p:txBody>
          <a:bodyPr wrap="square">
            <a:spAutoFit/>
          </a:bodyPr>
          <a:lstStyle/>
          <a:p>
            <a:r>
              <a:rPr lang="en-US" sz="2100" dirty="0">
                <a:solidFill>
                  <a:schemeClr val="bg1"/>
                </a:solidFill>
              </a:rPr>
              <a:t>Working in IT, you're likely doing the same tasks over and over. What if you could solve problems once and then automate your solutions going forward? Ansible is here to help.</a:t>
            </a:r>
          </a:p>
        </p:txBody>
      </p:sp>
      <p:pic>
        <p:nvPicPr>
          <p:cNvPr id="8" name="Picture 7"/>
          <p:cNvPicPr>
            <a:picLocks noChangeAspect="1"/>
          </p:cNvPicPr>
          <p:nvPr/>
        </p:nvPicPr>
        <p:blipFill>
          <a:blip r:embed="rId4"/>
          <a:stretch>
            <a:fillRect/>
          </a:stretch>
        </p:blipFill>
        <p:spPr>
          <a:xfrm>
            <a:off x="11101137" y="26683"/>
            <a:ext cx="1062728" cy="659117"/>
          </a:xfrm>
          <a:prstGeom prst="rect">
            <a:avLst/>
          </a:prstGeom>
        </p:spPr>
      </p:pic>
      <p:pic>
        <p:nvPicPr>
          <p:cNvPr id="3" name="Picture 2">
            <a:extLst>
              <a:ext uri="{FF2B5EF4-FFF2-40B4-BE49-F238E27FC236}">
                <a16:creationId xmlns:a16="http://schemas.microsoft.com/office/drawing/2014/main" id="{229C2C79-7794-4F5B-87FD-7702C0F4E4CB}"/>
              </a:ext>
            </a:extLst>
          </p:cNvPr>
          <p:cNvPicPr>
            <a:picLocks noChangeAspect="1"/>
          </p:cNvPicPr>
          <p:nvPr/>
        </p:nvPicPr>
        <p:blipFill>
          <a:blip r:embed="rId5"/>
          <a:stretch>
            <a:fillRect/>
          </a:stretch>
        </p:blipFill>
        <p:spPr>
          <a:xfrm>
            <a:off x="684210" y="2954964"/>
            <a:ext cx="11479655" cy="3217236"/>
          </a:xfrm>
          <a:prstGeom prst="rect">
            <a:avLst/>
          </a:prstGeom>
        </p:spPr>
      </p:pic>
    </p:spTree>
    <p:extLst>
      <p:ext uri="{BB962C8B-B14F-4D97-AF65-F5344CB8AC3E}">
        <p14:creationId xmlns:p14="http://schemas.microsoft.com/office/powerpoint/2010/main" val="113854438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Ansible Vs Others</a:t>
            </a:r>
          </a:p>
        </p:txBody>
      </p:sp>
      <p:pic>
        <p:nvPicPr>
          <p:cNvPr id="5" name="Picture 4"/>
          <p:cNvPicPr>
            <a:picLocks noChangeAspect="1"/>
          </p:cNvPicPr>
          <p:nvPr/>
        </p:nvPicPr>
        <p:blipFill>
          <a:blip r:embed="rId4"/>
          <a:stretch>
            <a:fillRect/>
          </a:stretch>
        </p:blipFill>
        <p:spPr>
          <a:xfrm>
            <a:off x="11101137" y="26683"/>
            <a:ext cx="1062728" cy="659117"/>
          </a:xfrm>
          <a:prstGeom prst="rect">
            <a:avLst/>
          </a:prstGeom>
        </p:spPr>
      </p:pic>
      <p:pic>
        <p:nvPicPr>
          <p:cNvPr id="3" name="Picture 2">
            <a:extLst>
              <a:ext uri="{FF2B5EF4-FFF2-40B4-BE49-F238E27FC236}">
                <a16:creationId xmlns:a16="http://schemas.microsoft.com/office/drawing/2014/main" id="{8E0F2CCC-530C-46A5-A33A-DA6C25EF7A72}"/>
              </a:ext>
            </a:extLst>
          </p:cNvPr>
          <p:cNvPicPr>
            <a:picLocks noChangeAspect="1"/>
          </p:cNvPicPr>
          <p:nvPr/>
        </p:nvPicPr>
        <p:blipFill>
          <a:blip r:embed="rId5"/>
          <a:stretch>
            <a:fillRect/>
          </a:stretch>
        </p:blipFill>
        <p:spPr>
          <a:xfrm>
            <a:off x="684211" y="1524927"/>
            <a:ext cx="11439525" cy="4924425"/>
          </a:xfrm>
          <a:prstGeom prst="rect">
            <a:avLst/>
          </a:prstGeom>
        </p:spPr>
      </p:pic>
    </p:spTree>
    <p:extLst>
      <p:ext uri="{BB962C8B-B14F-4D97-AF65-F5344CB8AC3E}">
        <p14:creationId xmlns:p14="http://schemas.microsoft.com/office/powerpoint/2010/main" val="44993125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Ansible in XebiaLabs</a:t>
            </a: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6" name="Picture 5"/>
          <p:cNvPicPr>
            <a:picLocks noChangeAspect="1"/>
          </p:cNvPicPr>
          <p:nvPr/>
        </p:nvPicPr>
        <p:blipFill>
          <a:blip r:embed="rId2"/>
          <a:stretch>
            <a:fillRect/>
          </a:stretch>
        </p:blipFill>
        <p:spPr>
          <a:xfrm>
            <a:off x="11101137" y="26683"/>
            <a:ext cx="1062728" cy="659117"/>
          </a:xfrm>
          <a:prstGeom prst="rect">
            <a:avLst/>
          </a:prstGeom>
        </p:spPr>
      </p:pic>
      <p:pic>
        <p:nvPicPr>
          <p:cNvPr id="5" name="Picture 4"/>
          <p:cNvPicPr>
            <a:picLocks noChangeAspect="1"/>
          </p:cNvPicPr>
          <p:nvPr/>
        </p:nvPicPr>
        <p:blipFill>
          <a:blip r:embed="rId3"/>
          <a:stretch>
            <a:fillRect/>
          </a:stretch>
        </p:blipFill>
        <p:spPr>
          <a:xfrm>
            <a:off x="724340" y="1403798"/>
            <a:ext cx="11439525" cy="4495800"/>
          </a:xfrm>
          <a:prstGeom prst="rect">
            <a:avLst/>
          </a:prstGeom>
        </p:spPr>
      </p:pic>
    </p:spTree>
    <p:extLst>
      <p:ext uri="{BB962C8B-B14F-4D97-AF65-F5344CB8AC3E}">
        <p14:creationId xmlns:p14="http://schemas.microsoft.com/office/powerpoint/2010/main" val="2164578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Ansible Architecture</a:t>
            </a: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0" name=""/>
                      <p:cNvPicPr/>
                      <p:nvPr/>
                    </p:nvPicPr>
                    <p:blipFill>
                      <a:blip r:embed="rId3"/>
                      <a:stretch>
                        <a:fillRect/>
                      </a:stretch>
                    </p:blipFill>
                    <p:spPr>
                      <a:xfrm>
                        <a:off x="11377862" y="78623"/>
                        <a:ext cx="749968" cy="526968"/>
                      </a:xfrm>
                      <a:prstGeom prst="rect">
                        <a:avLst/>
                      </a:prstGeom>
                    </p:spPr>
                  </p:pic>
                </p:oleObj>
              </mc:Fallback>
            </mc:AlternateContent>
          </a:graphicData>
        </a:graphic>
      </p:graphicFrame>
      <p:pic>
        <p:nvPicPr>
          <p:cNvPr id="6" name="Picture 5"/>
          <p:cNvPicPr>
            <a:picLocks noChangeAspect="1"/>
          </p:cNvPicPr>
          <p:nvPr/>
        </p:nvPicPr>
        <p:blipFill>
          <a:blip r:embed="rId4"/>
          <a:stretch>
            <a:fillRect/>
          </a:stretch>
        </p:blipFill>
        <p:spPr>
          <a:xfrm>
            <a:off x="11101137" y="26683"/>
            <a:ext cx="1062728" cy="659117"/>
          </a:xfrm>
          <a:prstGeom prst="rect">
            <a:avLst/>
          </a:prstGeom>
        </p:spPr>
      </p:pic>
      <p:pic>
        <p:nvPicPr>
          <p:cNvPr id="8" name="Picture 7"/>
          <p:cNvPicPr>
            <a:picLocks noChangeAspect="1"/>
          </p:cNvPicPr>
          <p:nvPr/>
        </p:nvPicPr>
        <p:blipFill>
          <a:blip r:embed="rId5"/>
          <a:stretch>
            <a:fillRect/>
          </a:stretch>
        </p:blipFill>
        <p:spPr>
          <a:xfrm>
            <a:off x="2310063" y="1484007"/>
            <a:ext cx="7489407" cy="4768298"/>
          </a:xfrm>
          <a:prstGeom prst="rect">
            <a:avLst/>
          </a:prstGeom>
        </p:spPr>
      </p:pic>
    </p:spTree>
    <p:extLst>
      <p:ext uri="{BB962C8B-B14F-4D97-AF65-F5344CB8AC3E}">
        <p14:creationId xmlns:p14="http://schemas.microsoft.com/office/powerpoint/2010/main" val="662889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a:bodyPr>
          <a:lstStyle/>
          <a:p>
            <a:r>
              <a:rPr lang="en-US" sz="4000" dirty="0">
                <a:solidFill>
                  <a:schemeClr val="tx1"/>
                </a:solidFill>
              </a:rPr>
              <a:t>Ansible control Server and Inside</a:t>
            </a:r>
          </a:p>
        </p:txBody>
      </p:sp>
      <p:graphicFrame>
        <p:nvGraphicFramePr>
          <p:cNvPr id="7" name="Object 6"/>
          <p:cNvGraphicFramePr>
            <a:graphicFrameLocks noChangeAspect="1"/>
          </p:cNvGraphicFramePr>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7" name="Object 6"/>
                      <p:cNvPicPr/>
                      <p:nvPr/>
                    </p:nvPicPr>
                    <p:blipFill>
                      <a:blip r:embed="rId3"/>
                      <a:stretch>
                        <a:fillRect/>
                      </a:stretch>
                    </p:blipFill>
                    <p:spPr>
                      <a:xfrm>
                        <a:off x="11377862" y="78623"/>
                        <a:ext cx="749968" cy="526968"/>
                      </a:xfrm>
                      <a:prstGeom prst="rect">
                        <a:avLst/>
                      </a:prstGeom>
                    </p:spPr>
                  </p:pic>
                </p:oleObj>
              </mc:Fallback>
            </mc:AlternateContent>
          </a:graphicData>
        </a:graphic>
      </p:graphicFrame>
      <p:pic>
        <p:nvPicPr>
          <p:cNvPr id="6" name="Picture 5"/>
          <p:cNvPicPr>
            <a:picLocks noChangeAspect="1"/>
          </p:cNvPicPr>
          <p:nvPr/>
        </p:nvPicPr>
        <p:blipFill>
          <a:blip r:embed="rId4"/>
          <a:stretch>
            <a:fillRect/>
          </a:stretch>
        </p:blipFill>
        <p:spPr>
          <a:xfrm>
            <a:off x="11101137" y="26683"/>
            <a:ext cx="1062728" cy="659117"/>
          </a:xfrm>
          <a:prstGeom prst="rect">
            <a:avLst/>
          </a:prstGeom>
        </p:spPr>
      </p:pic>
      <p:sp>
        <p:nvSpPr>
          <p:cNvPr id="3" name="Rectangle 2">
            <a:extLst>
              <a:ext uri="{FF2B5EF4-FFF2-40B4-BE49-F238E27FC236}">
                <a16:creationId xmlns:a16="http://schemas.microsoft.com/office/drawing/2014/main" id="{613F7D3B-8A71-455D-B9DD-11655E975B91}"/>
              </a:ext>
            </a:extLst>
          </p:cNvPr>
          <p:cNvSpPr/>
          <p:nvPr/>
        </p:nvSpPr>
        <p:spPr>
          <a:xfrm>
            <a:off x="684210" y="1745673"/>
            <a:ext cx="8281659" cy="4619501"/>
          </a:xfrm>
          <a:prstGeom prst="rect">
            <a:avLst/>
          </a:prstGeom>
          <a:effectLst>
            <a:glow rad="228600">
              <a:schemeClr val="accent1">
                <a:satMod val="175000"/>
                <a:alpha val="40000"/>
              </a:schemeClr>
            </a:glow>
          </a:effectLst>
        </p:spPr>
        <p:style>
          <a:lnRef idx="2">
            <a:schemeClr val="accent3"/>
          </a:lnRef>
          <a:fillRef idx="1">
            <a:schemeClr val="lt1"/>
          </a:fillRef>
          <a:effectRef idx="0">
            <a:schemeClr val="accent3"/>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48CABCB5-F1F1-4976-A357-0F5F832E0C0C}"/>
              </a:ext>
            </a:extLst>
          </p:cNvPr>
          <p:cNvSpPr/>
          <p:nvPr/>
        </p:nvSpPr>
        <p:spPr>
          <a:xfrm>
            <a:off x="1567543" y="2056941"/>
            <a:ext cx="1793174" cy="9500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t>Module</a:t>
            </a:r>
          </a:p>
        </p:txBody>
      </p:sp>
      <p:sp>
        <p:nvSpPr>
          <p:cNvPr id="9" name="Rectangle: Rounded Corners 8">
            <a:extLst>
              <a:ext uri="{FF2B5EF4-FFF2-40B4-BE49-F238E27FC236}">
                <a16:creationId xmlns:a16="http://schemas.microsoft.com/office/drawing/2014/main" id="{5132A9DF-2F66-4F67-8E38-57B6846C55E4}"/>
              </a:ext>
            </a:extLst>
          </p:cNvPr>
          <p:cNvSpPr/>
          <p:nvPr/>
        </p:nvSpPr>
        <p:spPr>
          <a:xfrm>
            <a:off x="1567543" y="3429000"/>
            <a:ext cx="1793174" cy="95002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Playbook</a:t>
            </a:r>
          </a:p>
        </p:txBody>
      </p:sp>
      <p:sp>
        <p:nvSpPr>
          <p:cNvPr id="10" name="Rectangle: Rounded Corners 9">
            <a:extLst>
              <a:ext uri="{FF2B5EF4-FFF2-40B4-BE49-F238E27FC236}">
                <a16:creationId xmlns:a16="http://schemas.microsoft.com/office/drawing/2014/main" id="{399812F7-FBFD-4B2F-B286-DA7503C339FB}"/>
              </a:ext>
            </a:extLst>
          </p:cNvPr>
          <p:cNvSpPr/>
          <p:nvPr/>
        </p:nvSpPr>
        <p:spPr>
          <a:xfrm>
            <a:off x="1567543" y="4825837"/>
            <a:ext cx="1793174" cy="95002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Inventory</a:t>
            </a:r>
          </a:p>
        </p:txBody>
      </p:sp>
      <p:sp>
        <p:nvSpPr>
          <p:cNvPr id="5" name="Arrow: Down 4">
            <a:extLst>
              <a:ext uri="{FF2B5EF4-FFF2-40B4-BE49-F238E27FC236}">
                <a16:creationId xmlns:a16="http://schemas.microsoft.com/office/drawing/2014/main" id="{40613C22-9896-4E0B-A786-4CCA6AEA4BD9}"/>
              </a:ext>
            </a:extLst>
          </p:cNvPr>
          <p:cNvSpPr/>
          <p:nvPr/>
        </p:nvSpPr>
        <p:spPr>
          <a:xfrm>
            <a:off x="2327564" y="3006967"/>
            <a:ext cx="285007" cy="422033"/>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1" name="Arrow: Down 10">
            <a:extLst>
              <a:ext uri="{FF2B5EF4-FFF2-40B4-BE49-F238E27FC236}">
                <a16:creationId xmlns:a16="http://schemas.microsoft.com/office/drawing/2014/main" id="{50AC800C-D0FE-462D-AF42-303BDEC3F1D0}"/>
              </a:ext>
            </a:extLst>
          </p:cNvPr>
          <p:cNvSpPr/>
          <p:nvPr/>
        </p:nvSpPr>
        <p:spPr>
          <a:xfrm rot="10800000">
            <a:off x="2321626" y="4379026"/>
            <a:ext cx="285007" cy="422033"/>
          </a:xfrm>
          <a:prstGeom prst="downArrow">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dirty="0"/>
          </a:p>
        </p:txBody>
      </p:sp>
      <p:sp>
        <p:nvSpPr>
          <p:cNvPr id="12" name="Rectangle: Rounded Corners 11">
            <a:extLst>
              <a:ext uri="{FF2B5EF4-FFF2-40B4-BE49-F238E27FC236}">
                <a16:creationId xmlns:a16="http://schemas.microsoft.com/office/drawing/2014/main" id="{36B2E99D-3178-4CFE-AD18-6B08A3542468}"/>
              </a:ext>
            </a:extLst>
          </p:cNvPr>
          <p:cNvSpPr/>
          <p:nvPr/>
        </p:nvSpPr>
        <p:spPr>
          <a:xfrm>
            <a:off x="3785947" y="3429000"/>
            <a:ext cx="1793174" cy="950026"/>
          </a:xfrm>
          <a:prstGeom prst="roundRect">
            <a:avLst/>
          </a:prstGeom>
          <a:solidFill>
            <a:schemeClr val="accent6"/>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13" name="Heart 12">
            <a:extLst>
              <a:ext uri="{FF2B5EF4-FFF2-40B4-BE49-F238E27FC236}">
                <a16:creationId xmlns:a16="http://schemas.microsoft.com/office/drawing/2014/main" id="{EE54CF7B-B77C-4FE0-9F83-DED03AFEFB95}"/>
              </a:ext>
            </a:extLst>
          </p:cNvPr>
          <p:cNvSpPr/>
          <p:nvPr/>
        </p:nvSpPr>
        <p:spPr>
          <a:xfrm>
            <a:off x="3785947" y="3429000"/>
            <a:ext cx="1793174" cy="950026"/>
          </a:xfrm>
          <a:prstGeom prst="hear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Ansible Config</a:t>
            </a:r>
          </a:p>
        </p:txBody>
      </p:sp>
      <p:sp>
        <p:nvSpPr>
          <p:cNvPr id="14" name="Arrow: Down 13">
            <a:extLst>
              <a:ext uri="{FF2B5EF4-FFF2-40B4-BE49-F238E27FC236}">
                <a16:creationId xmlns:a16="http://schemas.microsoft.com/office/drawing/2014/main" id="{EBAA51B9-6EFA-4A56-A2F1-8198FCB6D8CA}"/>
              </a:ext>
            </a:extLst>
          </p:cNvPr>
          <p:cNvSpPr/>
          <p:nvPr/>
        </p:nvSpPr>
        <p:spPr>
          <a:xfrm rot="16200000">
            <a:off x="3429230" y="3692996"/>
            <a:ext cx="285007" cy="422033"/>
          </a:xfrm>
          <a:prstGeom prst="downArrow">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3FDEBE60-DD81-410B-B9ED-F29BB5258C42}"/>
              </a:ext>
            </a:extLst>
          </p:cNvPr>
          <p:cNvSpPr/>
          <p:nvPr/>
        </p:nvSpPr>
        <p:spPr>
          <a:xfrm>
            <a:off x="6010594" y="3006967"/>
            <a:ext cx="783772" cy="179409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P</a:t>
            </a:r>
          </a:p>
          <a:p>
            <a:pPr algn="ctr"/>
            <a:r>
              <a:rPr lang="en-IN" dirty="0"/>
              <a:t>Y</a:t>
            </a:r>
          </a:p>
          <a:p>
            <a:pPr algn="ctr"/>
            <a:r>
              <a:rPr lang="en-IN" dirty="0"/>
              <a:t>T</a:t>
            </a:r>
          </a:p>
          <a:p>
            <a:pPr algn="ctr"/>
            <a:r>
              <a:rPr lang="en-IN" dirty="0"/>
              <a:t>H</a:t>
            </a:r>
          </a:p>
          <a:p>
            <a:pPr algn="ctr"/>
            <a:r>
              <a:rPr lang="en-IN" dirty="0"/>
              <a:t>O</a:t>
            </a:r>
          </a:p>
          <a:p>
            <a:pPr algn="ctr"/>
            <a:r>
              <a:rPr lang="en-IN" dirty="0"/>
              <a:t>N</a:t>
            </a:r>
          </a:p>
        </p:txBody>
      </p:sp>
      <p:sp>
        <p:nvSpPr>
          <p:cNvPr id="16" name="Arrow: Down 15">
            <a:extLst>
              <a:ext uri="{FF2B5EF4-FFF2-40B4-BE49-F238E27FC236}">
                <a16:creationId xmlns:a16="http://schemas.microsoft.com/office/drawing/2014/main" id="{02A1D49E-B49A-4936-9A95-B3678A53DA5D}"/>
              </a:ext>
            </a:extLst>
          </p:cNvPr>
          <p:cNvSpPr/>
          <p:nvPr/>
        </p:nvSpPr>
        <p:spPr>
          <a:xfrm rot="16200000">
            <a:off x="5644437" y="3690028"/>
            <a:ext cx="285007" cy="422033"/>
          </a:xfrm>
          <a:prstGeom prst="downArrow">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1B4FE436-5A96-4DF8-A6DC-18B2C7EF2113}"/>
              </a:ext>
            </a:extLst>
          </p:cNvPr>
          <p:cNvSpPr/>
          <p:nvPr/>
        </p:nvSpPr>
        <p:spPr>
          <a:xfrm>
            <a:off x="7226596" y="2056941"/>
            <a:ext cx="783772" cy="3718922"/>
          </a:xfrm>
          <a:prstGeom prst="roundRect">
            <a:avLst/>
          </a:prstGeom>
          <a:solidFill>
            <a:schemeClr val="tx1">
              <a:lumMod val="65000"/>
            </a:schemeClr>
          </a:solidFill>
          <a:ln>
            <a:solidFill>
              <a:schemeClr val="tx2">
                <a:lumMod val="75000"/>
                <a:alpha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S</a:t>
            </a:r>
          </a:p>
          <a:p>
            <a:pPr algn="ctr"/>
            <a:r>
              <a:rPr lang="en-IN" dirty="0"/>
              <a:t>S</a:t>
            </a:r>
            <a:br>
              <a:rPr lang="en-IN" dirty="0"/>
            </a:br>
            <a:r>
              <a:rPr lang="en-IN" dirty="0"/>
              <a:t>H</a:t>
            </a:r>
          </a:p>
        </p:txBody>
      </p:sp>
      <p:sp>
        <p:nvSpPr>
          <p:cNvPr id="18" name="Arrow: Down 17">
            <a:extLst>
              <a:ext uri="{FF2B5EF4-FFF2-40B4-BE49-F238E27FC236}">
                <a16:creationId xmlns:a16="http://schemas.microsoft.com/office/drawing/2014/main" id="{A25D3FD5-82EB-4DCF-936D-C7F5AB2B7266}"/>
              </a:ext>
            </a:extLst>
          </p:cNvPr>
          <p:cNvSpPr/>
          <p:nvPr/>
        </p:nvSpPr>
        <p:spPr>
          <a:xfrm rot="16200000">
            <a:off x="6862879" y="3705385"/>
            <a:ext cx="285007" cy="422033"/>
          </a:xfrm>
          <a:prstGeom prst="downArrow">
            <a:avLst/>
          </a:prstGeom>
          <a:solidFill>
            <a:schemeClr val="accent5">
              <a:lumMod val="40000"/>
              <a:lumOff val="6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pic>
        <p:nvPicPr>
          <p:cNvPr id="19" name="Picture 18">
            <a:extLst>
              <a:ext uri="{FF2B5EF4-FFF2-40B4-BE49-F238E27FC236}">
                <a16:creationId xmlns:a16="http://schemas.microsoft.com/office/drawing/2014/main" id="{253A169A-4A8A-47D5-9AD2-B6A052DA851A}"/>
              </a:ext>
            </a:extLst>
          </p:cNvPr>
          <p:cNvPicPr>
            <a:picLocks noChangeAspect="1"/>
          </p:cNvPicPr>
          <p:nvPr/>
        </p:nvPicPr>
        <p:blipFill>
          <a:blip r:embed="rId5">
            <a:duotone>
              <a:schemeClr val="accent6">
                <a:shade val="45000"/>
                <a:satMod val="135000"/>
              </a:schemeClr>
              <a:prstClr val="white"/>
            </a:duotone>
          </a:blip>
          <a:stretch>
            <a:fillRect/>
          </a:stretch>
        </p:blipFill>
        <p:spPr>
          <a:xfrm>
            <a:off x="10661289" y="1745673"/>
            <a:ext cx="879695" cy="924350"/>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37A743B5-D334-4420-9522-8F5A1B0FAECA}"/>
              </a:ext>
            </a:extLst>
          </p:cNvPr>
          <p:cNvPicPr>
            <a:picLocks noChangeAspect="1"/>
          </p:cNvPicPr>
          <p:nvPr/>
        </p:nvPicPr>
        <p:blipFill>
          <a:blip r:embed="rId5">
            <a:duotone>
              <a:prstClr val="black"/>
              <a:srgbClr val="D9C3A5">
                <a:tint val="50000"/>
                <a:satMod val="180000"/>
              </a:srgbClr>
            </a:duotone>
          </a:blip>
          <a:stretch>
            <a:fillRect/>
          </a:stretch>
        </p:blipFill>
        <p:spPr>
          <a:xfrm>
            <a:off x="10660245" y="3003162"/>
            <a:ext cx="879695" cy="924350"/>
          </a:xfrm>
          <a:prstGeom prst="rect">
            <a:avLst/>
          </a:prstGeom>
          <a:ln>
            <a:noFill/>
          </a:ln>
          <a:effectLst>
            <a:outerShdw blurRad="292100" dist="139700" dir="2700000" algn="tl" rotWithShape="0">
              <a:srgbClr val="333333">
                <a:alpha val="65000"/>
              </a:srgbClr>
            </a:outerShdw>
          </a:effectLst>
        </p:spPr>
      </p:pic>
      <p:pic>
        <p:nvPicPr>
          <p:cNvPr id="21" name="Picture 20">
            <a:extLst>
              <a:ext uri="{FF2B5EF4-FFF2-40B4-BE49-F238E27FC236}">
                <a16:creationId xmlns:a16="http://schemas.microsoft.com/office/drawing/2014/main" id="{CD7E21FC-2329-43F8-B81A-225653486205}"/>
              </a:ext>
            </a:extLst>
          </p:cNvPr>
          <p:cNvPicPr>
            <a:picLocks noChangeAspect="1"/>
          </p:cNvPicPr>
          <p:nvPr/>
        </p:nvPicPr>
        <p:blipFill>
          <a:blip r:embed="rId5">
            <a:duotone>
              <a:schemeClr val="bg2">
                <a:shade val="45000"/>
                <a:satMod val="135000"/>
              </a:schemeClr>
              <a:prstClr val="white"/>
            </a:duotone>
          </a:blip>
          <a:stretch>
            <a:fillRect/>
          </a:stretch>
        </p:blipFill>
        <p:spPr>
          <a:xfrm>
            <a:off x="10660245" y="4260651"/>
            <a:ext cx="879695" cy="924350"/>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54DAF4E9-9D0E-4CDE-888A-EA6DB608FC87}"/>
              </a:ext>
            </a:extLst>
          </p:cNvPr>
          <p:cNvPicPr>
            <a:picLocks noChangeAspect="1"/>
          </p:cNvPicPr>
          <p:nvPr/>
        </p:nvPicPr>
        <p:blipFill>
          <a:blip r:embed="rId5">
            <a:duotone>
              <a:schemeClr val="accent4">
                <a:shade val="45000"/>
                <a:satMod val="135000"/>
              </a:schemeClr>
              <a:prstClr val="white"/>
            </a:duotone>
          </a:blip>
          <a:stretch>
            <a:fillRect/>
          </a:stretch>
        </p:blipFill>
        <p:spPr>
          <a:xfrm>
            <a:off x="10661288" y="5440824"/>
            <a:ext cx="879695" cy="924350"/>
          </a:xfrm>
          <a:prstGeom prst="rect">
            <a:avLst/>
          </a:prstGeom>
          <a:ln>
            <a:noFill/>
          </a:ln>
          <a:effectLst>
            <a:outerShdw blurRad="292100" dist="139700" dir="2700000" algn="tl" rotWithShape="0">
              <a:srgbClr val="333333">
                <a:alpha val="65000"/>
              </a:srgbClr>
            </a:outerShdw>
          </a:effectLst>
        </p:spPr>
      </p:pic>
      <p:sp>
        <p:nvSpPr>
          <p:cNvPr id="23" name="Arrow: Down 22">
            <a:extLst>
              <a:ext uri="{FF2B5EF4-FFF2-40B4-BE49-F238E27FC236}">
                <a16:creationId xmlns:a16="http://schemas.microsoft.com/office/drawing/2014/main" id="{518B9F89-AFAB-402F-BF5C-F2C2B1734D87}"/>
              </a:ext>
            </a:extLst>
          </p:cNvPr>
          <p:cNvSpPr/>
          <p:nvPr/>
        </p:nvSpPr>
        <p:spPr>
          <a:xfrm rot="16200000">
            <a:off x="8591626" y="3060829"/>
            <a:ext cx="614548" cy="1731660"/>
          </a:xfrm>
          <a:prstGeom prst="downArrow">
            <a:avLst/>
          </a:prstGeom>
          <a:solidFill>
            <a:schemeClr val="tx1">
              <a:lumMod val="65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t>SSH</a:t>
            </a:r>
          </a:p>
        </p:txBody>
      </p:sp>
      <p:sp>
        <p:nvSpPr>
          <p:cNvPr id="24" name="Left Brace 23">
            <a:extLst>
              <a:ext uri="{FF2B5EF4-FFF2-40B4-BE49-F238E27FC236}">
                <a16:creationId xmlns:a16="http://schemas.microsoft.com/office/drawing/2014/main" id="{74BF12F4-E7CE-4E13-8466-417C539B4BAD}"/>
              </a:ext>
            </a:extLst>
          </p:cNvPr>
          <p:cNvSpPr/>
          <p:nvPr/>
        </p:nvSpPr>
        <p:spPr>
          <a:xfrm>
            <a:off x="9719951" y="1745673"/>
            <a:ext cx="605185" cy="4619501"/>
          </a:xfrm>
          <a:prstGeom prst="leftBrace">
            <a:avLst>
              <a:gd name="adj1" fmla="val 8333"/>
              <a:gd name="adj2" fmla="val 47172"/>
            </a:avLst>
          </a:prstGeom>
          <a:solidFill>
            <a:schemeClr val="tx1"/>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IN" dirty="0"/>
          </a:p>
        </p:txBody>
      </p:sp>
    </p:spTree>
    <p:extLst>
      <p:ext uri="{BB962C8B-B14F-4D97-AF65-F5344CB8AC3E}">
        <p14:creationId xmlns:p14="http://schemas.microsoft.com/office/powerpoint/2010/main" val="3178139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Ansible Architecture </a:t>
            </a:r>
            <a:r>
              <a:rPr lang="en-US" dirty="0" err="1">
                <a:solidFill>
                  <a:schemeClr val="tx1"/>
                </a:solidFill>
              </a:rPr>
              <a:t>Envs</a:t>
            </a:r>
            <a:endParaRPr lang="en-US" dirty="0">
              <a:solidFill>
                <a:schemeClr val="tx1"/>
              </a:solidFill>
            </a:endParaRP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0" name=""/>
                      <p:cNvPicPr/>
                      <p:nvPr/>
                    </p:nvPicPr>
                    <p:blipFill>
                      <a:blip r:embed="rId3"/>
                      <a:stretch>
                        <a:fillRect/>
                      </a:stretch>
                    </p:blipFill>
                    <p:spPr>
                      <a:xfrm>
                        <a:off x="11377862" y="78623"/>
                        <a:ext cx="749968" cy="526968"/>
                      </a:xfrm>
                      <a:prstGeom prst="rect">
                        <a:avLst/>
                      </a:prstGeom>
                    </p:spPr>
                  </p:pic>
                </p:oleObj>
              </mc:Fallback>
            </mc:AlternateContent>
          </a:graphicData>
        </a:graphic>
      </p:graphicFrame>
      <p:pic>
        <p:nvPicPr>
          <p:cNvPr id="6" name="Picture 5"/>
          <p:cNvPicPr>
            <a:picLocks noChangeAspect="1"/>
          </p:cNvPicPr>
          <p:nvPr/>
        </p:nvPicPr>
        <p:blipFill>
          <a:blip r:embed="rId4"/>
          <a:stretch>
            <a:fillRect/>
          </a:stretch>
        </p:blipFill>
        <p:spPr>
          <a:xfrm>
            <a:off x="11101137" y="26683"/>
            <a:ext cx="1062728" cy="659117"/>
          </a:xfrm>
          <a:prstGeom prst="rect">
            <a:avLst/>
          </a:prstGeom>
        </p:spPr>
      </p:pic>
      <p:pic>
        <p:nvPicPr>
          <p:cNvPr id="31746" name="Picture 2" descr="http://4.bp.blogspot.com/-4LmIX8l33dk/VQF4pckQWhI/AAAAAAAAANg/1Fw3rixz1s0/s1600/ansible-yml-playbooks-flow-tutorial-example.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1323" y="1484007"/>
            <a:ext cx="6913939" cy="51895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ADD4B84-66FF-4A58-9366-CA307DD0C14E}"/>
              </a:ext>
            </a:extLst>
          </p:cNvPr>
          <p:cNvSpPr txBox="1"/>
          <p:nvPr/>
        </p:nvSpPr>
        <p:spPr>
          <a:xfrm>
            <a:off x="10771518" y="3642436"/>
            <a:ext cx="736270" cy="369332"/>
          </a:xfrm>
          <a:prstGeom prst="rect">
            <a:avLst/>
          </a:prstGeom>
          <a:noFill/>
        </p:spPr>
        <p:txBody>
          <a:bodyPr wrap="square" rtlCol="0">
            <a:spAutoFit/>
          </a:bodyPr>
          <a:lstStyle/>
          <a:p>
            <a:r>
              <a:rPr lang="en-IN" b="1" dirty="0">
                <a:solidFill>
                  <a:srgbClr val="FF0000"/>
                </a:solidFill>
              </a:rPr>
              <a:t>SSH</a:t>
            </a:r>
          </a:p>
        </p:txBody>
      </p:sp>
      <p:sp>
        <p:nvSpPr>
          <p:cNvPr id="5" name="Right Brace 4">
            <a:extLst>
              <a:ext uri="{FF2B5EF4-FFF2-40B4-BE49-F238E27FC236}">
                <a16:creationId xmlns:a16="http://schemas.microsoft.com/office/drawing/2014/main" id="{08220CB8-48BA-4E18-87EB-3CAA9CF0B393}"/>
              </a:ext>
            </a:extLst>
          </p:cNvPr>
          <p:cNvSpPr/>
          <p:nvPr/>
        </p:nvSpPr>
        <p:spPr>
          <a:xfrm>
            <a:off x="9535886" y="1828800"/>
            <a:ext cx="1235632" cy="4132613"/>
          </a:xfrm>
          <a:prstGeom prst="rightBrac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IN" dirty="0"/>
          </a:p>
        </p:txBody>
      </p:sp>
    </p:spTree>
    <p:extLst>
      <p:ext uri="{BB962C8B-B14F-4D97-AF65-F5344CB8AC3E}">
        <p14:creationId xmlns:p14="http://schemas.microsoft.com/office/powerpoint/2010/main" val="529514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Ansible in Configuration/Deployment </a:t>
            </a: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0" name=""/>
                      <p:cNvPicPr/>
                      <p:nvPr/>
                    </p:nvPicPr>
                    <p:blipFill>
                      <a:blip r:embed="rId3"/>
                      <a:stretch>
                        <a:fillRect/>
                      </a:stretch>
                    </p:blipFill>
                    <p:spPr>
                      <a:xfrm>
                        <a:off x="11377862" y="78623"/>
                        <a:ext cx="749968" cy="526968"/>
                      </a:xfrm>
                      <a:prstGeom prst="rect">
                        <a:avLst/>
                      </a:prstGeom>
                    </p:spPr>
                  </p:pic>
                </p:oleObj>
              </mc:Fallback>
            </mc:AlternateContent>
          </a:graphicData>
        </a:graphic>
      </p:graphicFrame>
      <p:pic>
        <p:nvPicPr>
          <p:cNvPr id="6" name="Picture 5"/>
          <p:cNvPicPr>
            <a:picLocks noChangeAspect="1"/>
          </p:cNvPicPr>
          <p:nvPr/>
        </p:nvPicPr>
        <p:blipFill>
          <a:blip r:embed="rId4"/>
          <a:stretch>
            <a:fillRect/>
          </a:stretch>
        </p:blipFill>
        <p:spPr>
          <a:xfrm>
            <a:off x="11101137" y="26683"/>
            <a:ext cx="1062728" cy="659117"/>
          </a:xfrm>
          <a:prstGeom prst="rect">
            <a:avLst/>
          </a:prstGeom>
        </p:spPr>
      </p:pic>
      <p:pic>
        <p:nvPicPr>
          <p:cNvPr id="4" name="Picture 3"/>
          <p:cNvPicPr>
            <a:picLocks noChangeAspect="1"/>
          </p:cNvPicPr>
          <p:nvPr/>
        </p:nvPicPr>
        <p:blipFill>
          <a:blip r:embed="rId5"/>
          <a:stretch>
            <a:fillRect/>
          </a:stretch>
        </p:blipFill>
        <p:spPr>
          <a:xfrm>
            <a:off x="850232" y="1552574"/>
            <a:ext cx="10379242" cy="5163411"/>
          </a:xfrm>
          <a:prstGeom prst="rect">
            <a:avLst/>
          </a:prstGeom>
        </p:spPr>
      </p:pic>
    </p:spTree>
    <p:extLst>
      <p:ext uri="{BB962C8B-B14F-4D97-AF65-F5344CB8AC3E}">
        <p14:creationId xmlns:p14="http://schemas.microsoft.com/office/powerpoint/2010/main" val="812274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Ansible Standards and Best Practices</a:t>
            </a: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6" name="Picture 5"/>
          <p:cNvPicPr>
            <a:picLocks noChangeAspect="1"/>
          </p:cNvPicPr>
          <p:nvPr/>
        </p:nvPicPr>
        <p:blipFill>
          <a:blip r:embed="rId2"/>
          <a:stretch>
            <a:fillRect/>
          </a:stretch>
        </p:blipFill>
        <p:spPr>
          <a:xfrm>
            <a:off x="11101137" y="26683"/>
            <a:ext cx="1062728" cy="659117"/>
          </a:xfrm>
          <a:prstGeom prst="rect">
            <a:avLst/>
          </a:prstGeom>
        </p:spPr>
      </p:pic>
      <p:sp>
        <p:nvSpPr>
          <p:cNvPr id="5" name="Rectangle 4"/>
          <p:cNvSpPr/>
          <p:nvPr/>
        </p:nvSpPr>
        <p:spPr>
          <a:xfrm>
            <a:off x="700252" y="1439065"/>
            <a:ext cx="11463613" cy="4770537"/>
          </a:xfrm>
          <a:prstGeom prst="rect">
            <a:avLst/>
          </a:prstGeom>
        </p:spPr>
        <p:txBody>
          <a:bodyPr wrap="square">
            <a:spAutoFit/>
          </a:bodyPr>
          <a:lstStyle/>
          <a:p>
            <a:pPr lvl="0"/>
            <a:r>
              <a:rPr lang="en-US" sz="1600" dirty="0">
                <a:solidFill>
                  <a:schemeClr val="bg1"/>
                </a:solidFill>
              </a:rPr>
              <a:t>Break long lines using YAML line continuation</a:t>
            </a:r>
          </a:p>
          <a:p>
            <a:pPr lvl="0"/>
            <a:r>
              <a:rPr lang="en-US" sz="1600" dirty="0">
                <a:solidFill>
                  <a:schemeClr val="bg1"/>
                </a:solidFill>
              </a:rPr>
              <a:t>Try to avoid lines longer than 120 characters in length</a:t>
            </a:r>
          </a:p>
          <a:p>
            <a:pPr lvl="0"/>
            <a:r>
              <a:rPr lang="en-US" sz="1600" dirty="0">
                <a:solidFill>
                  <a:schemeClr val="bg1"/>
                </a:solidFill>
              </a:rPr>
              <a:t>Break after a comma (line continuation)</a:t>
            </a:r>
          </a:p>
          <a:p>
            <a:pPr lvl="0"/>
            <a:r>
              <a:rPr lang="en-US" sz="1600" dirty="0">
                <a:solidFill>
                  <a:schemeClr val="bg1"/>
                </a:solidFill>
              </a:rPr>
              <a:t>Align the new line with the beginning of the expression</a:t>
            </a:r>
          </a:p>
          <a:p>
            <a:pPr lvl="0"/>
            <a:r>
              <a:rPr lang="en-US" sz="1600" dirty="0">
                <a:solidFill>
                  <a:schemeClr val="bg1"/>
                </a:solidFill>
              </a:rPr>
              <a:t>Two spaces should be used as the unit of indentation</a:t>
            </a:r>
          </a:p>
          <a:p>
            <a:endParaRPr lang="en-US" sz="1600" b="1" dirty="0">
              <a:solidFill>
                <a:schemeClr val="bg1"/>
              </a:solidFill>
            </a:endParaRPr>
          </a:p>
          <a:p>
            <a:endParaRPr lang="en-US" sz="1600" b="1" dirty="0">
              <a:solidFill>
                <a:schemeClr val="bg1"/>
              </a:solidFill>
            </a:endParaRPr>
          </a:p>
          <a:p>
            <a:r>
              <a:rPr lang="en-US" sz="1600" b="1" dirty="0">
                <a:solidFill>
                  <a:schemeClr val="bg1"/>
                </a:solidFill>
              </a:rPr>
              <a:t>Incorrect Usage </a:t>
            </a:r>
          </a:p>
          <a:p>
            <a:r>
              <a:rPr lang="en-US" sz="1600" dirty="0">
                <a:solidFill>
                  <a:srgbClr val="FF0000"/>
                </a:solidFill>
              </a:rPr>
              <a:t>- file: </a:t>
            </a:r>
            <a:r>
              <a:rPr lang="en-US" sz="1600" dirty="0" err="1">
                <a:solidFill>
                  <a:srgbClr val="FF0000"/>
                </a:solidFill>
              </a:rPr>
              <a:t>dest</a:t>
            </a:r>
            <a:r>
              <a:rPr lang="en-US" sz="1600" dirty="0">
                <a:solidFill>
                  <a:srgbClr val="FF0000"/>
                </a:solidFill>
              </a:rPr>
              <a:t>="{{ test }}" </a:t>
            </a:r>
            <a:r>
              <a:rPr lang="en-US" sz="1600" dirty="0" err="1">
                <a:solidFill>
                  <a:srgbClr val="FF0000"/>
                </a:solidFill>
              </a:rPr>
              <a:t>src</a:t>
            </a:r>
            <a:r>
              <a:rPr lang="en-US" sz="1600" dirty="0">
                <a:solidFill>
                  <a:srgbClr val="FF0000"/>
                </a:solidFill>
              </a:rPr>
              <a:t>="/opt/</a:t>
            </a:r>
            <a:r>
              <a:rPr lang="en-US" sz="1600" dirty="0" err="1">
                <a:solidFill>
                  <a:srgbClr val="FF0000"/>
                </a:solidFill>
              </a:rPr>
              <a:t>file_transfers</a:t>
            </a:r>
            <a:r>
              <a:rPr lang="en-US" sz="1600" dirty="0">
                <a:solidFill>
                  <a:srgbClr val="FF0000"/>
                </a:solidFill>
              </a:rPr>
              <a:t>/20160830/file1.txt" mode=0600 state=present user="root" group="wheel"</a:t>
            </a:r>
          </a:p>
          <a:p>
            <a:endParaRPr lang="en-US" sz="1600" b="1" dirty="0">
              <a:solidFill>
                <a:schemeClr val="bg1"/>
              </a:solidFill>
            </a:endParaRPr>
          </a:p>
          <a:p>
            <a:r>
              <a:rPr lang="en-US" sz="1600" b="1" dirty="0">
                <a:solidFill>
                  <a:schemeClr val="bg1"/>
                </a:solidFill>
              </a:rPr>
              <a:t>Correct Usage </a:t>
            </a:r>
          </a:p>
          <a:p>
            <a:r>
              <a:rPr lang="en-US" sz="1600" dirty="0">
                <a:solidFill>
                  <a:srgbClr val="00B050"/>
                </a:solidFill>
              </a:rPr>
              <a:t>- file:</a:t>
            </a:r>
          </a:p>
          <a:p>
            <a:r>
              <a:rPr lang="en-US" sz="1600" dirty="0">
                <a:solidFill>
                  <a:srgbClr val="00B050"/>
                </a:solidFill>
              </a:rPr>
              <a:t>    </a:t>
            </a:r>
            <a:r>
              <a:rPr lang="en-US" sz="1600" dirty="0" err="1">
                <a:solidFill>
                  <a:srgbClr val="00B050"/>
                </a:solidFill>
              </a:rPr>
              <a:t>dest</a:t>
            </a:r>
            <a:r>
              <a:rPr lang="en-US" sz="1600" dirty="0">
                <a:solidFill>
                  <a:srgbClr val="00B050"/>
                </a:solidFill>
              </a:rPr>
              <a:t>: "{{ test }}"</a:t>
            </a:r>
          </a:p>
          <a:p>
            <a:r>
              <a:rPr lang="en-US" sz="1600" dirty="0">
                <a:solidFill>
                  <a:srgbClr val="00B050"/>
                </a:solidFill>
              </a:rPr>
              <a:t>    </a:t>
            </a:r>
            <a:r>
              <a:rPr lang="en-US" sz="1600" dirty="0" err="1">
                <a:solidFill>
                  <a:srgbClr val="00B050"/>
                </a:solidFill>
              </a:rPr>
              <a:t>src</a:t>
            </a:r>
            <a:r>
              <a:rPr lang="en-US" sz="1600" dirty="0">
                <a:solidFill>
                  <a:srgbClr val="00B050"/>
                </a:solidFill>
              </a:rPr>
              <a:t>: "/opt/</a:t>
            </a:r>
            <a:r>
              <a:rPr lang="en-US" sz="1600" dirty="0" err="1">
                <a:solidFill>
                  <a:srgbClr val="00B050"/>
                </a:solidFill>
              </a:rPr>
              <a:t>file_transfers</a:t>
            </a:r>
            <a:r>
              <a:rPr lang="en-US" sz="1600" dirty="0">
                <a:solidFill>
                  <a:srgbClr val="00B050"/>
                </a:solidFill>
              </a:rPr>
              <a:t>/20160830/file1.txt"</a:t>
            </a:r>
          </a:p>
          <a:p>
            <a:r>
              <a:rPr lang="en-US" sz="1600" dirty="0">
                <a:solidFill>
                  <a:srgbClr val="00B050"/>
                </a:solidFill>
              </a:rPr>
              <a:t>    mode: 0600 </a:t>
            </a:r>
          </a:p>
          <a:p>
            <a:r>
              <a:rPr lang="en-US" sz="1600" dirty="0">
                <a:solidFill>
                  <a:srgbClr val="00B050"/>
                </a:solidFill>
              </a:rPr>
              <a:t>    state: present</a:t>
            </a:r>
          </a:p>
          <a:p>
            <a:r>
              <a:rPr lang="en-US" sz="1600" dirty="0">
                <a:solidFill>
                  <a:srgbClr val="00B050"/>
                </a:solidFill>
              </a:rPr>
              <a:t>    user: "root"</a:t>
            </a:r>
          </a:p>
          <a:p>
            <a:r>
              <a:rPr lang="en-US" sz="1600" dirty="0">
                <a:solidFill>
                  <a:srgbClr val="00B050"/>
                </a:solidFill>
              </a:rPr>
              <a:t>    group: "wheel"</a:t>
            </a:r>
          </a:p>
          <a:p>
            <a:endParaRPr lang="en-US" sz="1600" dirty="0">
              <a:solidFill>
                <a:schemeClr val="bg1"/>
              </a:solidFill>
            </a:endParaRPr>
          </a:p>
        </p:txBody>
      </p:sp>
    </p:spTree>
    <p:extLst>
      <p:ext uri="{BB962C8B-B14F-4D97-AF65-F5344CB8AC3E}">
        <p14:creationId xmlns:p14="http://schemas.microsoft.com/office/powerpoint/2010/main" val="3791517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Ansible playbook</a:t>
            </a: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6" name="Picture 5"/>
          <p:cNvPicPr>
            <a:picLocks noChangeAspect="1"/>
          </p:cNvPicPr>
          <p:nvPr/>
        </p:nvPicPr>
        <p:blipFill>
          <a:blip r:embed="rId2"/>
          <a:stretch>
            <a:fillRect/>
          </a:stretch>
        </p:blipFill>
        <p:spPr>
          <a:xfrm>
            <a:off x="11101137" y="26683"/>
            <a:ext cx="1062728" cy="659117"/>
          </a:xfrm>
          <a:prstGeom prst="rect">
            <a:avLst/>
          </a:prstGeom>
        </p:spPr>
      </p:pic>
      <p:sp>
        <p:nvSpPr>
          <p:cNvPr id="5" name="Rectangle 4"/>
          <p:cNvSpPr/>
          <p:nvPr/>
        </p:nvSpPr>
        <p:spPr>
          <a:xfrm>
            <a:off x="700253" y="1423023"/>
            <a:ext cx="11347367" cy="4108817"/>
          </a:xfrm>
          <a:prstGeom prst="rect">
            <a:avLst/>
          </a:prstGeom>
        </p:spPr>
        <p:txBody>
          <a:bodyPr wrap="square">
            <a:spAutoFit/>
          </a:bodyPr>
          <a:lstStyle/>
          <a:p>
            <a:r>
              <a:rPr lang="en-US" sz="2400" dirty="0" err="1">
                <a:solidFill>
                  <a:schemeClr val="bg1"/>
                </a:solidFill>
              </a:rPr>
              <a:t>site.yml</a:t>
            </a:r>
            <a:r>
              <a:rPr lang="en-US" sz="2400" dirty="0">
                <a:solidFill>
                  <a:schemeClr val="bg1"/>
                </a:solidFill>
              </a:rPr>
              <a:t> #This is the playbook file</a:t>
            </a:r>
          </a:p>
          <a:p>
            <a:endParaRPr lang="en-US" sz="2400" dirty="0">
              <a:solidFill>
                <a:schemeClr val="bg1"/>
              </a:solidFill>
            </a:endParaRPr>
          </a:p>
          <a:p>
            <a:r>
              <a:rPr lang="en-US" sz="2400" dirty="0">
                <a:solidFill>
                  <a:schemeClr val="bg1"/>
                </a:solidFill>
              </a:rPr>
              <a:t>---  </a:t>
            </a:r>
          </a:p>
          <a:p>
            <a:r>
              <a:rPr lang="en-US" sz="2400" dirty="0">
                <a:solidFill>
                  <a:schemeClr val="bg1"/>
                </a:solidFill>
              </a:rPr>
              <a:t>- hosts: web-servers</a:t>
            </a:r>
          </a:p>
          <a:p>
            <a:r>
              <a:rPr lang="en-US" sz="2400" dirty="0">
                <a:solidFill>
                  <a:schemeClr val="bg1"/>
                </a:solidFill>
              </a:rPr>
              <a:t>  </a:t>
            </a:r>
            <a:r>
              <a:rPr lang="en-US" sz="2400" dirty="0" err="1">
                <a:solidFill>
                  <a:schemeClr val="bg1"/>
                </a:solidFill>
              </a:rPr>
              <a:t>remote_user</a:t>
            </a:r>
            <a:r>
              <a:rPr lang="en-US" sz="2400" dirty="0">
                <a:solidFill>
                  <a:schemeClr val="bg1"/>
                </a:solidFill>
              </a:rPr>
              <a:t>: root</a:t>
            </a:r>
          </a:p>
          <a:p>
            <a:r>
              <a:rPr lang="en-US" sz="2400" dirty="0">
                <a:solidFill>
                  <a:schemeClr val="bg1"/>
                </a:solidFill>
              </a:rPr>
              <a:t>  </a:t>
            </a:r>
            <a:r>
              <a:rPr lang="en-US" sz="2400" dirty="0" err="1">
                <a:solidFill>
                  <a:schemeClr val="bg1"/>
                </a:solidFill>
              </a:rPr>
              <a:t>sudo</a:t>
            </a:r>
            <a:r>
              <a:rPr lang="en-US" sz="2400" dirty="0">
                <a:solidFill>
                  <a:schemeClr val="bg1"/>
                </a:solidFill>
              </a:rPr>
              <a:t>: yes</a:t>
            </a:r>
          </a:p>
          <a:p>
            <a:r>
              <a:rPr lang="en-US" sz="2400" dirty="0">
                <a:solidFill>
                  <a:schemeClr val="bg1"/>
                </a:solidFill>
              </a:rPr>
              <a:t>  roles:</a:t>
            </a:r>
          </a:p>
          <a:p>
            <a:r>
              <a:rPr lang="en-US" sz="2400" dirty="0">
                <a:solidFill>
                  <a:schemeClr val="bg1"/>
                </a:solidFill>
              </a:rPr>
              <a:t>    - zip</a:t>
            </a:r>
          </a:p>
          <a:p>
            <a:r>
              <a:rPr lang="en-US" sz="2400" dirty="0">
                <a:solidFill>
                  <a:schemeClr val="bg1"/>
                </a:solidFill>
              </a:rPr>
              <a:t>    - tar</a:t>
            </a:r>
          </a:p>
          <a:p>
            <a:r>
              <a:rPr lang="en-US" sz="2400" dirty="0">
                <a:solidFill>
                  <a:schemeClr val="bg1"/>
                </a:solidFill>
              </a:rPr>
              <a:t>    - </a:t>
            </a:r>
            <a:r>
              <a:rPr lang="en-US" sz="2400" dirty="0" err="1">
                <a:solidFill>
                  <a:schemeClr val="bg1"/>
                </a:solidFill>
              </a:rPr>
              <a:t>git</a:t>
            </a:r>
            <a:endParaRPr lang="en-US" sz="2400" dirty="0">
              <a:solidFill>
                <a:schemeClr val="bg1"/>
              </a:solidFill>
            </a:endParaRPr>
          </a:p>
          <a:p>
            <a:endParaRPr lang="en-US" sz="2100" dirty="0">
              <a:solidFill>
                <a:schemeClr val="bg1"/>
              </a:solidFill>
            </a:endParaRPr>
          </a:p>
        </p:txBody>
      </p:sp>
    </p:spTree>
    <p:extLst>
      <p:ext uri="{BB962C8B-B14F-4D97-AF65-F5344CB8AC3E}">
        <p14:creationId xmlns:p14="http://schemas.microsoft.com/office/powerpoint/2010/main" val="1941116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Verifying the Installation </a:t>
            </a:r>
          </a:p>
        </p:txBody>
      </p:sp>
      <p:pic>
        <p:nvPicPr>
          <p:cNvPr id="5" name="Picture 4"/>
          <p:cNvPicPr>
            <a:picLocks noChangeAspect="1"/>
          </p:cNvPicPr>
          <p:nvPr/>
        </p:nvPicPr>
        <p:blipFill>
          <a:blip r:embed="rId2"/>
          <a:stretch>
            <a:fillRect/>
          </a:stretch>
        </p:blipFill>
        <p:spPr>
          <a:xfrm>
            <a:off x="11101137" y="26683"/>
            <a:ext cx="1062728" cy="659117"/>
          </a:xfrm>
          <a:prstGeom prst="rect">
            <a:avLst/>
          </a:prstGeom>
        </p:spPr>
      </p:pic>
      <p:sp>
        <p:nvSpPr>
          <p:cNvPr id="8" name="Rectangle 7"/>
          <p:cNvSpPr/>
          <p:nvPr/>
        </p:nvSpPr>
        <p:spPr>
          <a:xfrm>
            <a:off x="700253" y="1487191"/>
            <a:ext cx="11347367" cy="1384995"/>
          </a:xfrm>
          <a:prstGeom prst="rect">
            <a:avLst/>
          </a:prstGeom>
        </p:spPr>
        <p:txBody>
          <a:bodyPr wrap="square">
            <a:spAutoFit/>
          </a:bodyPr>
          <a:lstStyle/>
          <a:p>
            <a:r>
              <a:rPr lang="en-US" sz="2100" dirty="0">
                <a:solidFill>
                  <a:schemeClr val="bg1"/>
                </a:solidFill>
              </a:rPr>
              <a:t>After installation just type:</a:t>
            </a:r>
          </a:p>
          <a:p>
            <a:endParaRPr lang="en-US" sz="2100" dirty="0">
              <a:solidFill>
                <a:schemeClr val="bg1"/>
              </a:solidFill>
            </a:endParaRPr>
          </a:p>
          <a:p>
            <a:r>
              <a:rPr lang="en-US" sz="2100" dirty="0" err="1">
                <a:solidFill>
                  <a:schemeClr val="bg1"/>
                </a:solidFill>
              </a:rPr>
              <a:t>ansible</a:t>
            </a:r>
            <a:r>
              <a:rPr lang="en-US" sz="2100" dirty="0">
                <a:solidFill>
                  <a:schemeClr val="bg1"/>
                </a:solidFill>
              </a:rPr>
              <a:t> --version</a:t>
            </a:r>
          </a:p>
          <a:p>
            <a:r>
              <a:rPr lang="en-US" sz="2100" dirty="0" err="1">
                <a:solidFill>
                  <a:schemeClr val="bg1"/>
                </a:solidFill>
              </a:rPr>
              <a:t>ansible</a:t>
            </a:r>
            <a:r>
              <a:rPr lang="en-US" sz="2100" dirty="0">
                <a:solidFill>
                  <a:schemeClr val="bg1"/>
                </a:solidFill>
              </a:rPr>
              <a:t> </a:t>
            </a:r>
            <a:r>
              <a:rPr lang="en-US" sz="2100" dirty="0" err="1">
                <a:solidFill>
                  <a:schemeClr val="bg1"/>
                </a:solidFill>
              </a:rPr>
              <a:t>x.x.x</a:t>
            </a:r>
            <a:endParaRPr lang="en-US" sz="2100" dirty="0">
              <a:solidFill>
                <a:schemeClr val="bg1"/>
              </a:solidFill>
            </a:endParaRPr>
          </a:p>
        </p:txBody>
      </p:sp>
    </p:spTree>
    <p:extLst>
      <p:ext uri="{BB962C8B-B14F-4D97-AF65-F5344CB8AC3E}">
        <p14:creationId xmlns:p14="http://schemas.microsoft.com/office/powerpoint/2010/main" val="3058526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Verifying the Installation </a:t>
            </a:r>
          </a:p>
        </p:txBody>
      </p:sp>
      <p:pic>
        <p:nvPicPr>
          <p:cNvPr id="5" name="Picture 4"/>
          <p:cNvPicPr>
            <a:picLocks noChangeAspect="1"/>
          </p:cNvPicPr>
          <p:nvPr/>
        </p:nvPicPr>
        <p:blipFill>
          <a:blip r:embed="rId2"/>
          <a:stretch>
            <a:fillRect/>
          </a:stretch>
        </p:blipFill>
        <p:spPr>
          <a:xfrm>
            <a:off x="11101137" y="26683"/>
            <a:ext cx="1062728" cy="659117"/>
          </a:xfrm>
          <a:prstGeom prst="rect">
            <a:avLst/>
          </a:prstGeom>
        </p:spPr>
      </p:pic>
      <p:sp>
        <p:nvSpPr>
          <p:cNvPr id="8" name="Rectangle 7"/>
          <p:cNvSpPr/>
          <p:nvPr/>
        </p:nvSpPr>
        <p:spPr>
          <a:xfrm>
            <a:off x="700253" y="1487191"/>
            <a:ext cx="11347367" cy="5262979"/>
          </a:xfrm>
          <a:prstGeom prst="rect">
            <a:avLst/>
          </a:prstGeom>
        </p:spPr>
        <p:txBody>
          <a:bodyPr wrap="square">
            <a:spAutoFit/>
          </a:bodyPr>
          <a:lstStyle/>
          <a:p>
            <a:r>
              <a:rPr lang="en-US" sz="2100" dirty="0">
                <a:solidFill>
                  <a:schemeClr val="bg1"/>
                </a:solidFill>
              </a:rPr>
              <a:t>After installation just type:</a:t>
            </a:r>
          </a:p>
          <a:p>
            <a:endParaRPr lang="en-US" sz="2100" dirty="0">
              <a:solidFill>
                <a:schemeClr val="bg1"/>
              </a:solidFill>
            </a:endParaRPr>
          </a:p>
          <a:p>
            <a:r>
              <a:rPr lang="en-US" sz="2100" dirty="0">
                <a:solidFill>
                  <a:schemeClr val="bg1"/>
                </a:solidFill>
              </a:rPr>
              <a:t>[</a:t>
            </a:r>
            <a:r>
              <a:rPr lang="en-US" sz="2100" dirty="0" err="1">
                <a:solidFill>
                  <a:schemeClr val="bg1"/>
                </a:solidFill>
              </a:rPr>
              <a:t>ansible@nameofhost</a:t>
            </a:r>
            <a:r>
              <a:rPr lang="en-US" sz="2100" dirty="0">
                <a:solidFill>
                  <a:schemeClr val="bg1"/>
                </a:solidFill>
              </a:rPr>
              <a:t> ~]$ </a:t>
            </a:r>
            <a:r>
              <a:rPr lang="en-US" sz="2100" dirty="0" err="1">
                <a:solidFill>
                  <a:schemeClr val="bg1"/>
                </a:solidFill>
              </a:rPr>
              <a:t>ansible</a:t>
            </a:r>
            <a:endParaRPr lang="en-US" sz="2100" dirty="0">
              <a:solidFill>
                <a:schemeClr val="bg1"/>
              </a:solidFill>
            </a:endParaRPr>
          </a:p>
          <a:p>
            <a:r>
              <a:rPr lang="en-US" sz="2100" dirty="0">
                <a:solidFill>
                  <a:schemeClr val="bg1"/>
                </a:solidFill>
              </a:rPr>
              <a:t>Usage: </a:t>
            </a:r>
            <a:r>
              <a:rPr lang="en-US" sz="2100" dirty="0" err="1">
                <a:solidFill>
                  <a:schemeClr val="bg1"/>
                </a:solidFill>
              </a:rPr>
              <a:t>ansible</a:t>
            </a:r>
            <a:r>
              <a:rPr lang="en-US" sz="2100" dirty="0">
                <a:solidFill>
                  <a:schemeClr val="bg1"/>
                </a:solidFill>
              </a:rPr>
              <a:t>  [options]</a:t>
            </a:r>
          </a:p>
          <a:p>
            <a:endParaRPr lang="en-US" sz="2100" dirty="0">
              <a:solidFill>
                <a:schemeClr val="bg1"/>
              </a:solidFill>
            </a:endParaRPr>
          </a:p>
          <a:p>
            <a:r>
              <a:rPr lang="en-US" sz="2100" dirty="0">
                <a:solidFill>
                  <a:schemeClr val="bg1"/>
                </a:solidFill>
              </a:rPr>
              <a:t>Options:</a:t>
            </a:r>
          </a:p>
          <a:p>
            <a:r>
              <a:rPr lang="en-US" sz="2100" dirty="0">
                <a:solidFill>
                  <a:schemeClr val="bg1"/>
                </a:solidFill>
              </a:rPr>
              <a:t>  -a MODULE_ARGS, --</a:t>
            </a:r>
            <a:r>
              <a:rPr lang="en-US" sz="2100" dirty="0" err="1">
                <a:solidFill>
                  <a:schemeClr val="bg1"/>
                </a:solidFill>
              </a:rPr>
              <a:t>args</a:t>
            </a:r>
            <a:r>
              <a:rPr lang="en-US" sz="2100" dirty="0">
                <a:solidFill>
                  <a:schemeClr val="bg1"/>
                </a:solidFill>
              </a:rPr>
              <a:t>=MODULE_ARGS</a:t>
            </a:r>
          </a:p>
          <a:p>
            <a:r>
              <a:rPr lang="en-US" sz="2100" dirty="0">
                <a:solidFill>
                  <a:schemeClr val="bg1"/>
                </a:solidFill>
              </a:rPr>
              <a:t>                        module arguments</a:t>
            </a:r>
          </a:p>
          <a:p>
            <a:r>
              <a:rPr lang="en-US" sz="2100" dirty="0">
                <a:solidFill>
                  <a:schemeClr val="bg1"/>
                </a:solidFill>
              </a:rPr>
              <a:t>  -k, --ask-pass        ask for SSH password</a:t>
            </a:r>
          </a:p>
          <a:p>
            <a:r>
              <a:rPr lang="en-US" sz="2100" dirty="0">
                <a:solidFill>
                  <a:schemeClr val="bg1"/>
                </a:solidFill>
              </a:rPr>
              <a:t>  --ask-</a:t>
            </a:r>
            <a:r>
              <a:rPr lang="en-US" sz="2100" dirty="0" err="1">
                <a:solidFill>
                  <a:schemeClr val="bg1"/>
                </a:solidFill>
              </a:rPr>
              <a:t>su</a:t>
            </a:r>
            <a:r>
              <a:rPr lang="en-US" sz="2100" dirty="0">
                <a:solidFill>
                  <a:schemeClr val="bg1"/>
                </a:solidFill>
              </a:rPr>
              <a:t>-pass         ask for </a:t>
            </a:r>
            <a:r>
              <a:rPr lang="en-US" sz="2100" dirty="0" err="1">
                <a:solidFill>
                  <a:schemeClr val="bg1"/>
                </a:solidFill>
              </a:rPr>
              <a:t>su</a:t>
            </a:r>
            <a:r>
              <a:rPr lang="en-US" sz="2100" dirty="0">
                <a:solidFill>
                  <a:schemeClr val="bg1"/>
                </a:solidFill>
              </a:rPr>
              <a:t> password</a:t>
            </a:r>
          </a:p>
          <a:p>
            <a:r>
              <a:rPr lang="en-US" sz="2100" dirty="0">
                <a:solidFill>
                  <a:schemeClr val="bg1"/>
                </a:solidFill>
              </a:rPr>
              <a:t>  -K, --ask-</a:t>
            </a:r>
            <a:r>
              <a:rPr lang="en-US" sz="2100" dirty="0" err="1">
                <a:solidFill>
                  <a:schemeClr val="bg1"/>
                </a:solidFill>
              </a:rPr>
              <a:t>sudo</a:t>
            </a:r>
            <a:r>
              <a:rPr lang="en-US" sz="2100" dirty="0">
                <a:solidFill>
                  <a:schemeClr val="bg1"/>
                </a:solidFill>
              </a:rPr>
              <a:t>-pass   ask for </a:t>
            </a:r>
            <a:r>
              <a:rPr lang="en-US" sz="2100" dirty="0" err="1">
                <a:solidFill>
                  <a:schemeClr val="bg1"/>
                </a:solidFill>
              </a:rPr>
              <a:t>sudo</a:t>
            </a:r>
            <a:r>
              <a:rPr lang="en-US" sz="2100" dirty="0">
                <a:solidFill>
                  <a:schemeClr val="bg1"/>
                </a:solidFill>
              </a:rPr>
              <a:t> password</a:t>
            </a:r>
          </a:p>
          <a:p>
            <a:r>
              <a:rPr lang="en-US" sz="2100" dirty="0">
                <a:solidFill>
                  <a:schemeClr val="bg1"/>
                </a:solidFill>
              </a:rPr>
              <a:t>  --ask-vault-pass      ask for vault password</a:t>
            </a:r>
          </a:p>
          <a:p>
            <a:r>
              <a:rPr lang="en-US" sz="2100" dirty="0">
                <a:solidFill>
                  <a:schemeClr val="bg1"/>
                </a:solidFill>
              </a:rPr>
              <a:t>  -B SECONDS, --background=SECONDS</a:t>
            </a:r>
          </a:p>
          <a:p>
            <a:r>
              <a:rPr lang="en-US" sz="2100" dirty="0">
                <a:solidFill>
                  <a:schemeClr val="bg1"/>
                </a:solidFill>
              </a:rPr>
              <a:t>                        run asynchronously, failing after X seconds</a:t>
            </a:r>
          </a:p>
          <a:p>
            <a:r>
              <a:rPr lang="en-US" sz="2100" dirty="0">
                <a:solidFill>
                  <a:schemeClr val="bg1"/>
                </a:solidFill>
              </a:rPr>
              <a:t>                        (default=N/A)</a:t>
            </a:r>
          </a:p>
          <a:p>
            <a:r>
              <a:rPr lang="en-US" sz="2100" dirty="0">
                <a:solidFill>
                  <a:schemeClr val="bg1"/>
                </a:solidFill>
              </a:rPr>
              <a:t>………………………………………….</a:t>
            </a:r>
          </a:p>
        </p:txBody>
      </p:sp>
    </p:spTree>
    <p:extLst>
      <p:ext uri="{BB962C8B-B14F-4D97-AF65-F5344CB8AC3E}">
        <p14:creationId xmlns:p14="http://schemas.microsoft.com/office/powerpoint/2010/main" val="4228485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Ansible Ad hock command </a:t>
            </a:r>
          </a:p>
        </p:txBody>
      </p:sp>
      <p:pic>
        <p:nvPicPr>
          <p:cNvPr id="5" name="Picture 4"/>
          <p:cNvPicPr>
            <a:picLocks noChangeAspect="1"/>
          </p:cNvPicPr>
          <p:nvPr/>
        </p:nvPicPr>
        <p:blipFill>
          <a:blip r:embed="rId2"/>
          <a:stretch>
            <a:fillRect/>
          </a:stretch>
        </p:blipFill>
        <p:spPr>
          <a:xfrm>
            <a:off x="11101137" y="26683"/>
            <a:ext cx="1062728" cy="659117"/>
          </a:xfrm>
          <a:prstGeom prst="rect">
            <a:avLst/>
          </a:prstGeom>
        </p:spPr>
      </p:pic>
      <p:pic>
        <p:nvPicPr>
          <p:cNvPr id="6" name="Picture 5"/>
          <p:cNvPicPr>
            <a:picLocks noChangeAspect="1"/>
          </p:cNvPicPr>
          <p:nvPr/>
        </p:nvPicPr>
        <p:blipFill>
          <a:blip r:embed="rId3"/>
          <a:stretch>
            <a:fillRect/>
          </a:stretch>
        </p:blipFill>
        <p:spPr>
          <a:xfrm>
            <a:off x="684211" y="1488909"/>
            <a:ext cx="9053555" cy="3515614"/>
          </a:xfrm>
          <a:prstGeom prst="rect">
            <a:avLst/>
          </a:prstGeom>
        </p:spPr>
      </p:pic>
    </p:spTree>
    <p:extLst>
      <p:ext uri="{BB962C8B-B14F-4D97-AF65-F5344CB8AC3E}">
        <p14:creationId xmlns:p14="http://schemas.microsoft.com/office/powerpoint/2010/main" val="3707974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Vagrant + VirtualBox + Ansible Arch.</a:t>
            </a: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graphicFrame>
        <p:nvGraphicFramePr>
          <p:cNvPr id="7" name="Object 6"/>
          <p:cNvGraphicFramePr>
            <a:graphicFrameLocks noChangeAspect="1"/>
          </p:cNvGraphicFramePr>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7" name="Object 6"/>
                      <p:cNvPicPr/>
                      <p:nvPr/>
                    </p:nvPicPr>
                    <p:blipFill>
                      <a:blip r:embed="rId3"/>
                      <a:stretch>
                        <a:fillRect/>
                      </a:stretch>
                    </p:blipFill>
                    <p:spPr>
                      <a:xfrm>
                        <a:off x="11377862" y="78623"/>
                        <a:ext cx="749968" cy="526968"/>
                      </a:xfrm>
                      <a:prstGeom prst="rect">
                        <a:avLst/>
                      </a:prstGeom>
                    </p:spPr>
                  </p:pic>
                </p:oleObj>
              </mc:Fallback>
            </mc:AlternateContent>
          </a:graphicData>
        </a:graphic>
      </p:graphicFrame>
      <p:pic>
        <p:nvPicPr>
          <p:cNvPr id="6" name="Picture 5"/>
          <p:cNvPicPr>
            <a:picLocks noChangeAspect="1"/>
          </p:cNvPicPr>
          <p:nvPr/>
        </p:nvPicPr>
        <p:blipFill>
          <a:blip r:embed="rId4"/>
          <a:stretch>
            <a:fillRect/>
          </a:stretch>
        </p:blipFill>
        <p:spPr>
          <a:xfrm>
            <a:off x="11101137" y="26683"/>
            <a:ext cx="1062728" cy="659117"/>
          </a:xfrm>
          <a:prstGeom prst="rect">
            <a:avLst/>
          </a:prstGeom>
        </p:spPr>
      </p:pic>
      <p:sp>
        <p:nvSpPr>
          <p:cNvPr id="4" name="Rectangle: Rounded Corners 3">
            <a:extLst>
              <a:ext uri="{FF2B5EF4-FFF2-40B4-BE49-F238E27FC236}">
                <a16:creationId xmlns:a16="http://schemas.microsoft.com/office/drawing/2014/main" id="{ADDE3C74-FEE7-4544-B070-F7966F3F6E1B}"/>
              </a:ext>
            </a:extLst>
          </p:cNvPr>
          <p:cNvSpPr/>
          <p:nvPr/>
        </p:nvSpPr>
        <p:spPr>
          <a:xfrm>
            <a:off x="684211" y="1900051"/>
            <a:ext cx="11345493" cy="4073237"/>
          </a:xfrm>
          <a:prstGeom prst="roundRect">
            <a:avLst/>
          </a:prstGeom>
        </p:spPr>
        <p:style>
          <a:lnRef idx="2">
            <a:schemeClr val="accent1"/>
          </a:lnRef>
          <a:fillRef idx="1002">
            <a:schemeClr val="lt2"/>
          </a:fillRef>
          <a:effectRef idx="0">
            <a:schemeClr val="accent1"/>
          </a:effectRef>
          <a:fontRef idx="minor">
            <a:schemeClr val="dk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r>
              <a:rPr lang="en-IN" b="1" dirty="0"/>
              <a:t>Windows 10 PC</a:t>
            </a:r>
          </a:p>
        </p:txBody>
      </p:sp>
      <p:pic>
        <p:nvPicPr>
          <p:cNvPr id="10" name="Picture 9">
            <a:extLst>
              <a:ext uri="{FF2B5EF4-FFF2-40B4-BE49-F238E27FC236}">
                <a16:creationId xmlns:a16="http://schemas.microsoft.com/office/drawing/2014/main" id="{7DCB8C53-DE44-4CF6-8894-C3AC1B86D425}"/>
              </a:ext>
            </a:extLst>
          </p:cNvPr>
          <p:cNvPicPr>
            <a:picLocks noChangeAspect="1"/>
          </p:cNvPicPr>
          <p:nvPr/>
        </p:nvPicPr>
        <p:blipFill>
          <a:blip r:embed="rId5"/>
          <a:stretch>
            <a:fillRect/>
          </a:stretch>
        </p:blipFill>
        <p:spPr>
          <a:xfrm>
            <a:off x="2365021" y="4342227"/>
            <a:ext cx="1292345" cy="1031357"/>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69DEDB98-A8B0-438A-9C75-A535312D2490}"/>
              </a:ext>
            </a:extLst>
          </p:cNvPr>
          <p:cNvPicPr>
            <a:picLocks noChangeAspect="1"/>
          </p:cNvPicPr>
          <p:nvPr/>
        </p:nvPicPr>
        <p:blipFill>
          <a:blip r:embed="rId6"/>
          <a:stretch>
            <a:fillRect/>
          </a:stretch>
        </p:blipFill>
        <p:spPr>
          <a:xfrm>
            <a:off x="2365021" y="2421710"/>
            <a:ext cx="1313739" cy="797442"/>
          </a:xfrm>
          <a:prstGeom prst="rect">
            <a:avLst/>
          </a:prstGeom>
          <a:ln>
            <a:noFill/>
          </a:ln>
          <a:effectLst>
            <a:outerShdw blurRad="292100" dist="139700" dir="2700000" algn="tl" rotWithShape="0">
              <a:srgbClr val="333333">
                <a:alpha val="65000"/>
              </a:srgbClr>
            </a:outerShdw>
          </a:effectLst>
        </p:spPr>
      </p:pic>
      <p:cxnSp>
        <p:nvCxnSpPr>
          <p:cNvPr id="14" name="Straight Arrow Connector 13">
            <a:extLst>
              <a:ext uri="{FF2B5EF4-FFF2-40B4-BE49-F238E27FC236}">
                <a16:creationId xmlns:a16="http://schemas.microsoft.com/office/drawing/2014/main" id="{87DAA8C2-6D64-47E1-9A3D-E67B21E44F55}"/>
              </a:ext>
            </a:extLst>
          </p:cNvPr>
          <p:cNvCxnSpPr>
            <a:cxnSpLocks/>
            <a:stCxn id="10" idx="0"/>
          </p:cNvCxnSpPr>
          <p:nvPr/>
        </p:nvCxnSpPr>
        <p:spPr>
          <a:xfrm flipH="1" flipV="1">
            <a:off x="2963984" y="3438092"/>
            <a:ext cx="47210" cy="9041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0320F5A6-D36F-441B-A788-0B273B176DFE}"/>
              </a:ext>
            </a:extLst>
          </p:cNvPr>
          <p:cNvSpPr/>
          <p:nvPr/>
        </p:nvSpPr>
        <p:spPr>
          <a:xfrm>
            <a:off x="5379522" y="2087530"/>
            <a:ext cx="5399314" cy="170239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8" name="Picture 17">
            <a:extLst>
              <a:ext uri="{FF2B5EF4-FFF2-40B4-BE49-F238E27FC236}">
                <a16:creationId xmlns:a16="http://schemas.microsoft.com/office/drawing/2014/main" id="{FC6F8159-ADCC-41EA-921A-BAE08F15C2A4}"/>
              </a:ext>
            </a:extLst>
          </p:cNvPr>
          <p:cNvPicPr>
            <a:picLocks noChangeAspect="1"/>
          </p:cNvPicPr>
          <p:nvPr/>
        </p:nvPicPr>
        <p:blipFill>
          <a:blip r:embed="rId7"/>
          <a:stretch>
            <a:fillRect/>
          </a:stretch>
        </p:blipFill>
        <p:spPr>
          <a:xfrm>
            <a:off x="7174257" y="3514759"/>
            <a:ext cx="1809843" cy="552478"/>
          </a:xfrm>
          <a:prstGeom prst="rect">
            <a:avLst/>
          </a:prstGeom>
          <a:ln>
            <a:noFill/>
          </a:ln>
          <a:effectLst>
            <a:outerShdw blurRad="292100" dist="139700" dir="2700000" algn="tl" rotWithShape="0">
              <a:srgbClr val="333333">
                <a:alpha val="65000"/>
              </a:srgbClr>
            </a:outerShdw>
          </a:effectLst>
        </p:spPr>
      </p:pic>
      <p:cxnSp>
        <p:nvCxnSpPr>
          <p:cNvPr id="19" name="Straight Arrow Connector 18">
            <a:extLst>
              <a:ext uri="{FF2B5EF4-FFF2-40B4-BE49-F238E27FC236}">
                <a16:creationId xmlns:a16="http://schemas.microsoft.com/office/drawing/2014/main" id="{AFBCF1DA-1052-4E62-8A98-BE2BC6138DCC}"/>
              </a:ext>
            </a:extLst>
          </p:cNvPr>
          <p:cNvCxnSpPr>
            <a:cxnSpLocks/>
          </p:cNvCxnSpPr>
          <p:nvPr/>
        </p:nvCxnSpPr>
        <p:spPr>
          <a:xfrm>
            <a:off x="3817322" y="2938726"/>
            <a:ext cx="15622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35765E35-A3F8-40CE-A2A5-8CFCF206465B}"/>
              </a:ext>
            </a:extLst>
          </p:cNvPr>
          <p:cNvPicPr>
            <a:picLocks noChangeAspect="1"/>
          </p:cNvPicPr>
          <p:nvPr/>
        </p:nvPicPr>
        <p:blipFill>
          <a:blip r:embed="rId4"/>
          <a:stretch>
            <a:fillRect/>
          </a:stretch>
        </p:blipFill>
        <p:spPr>
          <a:xfrm>
            <a:off x="7174257" y="2380824"/>
            <a:ext cx="1562200" cy="838328"/>
          </a:xfrm>
          <a:prstGeom prst="rect">
            <a:avLst/>
          </a:prstGeom>
          <a:ln>
            <a:noFill/>
          </a:ln>
          <a:effectLst>
            <a:outerShdw blurRad="292100" dist="139700" dir="2700000" algn="tl" rotWithShape="0">
              <a:srgbClr val="333333">
                <a:alpha val="65000"/>
              </a:srgbClr>
            </a:outerShdw>
          </a:effectLst>
        </p:spPr>
      </p:pic>
      <p:sp>
        <p:nvSpPr>
          <p:cNvPr id="25" name="Oval 24">
            <a:extLst>
              <a:ext uri="{FF2B5EF4-FFF2-40B4-BE49-F238E27FC236}">
                <a16:creationId xmlns:a16="http://schemas.microsoft.com/office/drawing/2014/main" id="{5C145FA5-37CC-4D87-96D1-F8B6DF9A157C}"/>
              </a:ext>
            </a:extLst>
          </p:cNvPr>
          <p:cNvSpPr/>
          <p:nvPr/>
        </p:nvSpPr>
        <p:spPr>
          <a:xfrm>
            <a:off x="3817322" y="6400799"/>
            <a:ext cx="4919135" cy="293294"/>
          </a:xfrm>
          <a:prstGeom prst="ellipse">
            <a:avLst/>
          </a:prstGeom>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IN" dirty="0"/>
          </a:p>
        </p:txBody>
      </p:sp>
      <p:sp>
        <p:nvSpPr>
          <p:cNvPr id="26" name="Isosceles Triangle 25">
            <a:extLst>
              <a:ext uri="{FF2B5EF4-FFF2-40B4-BE49-F238E27FC236}">
                <a16:creationId xmlns:a16="http://schemas.microsoft.com/office/drawing/2014/main" id="{1F4EAE9F-FBC1-433B-B77A-CBF1DF9DF908}"/>
              </a:ext>
            </a:extLst>
          </p:cNvPr>
          <p:cNvSpPr/>
          <p:nvPr/>
        </p:nvSpPr>
        <p:spPr>
          <a:xfrm>
            <a:off x="5866410" y="5973288"/>
            <a:ext cx="771896" cy="614990"/>
          </a:xfrm>
          <a:prstGeom prst="triangle">
            <a:avLst/>
          </a:prstGeom>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033124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Vagrant + VirtualBox + CnetOS7</a:t>
            </a: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graphicFrame>
        <p:nvGraphicFramePr>
          <p:cNvPr id="7" name="Object 6"/>
          <p:cNvGraphicFramePr>
            <a:graphicFrameLocks noChangeAspect="1"/>
          </p:cNvGraphicFramePr>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7" name="Object 6"/>
                      <p:cNvPicPr/>
                      <p:nvPr/>
                    </p:nvPicPr>
                    <p:blipFill>
                      <a:blip r:embed="rId3"/>
                      <a:stretch>
                        <a:fillRect/>
                      </a:stretch>
                    </p:blipFill>
                    <p:spPr>
                      <a:xfrm>
                        <a:off x="11377862" y="78623"/>
                        <a:ext cx="749968" cy="526968"/>
                      </a:xfrm>
                      <a:prstGeom prst="rect">
                        <a:avLst/>
                      </a:prstGeom>
                    </p:spPr>
                  </p:pic>
                </p:oleObj>
              </mc:Fallback>
            </mc:AlternateContent>
          </a:graphicData>
        </a:graphic>
      </p:graphicFrame>
      <p:pic>
        <p:nvPicPr>
          <p:cNvPr id="6" name="Picture 5"/>
          <p:cNvPicPr>
            <a:picLocks noChangeAspect="1"/>
          </p:cNvPicPr>
          <p:nvPr/>
        </p:nvPicPr>
        <p:blipFill>
          <a:blip r:embed="rId4"/>
          <a:stretch>
            <a:fillRect/>
          </a:stretch>
        </p:blipFill>
        <p:spPr>
          <a:xfrm>
            <a:off x="11101137" y="26683"/>
            <a:ext cx="1062728" cy="659117"/>
          </a:xfrm>
          <a:prstGeom prst="rect">
            <a:avLst/>
          </a:prstGeom>
        </p:spPr>
      </p:pic>
      <p:sp>
        <p:nvSpPr>
          <p:cNvPr id="4" name="Rectangle: Rounded Corners 3">
            <a:extLst>
              <a:ext uri="{FF2B5EF4-FFF2-40B4-BE49-F238E27FC236}">
                <a16:creationId xmlns:a16="http://schemas.microsoft.com/office/drawing/2014/main" id="{ADDE3C74-FEE7-4544-B070-F7966F3F6E1B}"/>
              </a:ext>
            </a:extLst>
          </p:cNvPr>
          <p:cNvSpPr/>
          <p:nvPr/>
        </p:nvSpPr>
        <p:spPr>
          <a:xfrm>
            <a:off x="684211" y="1900051"/>
            <a:ext cx="11345493" cy="4073237"/>
          </a:xfrm>
          <a:prstGeom prst="roundRect">
            <a:avLst/>
          </a:prstGeom>
        </p:spPr>
        <p:style>
          <a:lnRef idx="2">
            <a:schemeClr val="accent1"/>
          </a:lnRef>
          <a:fillRef idx="1002">
            <a:schemeClr val="lt2"/>
          </a:fillRef>
          <a:effectRef idx="0">
            <a:schemeClr val="accent1"/>
          </a:effectRef>
          <a:fontRef idx="minor">
            <a:schemeClr val="dk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r>
              <a:rPr lang="en-IN" b="1" dirty="0"/>
              <a:t>Windows 10 PC</a:t>
            </a:r>
          </a:p>
        </p:txBody>
      </p:sp>
      <p:pic>
        <p:nvPicPr>
          <p:cNvPr id="10" name="Picture 9">
            <a:extLst>
              <a:ext uri="{FF2B5EF4-FFF2-40B4-BE49-F238E27FC236}">
                <a16:creationId xmlns:a16="http://schemas.microsoft.com/office/drawing/2014/main" id="{7DCB8C53-DE44-4CF6-8894-C3AC1B86D425}"/>
              </a:ext>
            </a:extLst>
          </p:cNvPr>
          <p:cNvPicPr>
            <a:picLocks noChangeAspect="1"/>
          </p:cNvPicPr>
          <p:nvPr/>
        </p:nvPicPr>
        <p:blipFill>
          <a:blip r:embed="rId5"/>
          <a:stretch>
            <a:fillRect/>
          </a:stretch>
        </p:blipFill>
        <p:spPr>
          <a:xfrm>
            <a:off x="848110" y="3096825"/>
            <a:ext cx="1292345" cy="1031357"/>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69DEDB98-A8B0-438A-9C75-A535312D2490}"/>
              </a:ext>
            </a:extLst>
          </p:cNvPr>
          <p:cNvPicPr>
            <a:picLocks noChangeAspect="1"/>
          </p:cNvPicPr>
          <p:nvPr/>
        </p:nvPicPr>
        <p:blipFill>
          <a:blip r:embed="rId6"/>
          <a:stretch>
            <a:fillRect/>
          </a:stretch>
        </p:blipFill>
        <p:spPr>
          <a:xfrm>
            <a:off x="2819862" y="3060109"/>
            <a:ext cx="1313739" cy="1068063"/>
          </a:xfrm>
          <a:prstGeom prst="rect">
            <a:avLst/>
          </a:prstGeom>
          <a:ln>
            <a:noFill/>
          </a:ln>
          <a:effectLst>
            <a:outerShdw blurRad="292100" dist="139700" dir="2700000" algn="tl" rotWithShape="0">
              <a:srgbClr val="333333">
                <a:alpha val="65000"/>
              </a:srgbClr>
            </a:outerShdw>
          </a:effectLst>
        </p:spPr>
      </p:pic>
      <p:cxnSp>
        <p:nvCxnSpPr>
          <p:cNvPr id="14" name="Straight Arrow Connector 13">
            <a:extLst>
              <a:ext uri="{FF2B5EF4-FFF2-40B4-BE49-F238E27FC236}">
                <a16:creationId xmlns:a16="http://schemas.microsoft.com/office/drawing/2014/main" id="{87DAA8C2-6D64-47E1-9A3D-E67B21E44F55}"/>
              </a:ext>
            </a:extLst>
          </p:cNvPr>
          <p:cNvCxnSpPr>
            <a:cxnSpLocks/>
          </p:cNvCxnSpPr>
          <p:nvPr/>
        </p:nvCxnSpPr>
        <p:spPr>
          <a:xfrm flipV="1">
            <a:off x="2184318" y="3642190"/>
            <a:ext cx="591681"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Rectangle: Rounded Corners 15">
            <a:extLst>
              <a:ext uri="{FF2B5EF4-FFF2-40B4-BE49-F238E27FC236}">
                <a16:creationId xmlns:a16="http://schemas.microsoft.com/office/drawing/2014/main" id="{0320F5A6-D36F-441B-A788-0B273B176DFE}"/>
              </a:ext>
            </a:extLst>
          </p:cNvPr>
          <p:cNvSpPr/>
          <p:nvPr/>
        </p:nvSpPr>
        <p:spPr>
          <a:xfrm>
            <a:off x="6435312" y="2051044"/>
            <a:ext cx="1562200" cy="10090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8" name="Picture 17">
            <a:extLst>
              <a:ext uri="{FF2B5EF4-FFF2-40B4-BE49-F238E27FC236}">
                <a16:creationId xmlns:a16="http://schemas.microsoft.com/office/drawing/2014/main" id="{FC6F8159-ADCC-41EA-921A-BAE08F15C2A4}"/>
              </a:ext>
            </a:extLst>
          </p:cNvPr>
          <p:cNvPicPr>
            <a:picLocks noChangeAspect="1"/>
          </p:cNvPicPr>
          <p:nvPr/>
        </p:nvPicPr>
        <p:blipFill>
          <a:blip r:embed="rId7"/>
          <a:stretch>
            <a:fillRect/>
          </a:stretch>
        </p:blipFill>
        <p:spPr>
          <a:xfrm>
            <a:off x="6535328" y="2814367"/>
            <a:ext cx="1285416" cy="392390"/>
          </a:xfrm>
          <a:prstGeom prst="rect">
            <a:avLst/>
          </a:prstGeom>
          <a:ln>
            <a:no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35765E35-A3F8-40CE-A2A5-8CFCF206465B}"/>
              </a:ext>
            </a:extLst>
          </p:cNvPr>
          <p:cNvPicPr>
            <a:picLocks noChangeAspect="1"/>
          </p:cNvPicPr>
          <p:nvPr/>
        </p:nvPicPr>
        <p:blipFill>
          <a:blip r:embed="rId4"/>
          <a:stretch>
            <a:fillRect/>
          </a:stretch>
        </p:blipFill>
        <p:spPr>
          <a:xfrm>
            <a:off x="6664629" y="2157530"/>
            <a:ext cx="1026814" cy="551022"/>
          </a:xfrm>
          <a:prstGeom prst="rect">
            <a:avLst/>
          </a:prstGeom>
          <a:ln>
            <a:noFill/>
          </a:ln>
          <a:effectLst>
            <a:outerShdw blurRad="292100" dist="139700" dir="2700000" algn="tl" rotWithShape="0">
              <a:srgbClr val="333333">
                <a:alpha val="65000"/>
              </a:srgbClr>
            </a:outerShdw>
          </a:effectLst>
        </p:spPr>
      </p:pic>
      <p:sp>
        <p:nvSpPr>
          <p:cNvPr id="25" name="Oval 24">
            <a:extLst>
              <a:ext uri="{FF2B5EF4-FFF2-40B4-BE49-F238E27FC236}">
                <a16:creationId xmlns:a16="http://schemas.microsoft.com/office/drawing/2014/main" id="{5C145FA5-37CC-4D87-96D1-F8B6DF9A157C}"/>
              </a:ext>
            </a:extLst>
          </p:cNvPr>
          <p:cNvSpPr/>
          <p:nvPr/>
        </p:nvSpPr>
        <p:spPr>
          <a:xfrm>
            <a:off x="3817322" y="6400799"/>
            <a:ext cx="4919135" cy="293294"/>
          </a:xfrm>
          <a:prstGeom prst="ellipse">
            <a:avLst/>
          </a:prstGeom>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IN" dirty="0"/>
          </a:p>
        </p:txBody>
      </p:sp>
      <p:sp>
        <p:nvSpPr>
          <p:cNvPr id="26" name="Isosceles Triangle 25">
            <a:extLst>
              <a:ext uri="{FF2B5EF4-FFF2-40B4-BE49-F238E27FC236}">
                <a16:creationId xmlns:a16="http://schemas.microsoft.com/office/drawing/2014/main" id="{1F4EAE9F-FBC1-433B-B77A-CBF1DF9DF908}"/>
              </a:ext>
            </a:extLst>
          </p:cNvPr>
          <p:cNvSpPr/>
          <p:nvPr/>
        </p:nvSpPr>
        <p:spPr>
          <a:xfrm>
            <a:off x="5866410" y="5973288"/>
            <a:ext cx="771896" cy="614990"/>
          </a:xfrm>
          <a:prstGeom prst="triangle">
            <a:avLst/>
          </a:prstGeom>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IN" dirty="0"/>
          </a:p>
        </p:txBody>
      </p:sp>
      <p:cxnSp>
        <p:nvCxnSpPr>
          <p:cNvPr id="22" name="Straight Arrow Connector 21">
            <a:extLst>
              <a:ext uri="{FF2B5EF4-FFF2-40B4-BE49-F238E27FC236}">
                <a16:creationId xmlns:a16="http://schemas.microsoft.com/office/drawing/2014/main" id="{AF4A744B-6BD7-419A-B50E-4C86D972BBF4}"/>
              </a:ext>
            </a:extLst>
          </p:cNvPr>
          <p:cNvCxnSpPr>
            <a:cxnSpLocks/>
          </p:cNvCxnSpPr>
          <p:nvPr/>
        </p:nvCxnSpPr>
        <p:spPr>
          <a:xfrm flipV="1">
            <a:off x="4221327" y="2555576"/>
            <a:ext cx="2213985" cy="10575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Rectangle: Rounded Corners 23">
            <a:extLst>
              <a:ext uri="{FF2B5EF4-FFF2-40B4-BE49-F238E27FC236}">
                <a16:creationId xmlns:a16="http://schemas.microsoft.com/office/drawing/2014/main" id="{86030DDB-52BD-47DE-960E-16B6FFC46970}"/>
              </a:ext>
            </a:extLst>
          </p:cNvPr>
          <p:cNvSpPr/>
          <p:nvPr/>
        </p:nvSpPr>
        <p:spPr>
          <a:xfrm>
            <a:off x="6435312" y="3956221"/>
            <a:ext cx="1562200" cy="10090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27" name="Picture 26">
            <a:extLst>
              <a:ext uri="{FF2B5EF4-FFF2-40B4-BE49-F238E27FC236}">
                <a16:creationId xmlns:a16="http://schemas.microsoft.com/office/drawing/2014/main" id="{AE7639EC-99CD-4FBB-8EC8-48DDCD65197E}"/>
              </a:ext>
            </a:extLst>
          </p:cNvPr>
          <p:cNvPicPr>
            <a:picLocks noChangeAspect="1"/>
          </p:cNvPicPr>
          <p:nvPr/>
        </p:nvPicPr>
        <p:blipFill>
          <a:blip r:embed="rId7"/>
          <a:stretch>
            <a:fillRect/>
          </a:stretch>
        </p:blipFill>
        <p:spPr>
          <a:xfrm>
            <a:off x="6535328" y="4719544"/>
            <a:ext cx="1285416" cy="392390"/>
          </a:xfrm>
          <a:prstGeom prst="rect">
            <a:avLst/>
          </a:prstGeom>
          <a:ln>
            <a:noFill/>
          </a:ln>
          <a:effectLst>
            <a:outerShdw blurRad="292100" dist="139700" dir="2700000" algn="tl" rotWithShape="0">
              <a:srgbClr val="333333">
                <a:alpha val="65000"/>
              </a:srgbClr>
            </a:outerShdw>
          </a:effectLst>
        </p:spPr>
      </p:pic>
      <p:cxnSp>
        <p:nvCxnSpPr>
          <p:cNvPr id="29" name="Straight Arrow Connector 28">
            <a:extLst>
              <a:ext uri="{FF2B5EF4-FFF2-40B4-BE49-F238E27FC236}">
                <a16:creationId xmlns:a16="http://schemas.microsoft.com/office/drawing/2014/main" id="{64E85092-524D-40D9-94E9-FF6A78F251A6}"/>
              </a:ext>
            </a:extLst>
          </p:cNvPr>
          <p:cNvCxnSpPr>
            <a:cxnSpLocks/>
          </p:cNvCxnSpPr>
          <p:nvPr/>
        </p:nvCxnSpPr>
        <p:spPr>
          <a:xfrm>
            <a:off x="4233617" y="3613109"/>
            <a:ext cx="2175503" cy="8961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2" name="Picture 11">
            <a:extLst>
              <a:ext uri="{FF2B5EF4-FFF2-40B4-BE49-F238E27FC236}">
                <a16:creationId xmlns:a16="http://schemas.microsoft.com/office/drawing/2014/main" id="{0F5F604B-743B-479E-9161-586DE570D803}"/>
              </a:ext>
            </a:extLst>
          </p:cNvPr>
          <p:cNvPicPr>
            <a:picLocks noChangeAspect="1"/>
          </p:cNvPicPr>
          <p:nvPr/>
        </p:nvPicPr>
        <p:blipFill>
          <a:blip r:embed="rId8"/>
          <a:stretch>
            <a:fillRect/>
          </a:stretch>
        </p:blipFill>
        <p:spPr>
          <a:xfrm>
            <a:off x="6752881" y="4053801"/>
            <a:ext cx="958822" cy="582022"/>
          </a:xfrm>
          <a:prstGeom prst="rect">
            <a:avLst/>
          </a:prstGeom>
        </p:spPr>
      </p:pic>
      <p:sp>
        <p:nvSpPr>
          <p:cNvPr id="15" name="Speech Bubble: Oval 14">
            <a:extLst>
              <a:ext uri="{FF2B5EF4-FFF2-40B4-BE49-F238E27FC236}">
                <a16:creationId xmlns:a16="http://schemas.microsoft.com/office/drawing/2014/main" id="{17801905-0AF1-42B4-9209-DC2611B78B8E}"/>
              </a:ext>
            </a:extLst>
          </p:cNvPr>
          <p:cNvSpPr/>
          <p:nvPr/>
        </p:nvSpPr>
        <p:spPr>
          <a:xfrm>
            <a:off x="8288973" y="2433041"/>
            <a:ext cx="3517425" cy="1209149"/>
          </a:xfrm>
          <a:prstGeom prst="wedgeEllipseCallout">
            <a:avLst>
              <a:gd name="adj1" fmla="val -57879"/>
              <a:gd name="adj2" fmla="val -4356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ansiblecontrolserver</a:t>
            </a:r>
          </a:p>
          <a:p>
            <a:pPr algn="ctr"/>
            <a:r>
              <a:rPr lang="en-IN" dirty="0"/>
              <a:t>192.168.10.5</a:t>
            </a:r>
          </a:p>
        </p:txBody>
      </p:sp>
      <p:sp>
        <p:nvSpPr>
          <p:cNvPr id="30" name="Speech Bubble: Oval 29">
            <a:extLst>
              <a:ext uri="{FF2B5EF4-FFF2-40B4-BE49-F238E27FC236}">
                <a16:creationId xmlns:a16="http://schemas.microsoft.com/office/drawing/2014/main" id="{456D7191-3603-4965-B638-935E69DBC10C}"/>
              </a:ext>
            </a:extLst>
          </p:cNvPr>
          <p:cNvSpPr/>
          <p:nvPr/>
        </p:nvSpPr>
        <p:spPr>
          <a:xfrm>
            <a:off x="8318677" y="4053801"/>
            <a:ext cx="3517425" cy="1209149"/>
          </a:xfrm>
          <a:prstGeom prst="wedgeEllipseCallout">
            <a:avLst>
              <a:gd name="adj1" fmla="val -58892"/>
              <a:gd name="adj2" fmla="val -1705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webserver01</a:t>
            </a:r>
          </a:p>
          <a:p>
            <a:pPr algn="ctr"/>
            <a:r>
              <a:rPr lang="en-IN" dirty="0"/>
              <a:t>192.168.10.6</a:t>
            </a:r>
          </a:p>
        </p:txBody>
      </p:sp>
      <p:sp>
        <p:nvSpPr>
          <p:cNvPr id="5" name="TextBox 4">
            <a:extLst>
              <a:ext uri="{FF2B5EF4-FFF2-40B4-BE49-F238E27FC236}">
                <a16:creationId xmlns:a16="http://schemas.microsoft.com/office/drawing/2014/main" id="{FDFE27D9-2692-4EB4-834B-E5DA6A8D8C9F}"/>
              </a:ext>
            </a:extLst>
          </p:cNvPr>
          <p:cNvSpPr txBox="1"/>
          <p:nvPr/>
        </p:nvSpPr>
        <p:spPr>
          <a:xfrm>
            <a:off x="5220980" y="3123581"/>
            <a:ext cx="468880" cy="923330"/>
          </a:xfrm>
          <a:prstGeom prst="rect">
            <a:avLst/>
          </a:prstGeom>
          <a:noFill/>
        </p:spPr>
        <p:txBody>
          <a:bodyPr wrap="square" rtlCol="0">
            <a:spAutoFit/>
          </a:bodyPr>
          <a:lstStyle/>
          <a:p>
            <a:r>
              <a:rPr lang="en-IN" b="1" dirty="0">
                <a:solidFill>
                  <a:srgbClr val="FF0000"/>
                </a:solidFill>
              </a:rPr>
              <a:t>s</a:t>
            </a:r>
          </a:p>
          <a:p>
            <a:r>
              <a:rPr lang="en-IN" b="1" dirty="0">
                <a:solidFill>
                  <a:srgbClr val="FF0000"/>
                </a:solidFill>
              </a:rPr>
              <a:t>s</a:t>
            </a:r>
          </a:p>
          <a:p>
            <a:r>
              <a:rPr lang="en-IN" b="1" dirty="0">
                <a:solidFill>
                  <a:srgbClr val="FF0000"/>
                </a:solidFill>
              </a:rPr>
              <a:t>h</a:t>
            </a:r>
          </a:p>
        </p:txBody>
      </p:sp>
      <p:cxnSp>
        <p:nvCxnSpPr>
          <p:cNvPr id="9" name="Straight Arrow Connector 8">
            <a:extLst>
              <a:ext uri="{FF2B5EF4-FFF2-40B4-BE49-F238E27FC236}">
                <a16:creationId xmlns:a16="http://schemas.microsoft.com/office/drawing/2014/main" id="{9CACB381-BA75-4B7F-8C20-85F6E2A491AA}"/>
              </a:ext>
            </a:extLst>
          </p:cNvPr>
          <p:cNvCxnSpPr>
            <a:cxnSpLocks/>
            <a:stCxn id="18" idx="2"/>
          </p:cNvCxnSpPr>
          <p:nvPr/>
        </p:nvCxnSpPr>
        <p:spPr>
          <a:xfrm>
            <a:off x="7178036" y="3206757"/>
            <a:ext cx="0" cy="74946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8" name="TextBox 27">
            <a:extLst>
              <a:ext uri="{FF2B5EF4-FFF2-40B4-BE49-F238E27FC236}">
                <a16:creationId xmlns:a16="http://schemas.microsoft.com/office/drawing/2014/main" id="{13689589-6961-4BB2-8F23-C019AB18F78D}"/>
              </a:ext>
            </a:extLst>
          </p:cNvPr>
          <p:cNvSpPr txBox="1"/>
          <p:nvPr/>
        </p:nvSpPr>
        <p:spPr>
          <a:xfrm>
            <a:off x="7185063" y="3353405"/>
            <a:ext cx="971306" cy="369332"/>
          </a:xfrm>
          <a:prstGeom prst="rect">
            <a:avLst/>
          </a:prstGeom>
          <a:noFill/>
        </p:spPr>
        <p:txBody>
          <a:bodyPr wrap="square" rtlCol="0">
            <a:spAutoFit/>
          </a:bodyPr>
          <a:lstStyle/>
          <a:p>
            <a:r>
              <a:rPr lang="en-IN" b="1" dirty="0" err="1">
                <a:solidFill>
                  <a:srgbClr val="FF0000"/>
                </a:solidFill>
              </a:rPr>
              <a:t>ssh</a:t>
            </a:r>
            <a:endParaRPr lang="en-IN" b="1" dirty="0">
              <a:solidFill>
                <a:srgbClr val="FF0000"/>
              </a:solidFill>
            </a:endParaRPr>
          </a:p>
        </p:txBody>
      </p:sp>
    </p:spTree>
    <p:extLst>
      <p:ext uri="{BB962C8B-B14F-4D97-AF65-F5344CB8AC3E}">
        <p14:creationId xmlns:p14="http://schemas.microsoft.com/office/powerpoint/2010/main" val="1534822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err="1">
                <a:solidFill>
                  <a:schemeClr val="tx1"/>
                </a:solidFill>
              </a:rPr>
              <a:t>Ansible</a:t>
            </a:r>
            <a:r>
              <a:rPr lang="en-US" dirty="0">
                <a:solidFill>
                  <a:schemeClr val="tx1"/>
                </a:solidFill>
              </a:rPr>
              <a:t> </a:t>
            </a:r>
            <a:r>
              <a:rPr lang="en-US" dirty="0" err="1">
                <a:solidFill>
                  <a:schemeClr val="tx1"/>
                </a:solidFill>
              </a:rPr>
              <a:t>Boto</a:t>
            </a:r>
            <a:r>
              <a:rPr lang="en-US" dirty="0">
                <a:solidFill>
                  <a:schemeClr val="tx1"/>
                </a:solidFill>
              </a:rPr>
              <a:t> </a:t>
            </a:r>
            <a:r>
              <a:rPr lang="en-US" dirty="0" err="1">
                <a:solidFill>
                  <a:schemeClr val="tx1"/>
                </a:solidFill>
              </a:rPr>
              <a:t>Dyn</a:t>
            </a:r>
            <a:r>
              <a:rPr lang="en-US" dirty="0">
                <a:solidFill>
                  <a:schemeClr val="tx1"/>
                </a:solidFill>
              </a:rPr>
              <a:t> </a:t>
            </a:r>
            <a:r>
              <a:rPr lang="en-US" dirty="0" err="1">
                <a:solidFill>
                  <a:schemeClr val="tx1"/>
                </a:solidFill>
              </a:rPr>
              <a:t>Inv</a:t>
            </a:r>
            <a:endParaRPr lang="en-US" dirty="0">
              <a:solidFill>
                <a:schemeClr val="tx1"/>
              </a:solidFill>
            </a:endParaRPr>
          </a:p>
        </p:txBody>
      </p:sp>
      <p:pic>
        <p:nvPicPr>
          <p:cNvPr id="5" name="Picture 4"/>
          <p:cNvPicPr>
            <a:picLocks noChangeAspect="1"/>
          </p:cNvPicPr>
          <p:nvPr/>
        </p:nvPicPr>
        <p:blipFill>
          <a:blip r:embed="rId3"/>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3951222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AWS, region &amp; </a:t>
            </a:r>
            <a:r>
              <a:rPr lang="en-US" dirty="0" err="1">
                <a:solidFill>
                  <a:schemeClr val="tx1"/>
                </a:solidFill>
              </a:rPr>
              <a:t>Az’s</a:t>
            </a:r>
            <a:endParaRPr lang="en-US" dirty="0">
              <a:solidFill>
                <a:schemeClr val="tx1"/>
              </a:solidFill>
            </a:endParaRP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1" y="1677111"/>
            <a:ext cx="2196441" cy="4372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4"/>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2261938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AWS, AWS VPC</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1" y="1645027"/>
            <a:ext cx="11122778" cy="4675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a:blip r:embed="rId4"/>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1371943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AWS, VPC with HA</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2" y="1484006"/>
            <a:ext cx="9310020" cy="5077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4"/>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1794458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AWS AZ’s</a:t>
            </a:r>
          </a:p>
        </p:txBody>
      </p:sp>
      <p:pic>
        <p:nvPicPr>
          <p:cNvPr id="4" name="Picture 3"/>
          <p:cNvPicPr>
            <a:picLocks noChangeAspect="1"/>
          </p:cNvPicPr>
          <p:nvPr/>
        </p:nvPicPr>
        <p:blipFill>
          <a:blip r:embed="rId3"/>
          <a:stretch>
            <a:fillRect/>
          </a:stretch>
        </p:blipFill>
        <p:spPr>
          <a:xfrm>
            <a:off x="2711116" y="1879685"/>
            <a:ext cx="6847178" cy="4376736"/>
          </a:xfrm>
          <a:prstGeom prst="rect">
            <a:avLst/>
          </a:prstGeom>
        </p:spPr>
      </p:pic>
      <p:pic>
        <p:nvPicPr>
          <p:cNvPr id="6" name="Picture 5"/>
          <p:cNvPicPr>
            <a:picLocks noChangeAspect="1"/>
          </p:cNvPicPr>
          <p:nvPr/>
        </p:nvPicPr>
        <p:blipFill>
          <a:blip r:embed="rId4"/>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803100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AWS Services</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1" y="1693334"/>
            <a:ext cx="10585176" cy="3797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3145986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4632" y="0"/>
            <a:ext cx="6962273" cy="6858000"/>
          </a:xfrm>
          <a:prstGeom prst="rect">
            <a:avLst/>
          </a:prstGeom>
        </p:spPr>
      </p:pic>
      <p:pic>
        <p:nvPicPr>
          <p:cNvPr id="4" name="Picture 3"/>
          <p:cNvPicPr>
            <a:picLocks noChangeAspect="1"/>
          </p:cNvPicPr>
          <p:nvPr/>
        </p:nvPicPr>
        <p:blipFill>
          <a:blip r:embed="rId4"/>
          <a:stretch>
            <a:fillRect/>
          </a:stretch>
        </p:blipFill>
        <p:spPr>
          <a:xfrm>
            <a:off x="11101137" y="26683"/>
            <a:ext cx="1062728" cy="659117"/>
          </a:xfrm>
          <a:prstGeom prst="rect">
            <a:avLst/>
          </a:prstGeom>
        </p:spPr>
      </p:pic>
    </p:spTree>
    <p:extLst>
      <p:ext uri="{BB962C8B-B14F-4D97-AF65-F5344CB8AC3E}">
        <p14:creationId xmlns:p14="http://schemas.microsoft.com/office/powerpoint/2010/main" val="137220296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3.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4.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docProps/app.xml><?xml version="1.0" encoding="utf-8"?>
<Properties xmlns="http://schemas.openxmlformats.org/officeDocument/2006/extended-properties" xmlns:vt="http://schemas.openxmlformats.org/officeDocument/2006/docPropsVTypes">
  <Template/>
  <TotalTime>12608</TotalTime>
  <Words>780</Words>
  <Application>Microsoft Office PowerPoint</Application>
  <PresentationFormat>Widescreen</PresentationFormat>
  <Paragraphs>290</Paragraphs>
  <Slides>25</Slides>
  <Notes>12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0" baseType="lpstr">
      <vt:lpstr>Calibri</vt:lpstr>
      <vt:lpstr>Century Gothic</vt:lpstr>
      <vt:lpstr>Wingdings 3</vt:lpstr>
      <vt:lpstr>Slice</vt:lpstr>
      <vt:lpstr>Bitmap Image</vt:lpstr>
      <vt:lpstr>PowerPoint Presentation</vt:lpstr>
      <vt:lpstr>PowerPoint Presentation</vt:lpstr>
      <vt:lpstr>What is Ansible?</vt:lpstr>
      <vt:lpstr>What is Ansible?</vt:lpstr>
      <vt:lpstr>Why Ansible?</vt:lpstr>
      <vt:lpstr>Ansible Vs Others</vt:lpstr>
      <vt:lpstr>Ansible in XebiaLabs</vt:lpstr>
      <vt:lpstr>Ansible Architecture</vt:lpstr>
      <vt:lpstr>Ansible control Server and Inside</vt:lpstr>
      <vt:lpstr>Ansible Architecture Envs</vt:lpstr>
      <vt:lpstr>Ansible in Configuration/Deployment </vt:lpstr>
      <vt:lpstr>Ansible Standards and Best Practices</vt:lpstr>
      <vt:lpstr>Ansible playbook</vt:lpstr>
      <vt:lpstr>Verifying the Installation </vt:lpstr>
      <vt:lpstr>Verifying the Installation </vt:lpstr>
      <vt:lpstr>Ansible Ad hock command </vt:lpstr>
      <vt:lpstr>Vagrant + VirtualBox + Ansible Arch.</vt:lpstr>
      <vt:lpstr>Vagrant + VirtualBox + CnetOS7</vt:lpstr>
      <vt:lpstr>Ansible Boto Dyn Inv</vt:lpstr>
      <vt:lpstr>AWS, region &amp; Az’s</vt:lpstr>
      <vt:lpstr>AWS, AWS VPC</vt:lpstr>
      <vt:lpstr>AWS, VPC with HA</vt:lpstr>
      <vt:lpstr>AWS AZ’s</vt:lpstr>
      <vt:lpstr>AWS Services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Cloud solution for AWSomeTrips</dc:title>
  <dc:creator>vinod.k</dc:creator>
  <cp:lastModifiedBy>Kumar Kumar</cp:lastModifiedBy>
  <cp:revision>430</cp:revision>
  <dcterms:created xsi:type="dcterms:W3CDTF">2018-04-05T06:53:35Z</dcterms:created>
  <dcterms:modified xsi:type="dcterms:W3CDTF">2025-11-08T15:33:17Z</dcterms:modified>
</cp:coreProperties>
</file>