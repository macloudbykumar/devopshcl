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361" r:id="rId2"/>
    <p:sldId id="256" r:id="rId3"/>
    <p:sldId id="337" r:id="rId4"/>
    <p:sldId id="317" r:id="rId5"/>
    <p:sldId id="357" r:id="rId6"/>
    <p:sldId id="356" r:id="rId7"/>
    <p:sldId id="351" r:id="rId8"/>
    <p:sldId id="358" r:id="rId9"/>
    <p:sldId id="360" r:id="rId10"/>
    <p:sldId id="3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2999" autoAdjust="0"/>
  </p:normalViewPr>
  <p:slideViewPr>
    <p:cSldViewPr snapToGrid="0">
      <p:cViewPr varScale="1">
        <p:scale>
          <a:sx n="56" d="100"/>
          <a:sy n="56" d="100"/>
        </p:scale>
        <p:origin x="1068" y="40"/>
      </p:cViewPr>
      <p:guideLst>
        <p:guide orient="horz" pos="2160"/>
        <p:guide pos="3840"/>
      </p:guideLst>
    </p:cSldViewPr>
  </p:slideViewPr>
  <p:notesTextViewPr>
    <p:cViewPr>
      <p:scale>
        <a:sx n="1" d="1"/>
        <a:sy n="1" d="1"/>
      </p:scale>
      <p:origin x="0" y="0"/>
    </p:cViewPr>
  </p:notesTextViewPr>
  <p:sorterViewPr>
    <p:cViewPr>
      <p:scale>
        <a:sx n="100" d="100"/>
        <a:sy n="100" d="100"/>
      </p:scale>
      <p:origin x="0" y="-23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033EC-38BF-4AD4-9467-7D2380108C19}" type="datetimeFigureOut">
              <a:rPr lang="en-US" smtClean="0"/>
              <a:t>5/19/2020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A354F-E8EA-4E4F-BEEB-F269B5F913B6}" type="slidenum">
              <a:rPr lang="en-US" smtClean="0"/>
              <a:t>‹#›</a:t>
            </a:fld>
            <a:endParaRPr lang="en-US"/>
          </a:p>
        </p:txBody>
      </p:sp>
    </p:spTree>
    <p:extLst>
      <p:ext uri="{BB962C8B-B14F-4D97-AF65-F5344CB8AC3E}">
        <p14:creationId xmlns:p14="http://schemas.microsoft.com/office/powerpoint/2010/main" val="190164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Amazon_Machine_Imag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a:t>
            </a:fld>
            <a:endParaRPr lang="en-US"/>
          </a:p>
        </p:txBody>
      </p:sp>
    </p:spTree>
    <p:extLst>
      <p:ext uri="{BB962C8B-B14F-4D97-AF65-F5344CB8AC3E}">
        <p14:creationId xmlns:p14="http://schemas.microsoft.com/office/powerpoint/2010/main" val="701382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EF8521-6F21-4F6F-8C00-A03CA31E9793}" type="slidenum">
              <a:rPr lang="en-IN" smtClean="0"/>
              <a:t>2</a:t>
            </a:fld>
            <a:endParaRPr lang="en-IN"/>
          </a:p>
        </p:txBody>
      </p:sp>
    </p:spTree>
    <p:extLst>
      <p:ext uri="{BB962C8B-B14F-4D97-AF65-F5344CB8AC3E}">
        <p14:creationId xmlns:p14="http://schemas.microsoft.com/office/powerpoint/2010/main" val="179416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solidFill>
                <a:schemeClr val="bg1"/>
              </a:solidFill>
            </a:endParaRPr>
          </a:p>
          <a:p>
            <a:r>
              <a:rPr lang="en-US" sz="1200" dirty="0">
                <a:solidFill>
                  <a:schemeClr val="bg1"/>
                </a:solidFill>
              </a:rPr>
              <a:t>Hello and welcome to this course, Hands-on Packer, where we're going to learn and get our hands dirty about Build automated machine images in AWS using the open source software, Packer. Throughout this course we'll be showing you the concepts and fundamentals of the software, along with real world examples and exercises on doing many AMI related tasks. My name is Vinod kumar, and in this module we'll be introducing packer, what it can do, and why you'd want to use it.</a:t>
            </a:r>
          </a:p>
          <a:p>
            <a:endParaRPr lang="en-US" sz="1200" dirty="0">
              <a:solidFill>
                <a:schemeClr val="bg1"/>
              </a:solidFill>
            </a:endParaRPr>
          </a:p>
          <a:p>
            <a:endParaRPr lang="en-US" sz="1200" dirty="0">
              <a:solidFill>
                <a:schemeClr val="bg1"/>
              </a:solidFill>
            </a:endParaRPr>
          </a:p>
          <a:p>
            <a:r>
              <a:rPr lang="en-US" sz="1200" dirty="0">
                <a:solidFill>
                  <a:schemeClr val="bg1"/>
                </a:solidFill>
              </a:rPr>
              <a:t>Packer is an open source tool for creating identical machine images for multiple platforms from a single source configuration. Packer is lightweight, runs on every major operating system, and is highly performant, creating machine images for multiple platforms in parallel. Packer does not replace configuration management like Chef or Puppet. In fact, when building images, Packer is able to use tools like Chef or Puppet to install software onto the image.</a:t>
            </a:r>
          </a:p>
          <a:p>
            <a:r>
              <a:rPr lang="en-US" sz="1200" dirty="0">
                <a:solidFill>
                  <a:schemeClr val="bg1"/>
                </a:solidFill>
              </a:rPr>
              <a:t>A machine image is a single static unit that contains a pre-configured operating system and installed software which is used to quickly create new running machines. Machine image formats change for each platform. Some examples include </a:t>
            </a:r>
            <a:r>
              <a:rPr lang="en-US" sz="1200" dirty="0">
                <a:solidFill>
                  <a:schemeClr val="bg1"/>
                </a:solidFill>
                <a:hlinkClick r:id="rId3"/>
              </a:rPr>
              <a:t>AMIs</a:t>
            </a:r>
            <a:r>
              <a:rPr lang="en-US" sz="1200" dirty="0">
                <a:solidFill>
                  <a:schemeClr val="bg1"/>
                </a:solidFill>
              </a:rPr>
              <a:t> for EC2, VMDK/VMX files for VMware, OVF exports for VirtualBox, etc.</a:t>
            </a:r>
          </a:p>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3</a:t>
            </a:fld>
            <a:endParaRPr lang="en-US"/>
          </a:p>
        </p:txBody>
      </p:sp>
    </p:spTree>
    <p:extLst>
      <p:ext uri="{BB962C8B-B14F-4D97-AF65-F5344CB8AC3E}">
        <p14:creationId xmlns:p14="http://schemas.microsoft.com/office/powerpoint/2010/main" val="2771366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5</a:t>
            </a:fld>
            <a:endParaRPr lang="en-US"/>
          </a:p>
        </p:txBody>
      </p:sp>
    </p:spTree>
    <p:extLst>
      <p:ext uri="{BB962C8B-B14F-4D97-AF65-F5344CB8AC3E}">
        <p14:creationId xmlns:p14="http://schemas.microsoft.com/office/powerpoint/2010/main" val="3466173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6</a:t>
            </a:fld>
            <a:endParaRPr lang="en-US"/>
          </a:p>
        </p:txBody>
      </p:sp>
    </p:spTree>
    <p:extLst>
      <p:ext uri="{BB962C8B-B14F-4D97-AF65-F5344CB8AC3E}">
        <p14:creationId xmlns:p14="http://schemas.microsoft.com/office/powerpoint/2010/main" val="2722405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7</a:t>
            </a:fld>
            <a:endParaRPr lang="en-US"/>
          </a:p>
        </p:txBody>
      </p:sp>
    </p:spTree>
    <p:extLst>
      <p:ext uri="{BB962C8B-B14F-4D97-AF65-F5344CB8AC3E}">
        <p14:creationId xmlns:p14="http://schemas.microsoft.com/office/powerpoint/2010/main" val="3500454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8</a:t>
            </a:fld>
            <a:endParaRPr lang="en-US"/>
          </a:p>
        </p:txBody>
      </p:sp>
    </p:spTree>
    <p:extLst>
      <p:ext uri="{BB962C8B-B14F-4D97-AF65-F5344CB8AC3E}">
        <p14:creationId xmlns:p14="http://schemas.microsoft.com/office/powerpoint/2010/main" val="2409832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9</a:t>
            </a:fld>
            <a:endParaRPr lang="en-US"/>
          </a:p>
        </p:txBody>
      </p:sp>
    </p:spTree>
    <p:extLst>
      <p:ext uri="{BB962C8B-B14F-4D97-AF65-F5344CB8AC3E}">
        <p14:creationId xmlns:p14="http://schemas.microsoft.com/office/powerpoint/2010/main" val="4057432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EF8521-6F21-4F6F-8C00-A03CA31E9793}" type="slidenum">
              <a:rPr lang="en-IN" smtClean="0"/>
              <a:t>10</a:t>
            </a:fld>
            <a:endParaRPr lang="en-IN"/>
          </a:p>
        </p:txBody>
      </p:sp>
    </p:spTree>
    <p:extLst>
      <p:ext uri="{BB962C8B-B14F-4D97-AF65-F5344CB8AC3E}">
        <p14:creationId xmlns:p14="http://schemas.microsoft.com/office/powerpoint/2010/main" val="3936567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5/19/2020</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with other tools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p:cNvPicPr>
            <a:picLocks noChangeAspect="1"/>
          </p:cNvPicPr>
          <p:nvPr/>
        </p:nvPicPr>
        <p:blipFill>
          <a:blip r:embed="rId3"/>
          <a:stretch>
            <a:fillRect/>
          </a:stretch>
        </p:blipFill>
        <p:spPr>
          <a:xfrm>
            <a:off x="10801790" y="47124"/>
            <a:ext cx="1362075" cy="590550"/>
          </a:xfrm>
          <a:prstGeom prst="rect">
            <a:avLst/>
          </a:prstGeom>
        </p:spPr>
      </p:pic>
      <p:pic>
        <p:nvPicPr>
          <p:cNvPr id="3" name="Picture 2"/>
          <p:cNvPicPr>
            <a:picLocks noChangeAspect="1"/>
          </p:cNvPicPr>
          <p:nvPr/>
        </p:nvPicPr>
        <p:blipFill>
          <a:blip r:embed="rId4"/>
          <a:stretch>
            <a:fillRect/>
          </a:stretch>
        </p:blipFill>
        <p:spPr>
          <a:xfrm>
            <a:off x="1155032" y="1660956"/>
            <a:ext cx="9801726" cy="4584749"/>
          </a:xfrm>
          <a:prstGeom prst="rect">
            <a:avLst/>
          </a:prstGeom>
        </p:spPr>
      </p:pic>
    </p:spTree>
    <p:extLst>
      <p:ext uri="{BB962C8B-B14F-4D97-AF65-F5344CB8AC3E}">
        <p14:creationId xmlns:p14="http://schemas.microsoft.com/office/powerpoint/2010/main" val="468230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5E6377-1083-4C63-87BA-EEBC305EA4BD}"/>
              </a:ext>
            </a:extLst>
          </p:cNvPr>
          <p:cNvSpPr txBox="1"/>
          <p:nvPr/>
        </p:nvSpPr>
        <p:spPr>
          <a:xfrm>
            <a:off x="502762" y="3075057"/>
            <a:ext cx="1899920" cy="584775"/>
          </a:xfrm>
          <a:prstGeom prst="rect">
            <a:avLst/>
          </a:prstGeom>
          <a:noFill/>
        </p:spPr>
        <p:txBody>
          <a:bodyPr wrap="square" rtlCol="0">
            <a:spAutoFit/>
          </a:bodyPr>
          <a:lstStyle/>
          <a:p>
            <a:r>
              <a:rPr lang="en-IN" sz="3200" dirty="0">
                <a:ln w="0"/>
                <a:solidFill>
                  <a:schemeClr val="accent1"/>
                </a:solidFill>
                <a:effectLst>
                  <a:outerShdw blurRad="38100" dist="25400" dir="5400000" algn="ctr" rotWithShape="0">
                    <a:srgbClr val="6E747A">
                      <a:alpha val="43000"/>
                    </a:srgbClr>
                  </a:outerShdw>
                </a:effectLst>
              </a:rPr>
              <a:t>Agenda</a:t>
            </a:r>
          </a:p>
        </p:txBody>
      </p:sp>
      <p:sp>
        <p:nvSpPr>
          <p:cNvPr id="5" name="Rectangle 4">
            <a:extLst>
              <a:ext uri="{FF2B5EF4-FFF2-40B4-BE49-F238E27FC236}">
                <a16:creationId xmlns:a16="http://schemas.microsoft.com/office/drawing/2014/main" id="{5747C3D0-461A-42CC-B5D0-B66F2CE76C2F}"/>
              </a:ext>
            </a:extLst>
          </p:cNvPr>
          <p:cNvSpPr/>
          <p:nvPr/>
        </p:nvSpPr>
        <p:spPr>
          <a:xfrm>
            <a:off x="2570480" y="782320"/>
            <a:ext cx="81280" cy="5699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E1DBD46-CADA-449E-A70E-56E8671B7C41}"/>
              </a:ext>
            </a:extLst>
          </p:cNvPr>
          <p:cNvSpPr txBox="1"/>
          <p:nvPr/>
        </p:nvSpPr>
        <p:spPr>
          <a:xfrm>
            <a:off x="3190240" y="944880"/>
            <a:ext cx="5140960" cy="1754326"/>
          </a:xfrm>
          <a:prstGeom prst="rect">
            <a:avLst/>
          </a:prstGeom>
          <a:noFill/>
        </p:spPr>
        <p:txBody>
          <a:bodyPr wrap="square" rtlCol="0">
            <a:spAutoFit/>
          </a:bodyPr>
          <a:lstStyle/>
          <a:p>
            <a:r>
              <a:rPr lang="en-US" dirty="0">
                <a:solidFill>
                  <a:schemeClr val="bg1"/>
                </a:solidFill>
              </a:rPr>
              <a:t>About Packer</a:t>
            </a:r>
          </a:p>
          <a:p>
            <a:r>
              <a:rPr lang="en-US" dirty="0">
                <a:solidFill>
                  <a:schemeClr val="bg1"/>
                </a:solidFill>
              </a:rPr>
              <a:t>Packer Template *.json file</a:t>
            </a:r>
          </a:p>
          <a:p>
            <a:r>
              <a:rPr lang="en-US" dirty="0">
                <a:solidFill>
                  <a:schemeClr val="bg1"/>
                </a:solidFill>
              </a:rPr>
              <a:t>Packer Architecture</a:t>
            </a:r>
          </a:p>
          <a:p>
            <a:r>
              <a:rPr lang="en-US" dirty="0">
                <a:solidFill>
                  <a:schemeClr val="bg1"/>
                </a:solidFill>
              </a:rPr>
              <a:t>Packer with Clouds providers</a:t>
            </a:r>
          </a:p>
          <a:p>
            <a:r>
              <a:rPr lang="en-US" dirty="0">
                <a:solidFill>
                  <a:schemeClr val="bg1"/>
                </a:solidFill>
              </a:rPr>
              <a:t>Packer with other tools</a:t>
            </a:r>
          </a:p>
          <a:p>
            <a:endParaRPr lang="en-IN" dirty="0">
              <a:solidFill>
                <a:schemeClr val="bg1"/>
              </a:solidFill>
            </a:endParaRPr>
          </a:p>
        </p:txBody>
      </p:sp>
      <p:pic>
        <p:nvPicPr>
          <p:cNvPr id="7" name="Picture 6">
            <a:extLst>
              <a:ext uri="{FF2B5EF4-FFF2-40B4-BE49-F238E27FC236}">
                <a16:creationId xmlns:a16="http://schemas.microsoft.com/office/drawing/2014/main" id="{1D662AE0-14D6-4E47-BC74-0F4B5AEC9D48}"/>
              </a:ext>
            </a:extLst>
          </p:cNvPr>
          <p:cNvPicPr>
            <a:picLocks noChangeAspect="1"/>
          </p:cNvPicPr>
          <p:nvPr/>
        </p:nvPicPr>
        <p:blipFill>
          <a:blip r:embed="rId3"/>
          <a:stretch>
            <a:fillRect/>
          </a:stretch>
        </p:blipFill>
        <p:spPr>
          <a:xfrm>
            <a:off x="7104440" y="532116"/>
            <a:ext cx="4746515" cy="1985052"/>
          </a:xfrm>
          <a:prstGeom prst="rect">
            <a:avLst/>
          </a:prstGeom>
        </p:spPr>
      </p:pic>
    </p:spTree>
    <p:extLst>
      <p:ext uri="{BB962C8B-B14F-4D97-AF65-F5344CB8AC3E}">
        <p14:creationId xmlns:p14="http://schemas.microsoft.com/office/powerpoint/2010/main" val="218209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About Packer</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p:cNvPicPr>
            <a:picLocks noChangeAspect="1"/>
          </p:cNvPicPr>
          <p:nvPr/>
        </p:nvPicPr>
        <p:blipFill>
          <a:blip r:embed="rId3"/>
          <a:stretch>
            <a:fillRect/>
          </a:stretch>
        </p:blipFill>
        <p:spPr>
          <a:xfrm>
            <a:off x="10801790" y="47124"/>
            <a:ext cx="1362075" cy="590550"/>
          </a:xfrm>
          <a:prstGeom prst="rect">
            <a:avLst/>
          </a:prstGeom>
        </p:spPr>
      </p:pic>
      <p:pic>
        <p:nvPicPr>
          <p:cNvPr id="3" name="Picture 2"/>
          <p:cNvPicPr>
            <a:picLocks noChangeAspect="1"/>
          </p:cNvPicPr>
          <p:nvPr/>
        </p:nvPicPr>
        <p:blipFill>
          <a:blip r:embed="rId4"/>
          <a:stretch>
            <a:fillRect/>
          </a:stretch>
        </p:blipFill>
        <p:spPr>
          <a:xfrm>
            <a:off x="3562350" y="2286000"/>
            <a:ext cx="5067300" cy="2286000"/>
          </a:xfrm>
          <a:prstGeom prst="rect">
            <a:avLst/>
          </a:prstGeom>
        </p:spPr>
      </p:pic>
    </p:spTree>
    <p:extLst>
      <p:ext uri="{BB962C8B-B14F-4D97-AF65-F5344CB8AC3E}">
        <p14:creationId xmlns:p14="http://schemas.microsoft.com/office/powerpoint/2010/main" val="230675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in </a:t>
            </a:r>
            <a:r>
              <a:rPr lang="en-US" dirty="0" err="1">
                <a:solidFill>
                  <a:schemeClr val="tx1"/>
                </a:solidFill>
              </a:rPr>
              <a:t>XebiaLabs</a:t>
            </a:r>
            <a:endParaRPr lang="en-US" dirty="0">
              <a:solidFill>
                <a:schemeClr val="tx1"/>
              </a:solidFill>
            </a:endParaRP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7" name="Picture 6"/>
          <p:cNvPicPr>
            <a:picLocks noChangeAspect="1"/>
          </p:cNvPicPr>
          <p:nvPr/>
        </p:nvPicPr>
        <p:blipFill>
          <a:blip r:embed="rId2"/>
          <a:stretch>
            <a:fillRect/>
          </a:stretch>
        </p:blipFill>
        <p:spPr>
          <a:xfrm>
            <a:off x="10801790" y="47124"/>
            <a:ext cx="1362075" cy="590550"/>
          </a:xfrm>
          <a:prstGeom prst="rect">
            <a:avLst/>
          </a:prstGeom>
        </p:spPr>
      </p:pic>
      <p:pic>
        <p:nvPicPr>
          <p:cNvPr id="5" name="Picture 4"/>
          <p:cNvPicPr>
            <a:picLocks noChangeAspect="1"/>
          </p:cNvPicPr>
          <p:nvPr/>
        </p:nvPicPr>
        <p:blipFill>
          <a:blip r:embed="rId3"/>
          <a:stretch>
            <a:fillRect/>
          </a:stretch>
        </p:blipFill>
        <p:spPr>
          <a:xfrm>
            <a:off x="786809" y="1541720"/>
            <a:ext cx="11028953" cy="4135179"/>
          </a:xfrm>
          <a:prstGeom prst="rect">
            <a:avLst/>
          </a:prstGeom>
        </p:spPr>
      </p:pic>
    </p:spTree>
    <p:extLst>
      <p:ext uri="{BB962C8B-B14F-4D97-AF65-F5344CB8AC3E}">
        <p14:creationId xmlns:p14="http://schemas.microsoft.com/office/powerpoint/2010/main" val="216457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details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descr="PW"/>
          <p:cNvPicPr/>
          <p:nvPr/>
        </p:nvPicPr>
        <p:blipFill>
          <a:blip r:embed="rId3" cstate="print"/>
          <a:srcRect/>
          <a:stretch>
            <a:fillRect/>
          </a:stretch>
        </p:blipFill>
        <p:spPr bwMode="auto">
          <a:xfrm>
            <a:off x="2665361" y="1403798"/>
            <a:ext cx="6623017" cy="4540250"/>
          </a:xfrm>
          <a:prstGeom prst="rect">
            <a:avLst/>
          </a:prstGeom>
          <a:noFill/>
          <a:ln w="9525">
            <a:noFill/>
            <a:miter lim="800000"/>
            <a:headEnd/>
            <a:tailEnd/>
          </a:ln>
        </p:spPr>
      </p:pic>
      <p:pic>
        <p:nvPicPr>
          <p:cNvPr id="8" name="Picture 7"/>
          <p:cNvPicPr>
            <a:picLocks noChangeAspect="1"/>
          </p:cNvPicPr>
          <p:nvPr/>
        </p:nvPicPr>
        <p:blipFill>
          <a:blip r:embed="rId4"/>
          <a:stretch>
            <a:fillRect/>
          </a:stretch>
        </p:blipFill>
        <p:spPr>
          <a:xfrm>
            <a:off x="10801790" y="47124"/>
            <a:ext cx="1362075" cy="590550"/>
          </a:xfrm>
          <a:prstGeom prst="rect">
            <a:avLst/>
          </a:prstGeom>
        </p:spPr>
      </p:pic>
    </p:spTree>
    <p:extLst>
      <p:ext uri="{BB962C8B-B14F-4D97-AF65-F5344CB8AC3E}">
        <p14:creationId xmlns:p14="http://schemas.microsoft.com/office/powerpoint/2010/main" val="1716428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Horizontal Scroll 5">
            <a:extLst>
              <a:ext uri="{FF2B5EF4-FFF2-40B4-BE49-F238E27FC236}">
                <a16:creationId xmlns:a16="http://schemas.microsoft.com/office/drawing/2014/main" id="{9F8CA0F4-949D-4A56-BEBA-963857B8D2E5}"/>
              </a:ext>
            </a:extLst>
          </p:cNvPr>
          <p:cNvSpPr/>
          <p:nvPr/>
        </p:nvSpPr>
        <p:spPr>
          <a:xfrm>
            <a:off x="2213810" y="1451924"/>
            <a:ext cx="7988970" cy="5189507"/>
          </a:xfrm>
          <a:prstGeom prst="horizontalScroll">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bg1"/>
                </a:solidFill>
              </a:rPr>
              <a:t>{</a:t>
            </a:r>
          </a:p>
          <a:p>
            <a:r>
              <a:rPr lang="en-US" dirty="0">
                <a:solidFill>
                  <a:schemeClr val="bg1"/>
                </a:solidFill>
              </a:rPr>
              <a:t>  "variables": {</a:t>
            </a:r>
          </a:p>
          <a:p>
            <a:r>
              <a:rPr lang="en-US" dirty="0">
                <a:solidFill>
                  <a:schemeClr val="bg1"/>
                </a:solidFill>
              </a:rPr>
              <a:t>    "aws_access_key": "aws_access_key”,</a:t>
            </a:r>
          </a:p>
          <a:p>
            <a:r>
              <a:rPr lang="en-US" dirty="0">
                <a:solidFill>
                  <a:schemeClr val="bg1"/>
                </a:solidFill>
              </a:rPr>
              <a:t>    "aws_secret_key": "aws_secret_key"</a:t>
            </a:r>
          </a:p>
          <a:p>
            <a:r>
              <a:rPr lang="en-US" dirty="0">
                <a:solidFill>
                  <a:schemeClr val="bg1"/>
                </a:solidFill>
              </a:rPr>
              <a:t>  },</a:t>
            </a:r>
          </a:p>
          <a:p>
            <a:r>
              <a:rPr lang="en-US" dirty="0">
                <a:solidFill>
                  <a:schemeClr val="bg1"/>
                </a:solidFill>
              </a:rPr>
              <a:t>  "builders": [{</a:t>
            </a:r>
          </a:p>
          <a:p>
            <a:r>
              <a:rPr lang="en-US" dirty="0">
                <a:solidFill>
                  <a:schemeClr val="bg1"/>
                </a:solidFill>
              </a:rPr>
              <a:t>   }],</a:t>
            </a:r>
          </a:p>
          <a:p>
            <a:r>
              <a:rPr lang="en-US" dirty="0">
                <a:solidFill>
                  <a:schemeClr val="bg1"/>
                </a:solidFill>
              </a:rPr>
              <a:t>  "provisioners": [</a:t>
            </a:r>
          </a:p>
          <a:p>
            <a:r>
              <a:rPr lang="en-US" dirty="0">
                <a:solidFill>
                  <a:schemeClr val="bg1"/>
                </a:solidFill>
              </a:rPr>
              <a:t>    ],</a:t>
            </a:r>
          </a:p>
          <a:p>
            <a:r>
              <a:rPr lang="en-US" dirty="0">
                <a:solidFill>
                  <a:schemeClr val="bg1"/>
                </a:solidFill>
              </a:rPr>
              <a:t>  "post-processors": ["vagrant"]</a:t>
            </a:r>
          </a:p>
          <a:p>
            <a:r>
              <a:rPr lang="en-US" dirty="0">
                <a:solidFill>
                  <a:schemeClr val="bg1"/>
                </a:solidFill>
              </a:rPr>
              <a:t>}</a:t>
            </a:r>
          </a:p>
        </p:txBody>
      </p:sp>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details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8" name="Picture 7"/>
          <p:cNvPicPr>
            <a:picLocks noChangeAspect="1"/>
          </p:cNvPicPr>
          <p:nvPr/>
        </p:nvPicPr>
        <p:blipFill>
          <a:blip r:embed="rId3"/>
          <a:stretch>
            <a:fillRect/>
          </a:stretch>
        </p:blipFill>
        <p:spPr>
          <a:xfrm>
            <a:off x="10801790" y="47124"/>
            <a:ext cx="1362075" cy="590550"/>
          </a:xfrm>
          <a:prstGeom prst="rect">
            <a:avLst/>
          </a:prstGeom>
        </p:spPr>
      </p:pic>
      <p:sp>
        <p:nvSpPr>
          <p:cNvPr id="9" name="TextBox 8"/>
          <p:cNvSpPr txBox="1"/>
          <p:nvPr/>
        </p:nvSpPr>
        <p:spPr>
          <a:xfrm>
            <a:off x="2272379" y="3144253"/>
            <a:ext cx="547458" cy="2823410"/>
          </a:xfrm>
          <a:prstGeom prst="rect">
            <a:avLst/>
          </a:prstGeom>
          <a:noFill/>
        </p:spPr>
        <p:txBody>
          <a:bodyPr vert="wordArtVert" wrap="square" rtlCol="0">
            <a:spAutoFit/>
          </a:bodyPr>
          <a:lstStyle/>
          <a:p>
            <a:r>
              <a:rPr lang="en-US" sz="2000" b="1" dirty="0">
                <a:solidFill>
                  <a:schemeClr val="bg2"/>
                </a:solidFill>
              </a:rPr>
              <a:t>*.json</a:t>
            </a:r>
          </a:p>
        </p:txBody>
      </p:sp>
    </p:spTree>
    <p:extLst>
      <p:ext uri="{BB962C8B-B14F-4D97-AF65-F5344CB8AC3E}">
        <p14:creationId xmlns:p14="http://schemas.microsoft.com/office/powerpoint/2010/main" val="1965247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Integration</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3" name="Picture 2"/>
          <p:cNvPicPr>
            <a:picLocks noChangeAspect="1"/>
          </p:cNvPicPr>
          <p:nvPr/>
        </p:nvPicPr>
        <p:blipFill>
          <a:blip r:embed="rId3"/>
          <a:stretch>
            <a:fillRect/>
          </a:stretch>
        </p:blipFill>
        <p:spPr>
          <a:xfrm>
            <a:off x="684211" y="1473618"/>
            <a:ext cx="11479654" cy="4237372"/>
          </a:xfrm>
          <a:prstGeom prst="rect">
            <a:avLst/>
          </a:prstGeom>
        </p:spPr>
      </p:pic>
      <p:pic>
        <p:nvPicPr>
          <p:cNvPr id="8" name="Picture 7"/>
          <p:cNvPicPr>
            <a:picLocks noChangeAspect="1"/>
          </p:cNvPicPr>
          <p:nvPr/>
        </p:nvPicPr>
        <p:blipFill>
          <a:blip r:embed="rId4"/>
          <a:stretch>
            <a:fillRect/>
          </a:stretch>
        </p:blipFill>
        <p:spPr>
          <a:xfrm>
            <a:off x="10801790" y="47124"/>
            <a:ext cx="1362075" cy="590550"/>
          </a:xfrm>
          <a:prstGeom prst="rect">
            <a:avLst/>
          </a:prstGeom>
        </p:spPr>
      </p:pic>
    </p:spTree>
    <p:extLst>
      <p:ext uri="{BB962C8B-B14F-4D97-AF65-F5344CB8AC3E}">
        <p14:creationId xmlns:p14="http://schemas.microsoft.com/office/powerpoint/2010/main" val="2962111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with other tools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p:cNvPicPr>
            <a:picLocks noChangeAspect="1"/>
          </p:cNvPicPr>
          <p:nvPr/>
        </p:nvPicPr>
        <p:blipFill>
          <a:blip r:embed="rId3"/>
          <a:stretch>
            <a:fillRect/>
          </a:stretch>
        </p:blipFill>
        <p:spPr>
          <a:xfrm>
            <a:off x="10801790" y="47124"/>
            <a:ext cx="1362075" cy="590550"/>
          </a:xfrm>
          <a:prstGeom prst="rect">
            <a:avLst/>
          </a:prstGeom>
        </p:spPr>
      </p:pic>
      <p:pic>
        <p:nvPicPr>
          <p:cNvPr id="3" name="Picture 2"/>
          <p:cNvPicPr>
            <a:picLocks noChangeAspect="1"/>
          </p:cNvPicPr>
          <p:nvPr/>
        </p:nvPicPr>
        <p:blipFill>
          <a:blip r:embed="rId4"/>
          <a:stretch>
            <a:fillRect/>
          </a:stretch>
        </p:blipFill>
        <p:spPr>
          <a:xfrm>
            <a:off x="1155032" y="1660956"/>
            <a:ext cx="9801726" cy="4584749"/>
          </a:xfrm>
          <a:prstGeom prst="rect">
            <a:avLst/>
          </a:prstGeom>
        </p:spPr>
      </p:pic>
    </p:spTree>
    <p:extLst>
      <p:ext uri="{BB962C8B-B14F-4D97-AF65-F5344CB8AC3E}">
        <p14:creationId xmlns:p14="http://schemas.microsoft.com/office/powerpoint/2010/main" val="143434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&amp; Packer</a:t>
            </a:r>
          </a:p>
        </p:txBody>
      </p:sp>
      <p:pic>
        <p:nvPicPr>
          <p:cNvPr id="6" name="Picture 5"/>
          <p:cNvPicPr>
            <a:picLocks noChangeAspect="1"/>
          </p:cNvPicPr>
          <p:nvPr/>
        </p:nvPicPr>
        <p:blipFill>
          <a:blip r:embed="rId3"/>
          <a:stretch>
            <a:fillRect/>
          </a:stretch>
        </p:blipFill>
        <p:spPr>
          <a:xfrm>
            <a:off x="10801790" y="47124"/>
            <a:ext cx="1362075" cy="590550"/>
          </a:xfrm>
          <a:prstGeom prst="rect">
            <a:avLst/>
          </a:prstGeom>
        </p:spPr>
      </p:pic>
      <p:pic>
        <p:nvPicPr>
          <p:cNvPr id="5" name="Picture 4"/>
          <p:cNvPicPr>
            <a:picLocks noChangeAspect="1"/>
          </p:cNvPicPr>
          <p:nvPr/>
        </p:nvPicPr>
        <p:blipFill>
          <a:blip r:embed="rId4"/>
          <a:stretch>
            <a:fillRect/>
          </a:stretch>
        </p:blipFill>
        <p:spPr>
          <a:xfrm>
            <a:off x="684210" y="1451923"/>
            <a:ext cx="11138821" cy="3858013"/>
          </a:xfrm>
          <a:prstGeom prst="rect">
            <a:avLst/>
          </a:prstGeom>
        </p:spPr>
      </p:pic>
    </p:spTree>
    <p:extLst>
      <p:ext uri="{BB962C8B-B14F-4D97-AF65-F5344CB8AC3E}">
        <p14:creationId xmlns:p14="http://schemas.microsoft.com/office/powerpoint/2010/main" val="3800715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5E6377-1083-4C63-87BA-EEBC305EA4BD}"/>
              </a:ext>
            </a:extLst>
          </p:cNvPr>
          <p:cNvSpPr txBox="1"/>
          <p:nvPr/>
        </p:nvSpPr>
        <p:spPr>
          <a:xfrm>
            <a:off x="502762" y="3075057"/>
            <a:ext cx="1899920" cy="523220"/>
          </a:xfrm>
          <a:prstGeom prst="rect">
            <a:avLst/>
          </a:prstGeom>
          <a:noFill/>
        </p:spPr>
        <p:txBody>
          <a:bodyPr wrap="square" rtlCol="0">
            <a:spAutoFit/>
          </a:bodyPr>
          <a:lstStyle/>
          <a:p>
            <a:r>
              <a:rPr lang="en-IN" sz="2800" dirty="0">
                <a:ln w="0"/>
                <a:solidFill>
                  <a:schemeClr val="accent1"/>
                </a:solidFill>
                <a:effectLst>
                  <a:outerShdw blurRad="38100" dist="25400" dir="5400000" algn="ctr" rotWithShape="0">
                    <a:srgbClr val="6E747A">
                      <a:alpha val="43000"/>
                    </a:srgbClr>
                  </a:outerShdw>
                </a:effectLst>
              </a:rPr>
              <a:t>Summary</a:t>
            </a:r>
          </a:p>
        </p:txBody>
      </p:sp>
      <p:sp>
        <p:nvSpPr>
          <p:cNvPr id="5" name="Rectangle 4">
            <a:extLst>
              <a:ext uri="{FF2B5EF4-FFF2-40B4-BE49-F238E27FC236}">
                <a16:creationId xmlns:a16="http://schemas.microsoft.com/office/drawing/2014/main" id="{5747C3D0-461A-42CC-B5D0-B66F2CE76C2F}"/>
              </a:ext>
            </a:extLst>
          </p:cNvPr>
          <p:cNvSpPr/>
          <p:nvPr/>
        </p:nvSpPr>
        <p:spPr>
          <a:xfrm>
            <a:off x="2570480" y="782320"/>
            <a:ext cx="81280" cy="5699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E1DBD46-CADA-449E-A70E-56E8671B7C41}"/>
              </a:ext>
            </a:extLst>
          </p:cNvPr>
          <p:cNvSpPr txBox="1"/>
          <p:nvPr/>
        </p:nvSpPr>
        <p:spPr>
          <a:xfrm>
            <a:off x="3190240" y="944880"/>
            <a:ext cx="5140960" cy="2031325"/>
          </a:xfrm>
          <a:prstGeom prst="rect">
            <a:avLst/>
          </a:prstGeom>
          <a:noFill/>
        </p:spPr>
        <p:txBody>
          <a:bodyPr wrap="square" rtlCol="0">
            <a:spAutoFit/>
          </a:bodyPr>
          <a:lstStyle/>
          <a:p>
            <a:r>
              <a:rPr lang="en-US" dirty="0">
                <a:solidFill>
                  <a:schemeClr val="bg1"/>
                </a:solidFill>
              </a:rPr>
              <a:t>About Packer</a:t>
            </a:r>
          </a:p>
          <a:p>
            <a:r>
              <a:rPr lang="en-US" dirty="0">
                <a:solidFill>
                  <a:schemeClr val="bg1"/>
                </a:solidFill>
              </a:rPr>
              <a:t>Packer Template *.json file</a:t>
            </a:r>
          </a:p>
          <a:p>
            <a:r>
              <a:rPr lang="en-US" dirty="0">
                <a:solidFill>
                  <a:schemeClr val="bg1"/>
                </a:solidFill>
              </a:rPr>
              <a:t>Packer Architecture</a:t>
            </a:r>
          </a:p>
          <a:p>
            <a:r>
              <a:rPr lang="en-US" dirty="0">
                <a:solidFill>
                  <a:schemeClr val="bg1"/>
                </a:solidFill>
              </a:rPr>
              <a:t>Packer with Clouds providers</a:t>
            </a:r>
          </a:p>
          <a:p>
            <a:r>
              <a:rPr lang="en-US" dirty="0">
                <a:solidFill>
                  <a:schemeClr val="bg1"/>
                </a:solidFill>
              </a:rPr>
              <a:t>Packer with other tools</a:t>
            </a:r>
          </a:p>
          <a:p>
            <a:endParaRPr lang="en-US"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60072085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13324</TotalTime>
  <Words>357</Words>
  <Application>Microsoft Office PowerPoint</Application>
  <PresentationFormat>Widescreen</PresentationFormat>
  <Paragraphs>56</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Century Gothic</vt:lpstr>
      <vt:lpstr>Wingdings 3</vt:lpstr>
      <vt:lpstr>Slice</vt:lpstr>
      <vt:lpstr>Packer with other tools</vt:lpstr>
      <vt:lpstr>PowerPoint Presentation</vt:lpstr>
      <vt:lpstr>About Packer</vt:lpstr>
      <vt:lpstr>Packer in XebiaLabs</vt:lpstr>
      <vt:lpstr>Packer details</vt:lpstr>
      <vt:lpstr>Packer details</vt:lpstr>
      <vt:lpstr>Packer Integration</vt:lpstr>
      <vt:lpstr>Packer with other tools</vt:lpstr>
      <vt:lpstr>AWS &amp; Packer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solution for AWSomeTrips</dc:title>
  <dc:creator>vinod.k</dc:creator>
  <cp:lastModifiedBy>Training</cp:lastModifiedBy>
  <cp:revision>510</cp:revision>
  <dcterms:created xsi:type="dcterms:W3CDTF">2018-04-05T06:53:35Z</dcterms:created>
  <dcterms:modified xsi:type="dcterms:W3CDTF">2020-05-19T05:11:44Z</dcterms:modified>
</cp:coreProperties>
</file>