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320" r:id="rId3"/>
    <p:sldId id="321" r:id="rId4"/>
    <p:sldId id="322" r:id="rId5"/>
    <p:sldId id="323" r:id="rId6"/>
    <p:sldId id="32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072" autoAdjust="0"/>
  </p:normalViewPr>
  <p:slideViewPr>
    <p:cSldViewPr snapToGrid="0">
      <p:cViewPr varScale="1">
        <p:scale>
          <a:sx n="49" d="100"/>
          <a:sy n="49" d="100"/>
        </p:scale>
        <p:origin x="1336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9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https://registry.terraform.io/providers/hashicorp/azurerm/latest/docs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2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https://registry.terraform.io/providers/hashicorp/azurerm/latest/docs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https://docs.microsoft.com/en-us/cli/azure/install-azure-cli-linux?pivots=apt</a:t>
            </a:r>
          </a:p>
          <a:p>
            <a:r>
              <a:rPr lang="en-US"/>
              <a:t>https://registry.terraform.io/providers/hashicorp/azurerm/latest/docs/guides/azure_cli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9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1484007"/>
            <a:ext cx="11392996" cy="5295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4211" y="685800"/>
            <a:ext cx="11507789" cy="717998"/>
          </a:xfrm>
          <a:prstGeom prst="rect">
            <a:avLst/>
          </a:prstGeom>
          <a:solidFill>
            <a:srgbClr val="003DB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Terraform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8160-C247-4291-8F91-77D82C720D69}"/>
              </a:ext>
            </a:extLst>
          </p:cNvPr>
          <p:cNvSpPr txBox="1"/>
          <p:nvPr/>
        </p:nvSpPr>
        <p:spPr>
          <a:xfrm rot="20302122">
            <a:off x="1876302" y="1560319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7B7B-F3AE-416F-A07D-8AB4C114361B}"/>
              </a:ext>
            </a:extLst>
          </p:cNvPr>
          <p:cNvSpPr txBox="1"/>
          <p:nvPr/>
        </p:nvSpPr>
        <p:spPr>
          <a:xfrm rot="790205">
            <a:off x="9539111" y="1748942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pic>
        <p:nvPicPr>
          <p:cNvPr id="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DD8EC576-9E1C-4ABE-8AB4-6D68DED2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Terraform Architecture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C66599AB-97BA-41C0-B1C3-2082EA857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165072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FF19B505-508E-4568-8A25-12E871F41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287144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E17FEB83-E0B5-48D3-89BA-C892FB54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409216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7C5A7511-4E4B-4D37-BC92-470E20BA9DBA}"/>
              </a:ext>
            </a:extLst>
          </p:cNvPr>
          <p:cNvSpPr/>
          <p:nvPr/>
        </p:nvSpPr>
        <p:spPr>
          <a:xfrm>
            <a:off x="1369927" y="1650729"/>
            <a:ext cx="961900" cy="3556544"/>
          </a:xfrm>
          <a:prstGeom prst="rightBrace">
            <a:avLst>
              <a:gd name="adj1" fmla="val 8333"/>
              <a:gd name="adj2" fmla="val 49655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3E4B1466-6DCB-4D20-AD22-68DBDC5B7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197" y="2626629"/>
            <a:ext cx="2437182" cy="172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05B09D-A9CB-4CB7-A05B-E6EEFDCB1E22}"/>
              </a:ext>
            </a:extLst>
          </p:cNvPr>
          <p:cNvSpPr txBox="1"/>
          <p:nvPr/>
        </p:nvSpPr>
        <p:spPr>
          <a:xfrm>
            <a:off x="5085379" y="3986552"/>
            <a:ext cx="277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Azure Cloud Provider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CB76D2-CA15-46D1-93C9-4ED4CB4031EA}"/>
              </a:ext>
            </a:extLst>
          </p:cNvPr>
          <p:cNvCxnSpPr/>
          <p:nvPr/>
        </p:nvCxnSpPr>
        <p:spPr>
          <a:xfrm>
            <a:off x="4548249" y="3272489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B61E90-D975-472C-9D5A-0C9B71CE365F}"/>
              </a:ext>
            </a:extLst>
          </p:cNvPr>
          <p:cNvCxnSpPr>
            <a:cxnSpLocks/>
          </p:cNvCxnSpPr>
          <p:nvPr/>
        </p:nvCxnSpPr>
        <p:spPr>
          <a:xfrm flipH="1">
            <a:off x="4533786" y="3589622"/>
            <a:ext cx="880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13BAC4-519C-41B1-A72F-CE0A42D4AD59}"/>
              </a:ext>
            </a:extLst>
          </p:cNvPr>
          <p:cNvCxnSpPr/>
          <p:nvPr/>
        </p:nvCxnSpPr>
        <p:spPr>
          <a:xfrm>
            <a:off x="2064326" y="3417125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B3AC94-D468-4471-9FBC-010DFC34520C}"/>
              </a:ext>
            </a:extLst>
          </p:cNvPr>
          <p:cNvCxnSpPr/>
          <p:nvPr/>
        </p:nvCxnSpPr>
        <p:spPr>
          <a:xfrm>
            <a:off x="7206342" y="3272489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456B35-EBE5-4CA5-B758-29739A0E4AA9}"/>
              </a:ext>
            </a:extLst>
          </p:cNvPr>
          <p:cNvCxnSpPr>
            <a:cxnSpLocks/>
          </p:cNvCxnSpPr>
          <p:nvPr/>
        </p:nvCxnSpPr>
        <p:spPr>
          <a:xfrm flipH="1">
            <a:off x="7191879" y="3589622"/>
            <a:ext cx="880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BD8C94-2B5C-4FF2-99EC-515A618E2EAD}"/>
              </a:ext>
            </a:extLst>
          </p:cNvPr>
          <p:cNvSpPr txBox="1"/>
          <p:nvPr/>
        </p:nvSpPr>
        <p:spPr>
          <a:xfrm>
            <a:off x="1958139" y="3093959"/>
            <a:ext cx="1380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*.</a:t>
            </a:r>
            <a:r>
              <a:rPr lang="en-IN" b="1" dirty="0" err="1">
                <a:solidFill>
                  <a:schemeClr val="accent5"/>
                </a:solidFill>
              </a:rPr>
              <a:t>tf</a:t>
            </a:r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*.</a:t>
            </a:r>
            <a:r>
              <a:rPr lang="en-IN" b="1" dirty="0" err="1">
                <a:solidFill>
                  <a:schemeClr val="accent5"/>
                </a:solidFill>
              </a:rPr>
              <a:t>tfvar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20183-C700-42DD-AD26-32F95BC191AB}"/>
              </a:ext>
            </a:extLst>
          </p:cNvPr>
          <p:cNvSpPr/>
          <p:nvPr/>
        </p:nvSpPr>
        <p:spPr>
          <a:xfrm>
            <a:off x="3170710" y="5142014"/>
            <a:ext cx="1358054" cy="7462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DB3DC7-0B15-4FE6-B869-9EA4FAF3FD2C}"/>
              </a:ext>
            </a:extLst>
          </p:cNvPr>
          <p:cNvSpPr/>
          <p:nvPr/>
        </p:nvSpPr>
        <p:spPr>
          <a:xfrm>
            <a:off x="3323110" y="5294414"/>
            <a:ext cx="1358054" cy="7462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Plugins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544462-6811-4554-A252-1252AE4F6BC0}"/>
              </a:ext>
            </a:extLst>
          </p:cNvPr>
          <p:cNvCxnSpPr>
            <a:stCxn id="3" idx="0"/>
          </p:cNvCxnSpPr>
          <p:nvPr/>
        </p:nvCxnSpPr>
        <p:spPr>
          <a:xfrm flipV="1">
            <a:off x="3849737" y="4350065"/>
            <a:ext cx="0" cy="791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BC9F0D9-B194-41F0-84F0-8B8AA7FDE2EA}"/>
              </a:ext>
            </a:extLst>
          </p:cNvPr>
          <p:cNvSpPr/>
          <p:nvPr/>
        </p:nvSpPr>
        <p:spPr>
          <a:xfrm>
            <a:off x="3216531" y="1513518"/>
            <a:ext cx="1358054" cy="7462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31E04D-4997-408B-9F60-C8CB5C96E3A4}"/>
              </a:ext>
            </a:extLst>
          </p:cNvPr>
          <p:cNvSpPr/>
          <p:nvPr/>
        </p:nvSpPr>
        <p:spPr>
          <a:xfrm>
            <a:off x="3368931" y="1665918"/>
            <a:ext cx="1358054" cy="7462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Modules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64C8C5-B528-4808-A343-1EF038303087}"/>
              </a:ext>
            </a:extLst>
          </p:cNvPr>
          <p:cNvCxnSpPr>
            <a:stCxn id="25" idx="2"/>
          </p:cNvCxnSpPr>
          <p:nvPr/>
        </p:nvCxnSpPr>
        <p:spPr>
          <a:xfrm flipH="1">
            <a:off x="4025735" y="2412200"/>
            <a:ext cx="22223" cy="35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icrosoft Azure Cloud Platform: What Works, What's Needed at Ignite | IT Pro">
            <a:extLst>
              <a:ext uri="{FF2B5EF4-FFF2-40B4-BE49-F238E27FC236}">
                <a16:creationId xmlns:a16="http://schemas.microsoft.com/office/drawing/2014/main" id="{E4B55792-479E-481C-8C66-01B5F732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51" y="2936164"/>
            <a:ext cx="1640741" cy="85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nfographic of Availability Zones architecture.">
            <a:extLst>
              <a:ext uri="{FF2B5EF4-FFF2-40B4-BE49-F238E27FC236}">
                <a16:creationId xmlns:a16="http://schemas.microsoft.com/office/drawing/2014/main" id="{25714984-747C-4B97-B0B0-0BE31521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718" y="1513518"/>
            <a:ext cx="3800793" cy="534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50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Terraform Provider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provider "</a:t>
            </a:r>
            <a:r>
              <a:rPr lang="en-US" dirty="0" err="1">
                <a:solidFill>
                  <a:schemeClr val="bg1"/>
                </a:solidFill>
              </a:rPr>
              <a:t>azurerm</a:t>
            </a:r>
            <a:r>
              <a:rPr lang="en-US" dirty="0">
                <a:solidFill>
                  <a:schemeClr val="bg1"/>
                </a:solidFill>
              </a:rPr>
              <a:t>" {  </a:t>
            </a:r>
          </a:p>
          <a:p>
            <a:r>
              <a:rPr lang="en-US" dirty="0">
                <a:solidFill>
                  <a:schemeClr val="bg1"/>
                </a:solidFill>
              </a:rPr>
              <a:t>   version = "2.12.0"  </a:t>
            </a:r>
          </a:p>
          <a:p>
            <a:r>
              <a:rPr lang="en-US" dirty="0">
                <a:solidFill>
                  <a:schemeClr val="bg1"/>
                </a:solidFill>
              </a:rPr>
              <a:t>   features {}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5A7D0-8F91-43B7-9784-7770533F3CB1}"/>
              </a:ext>
            </a:extLst>
          </p:cNvPr>
          <p:cNvSpPr/>
          <p:nvPr/>
        </p:nvSpPr>
        <p:spPr>
          <a:xfrm>
            <a:off x="684211" y="367334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# Configure the AWS Provider</a:t>
            </a:r>
          </a:p>
          <a:p>
            <a:r>
              <a:rPr lang="en-IN" dirty="0">
                <a:solidFill>
                  <a:schemeClr val="bg1"/>
                </a:solidFill>
              </a:rPr>
              <a:t>provider "</a:t>
            </a:r>
            <a:r>
              <a:rPr lang="en-IN" dirty="0" err="1">
                <a:solidFill>
                  <a:schemeClr val="bg1"/>
                </a:solidFill>
              </a:rPr>
              <a:t>aws</a:t>
            </a:r>
            <a:r>
              <a:rPr lang="en-IN" dirty="0">
                <a:solidFill>
                  <a:schemeClr val="bg1"/>
                </a:solidFill>
              </a:rPr>
              <a:t>" {</a:t>
            </a:r>
          </a:p>
          <a:p>
            <a:r>
              <a:rPr lang="en-IN" dirty="0">
                <a:solidFill>
                  <a:schemeClr val="bg1"/>
                </a:solidFill>
              </a:rPr>
              <a:t>  version = "~&gt; 2.0"</a:t>
            </a:r>
          </a:p>
          <a:p>
            <a:r>
              <a:rPr lang="en-IN" dirty="0">
                <a:solidFill>
                  <a:schemeClr val="bg1"/>
                </a:solidFill>
              </a:rPr>
              <a:t>  region  = "us-east-1"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E2AEB279-20B7-4588-9A1B-E6DCD95C63B5}"/>
              </a:ext>
            </a:extLst>
          </p:cNvPr>
          <p:cNvSpPr/>
          <p:nvPr/>
        </p:nvSpPr>
        <p:spPr>
          <a:xfrm>
            <a:off x="6673932" y="1983179"/>
            <a:ext cx="4215741" cy="2446317"/>
          </a:xfrm>
          <a:prstGeom prst="wedgeEllipseCallout">
            <a:avLst>
              <a:gd name="adj1" fmla="val -133565"/>
              <a:gd name="adj2" fmla="val -2342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081499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IN" b="1" dirty="0"/>
              <a:t>Authentication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AEDEDB-1AED-42C3-A79F-BA75A8B082B5}"/>
              </a:ext>
            </a:extLst>
          </p:cNvPr>
          <p:cNvSpPr/>
          <p:nvPr/>
        </p:nvSpPr>
        <p:spPr>
          <a:xfrm>
            <a:off x="684211" y="1807419"/>
            <a:ext cx="8590813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Authentication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Authenticating to Azure using the Azure CLI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Authenticating to Azure using Managed Service Identity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Authenticating to Azure using a Service Principal and a Client Certificate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Authenticating to Azure using a Service Principal and a Client Secret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2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IN" b="1" dirty="0"/>
              <a:t>Authentication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AEDEDB-1AED-42C3-A79F-BA75A8B082B5}"/>
              </a:ext>
            </a:extLst>
          </p:cNvPr>
          <p:cNvSpPr/>
          <p:nvPr/>
        </p:nvSpPr>
        <p:spPr>
          <a:xfrm>
            <a:off x="684211" y="1807419"/>
            <a:ext cx="1013860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Authentication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b="0" i="0" dirty="0">
                <a:solidFill>
                  <a:srgbClr val="1F2124"/>
                </a:solidFill>
                <a:effectLst/>
                <a:latin typeface="-apple-system"/>
              </a:rPr>
              <a:t>We recommend using either a Service Principal or Managed Service Identity when running </a:t>
            </a:r>
          </a:p>
          <a:p>
            <a:r>
              <a:rPr lang="en-US" b="0" i="0" dirty="0">
                <a:solidFill>
                  <a:srgbClr val="1F2124"/>
                </a:solidFill>
                <a:effectLst/>
                <a:latin typeface="-apple-system"/>
              </a:rPr>
              <a:t>Terraform non-interactively (such as when running Terraform in a CI server) - and authenticating using the </a:t>
            </a:r>
          </a:p>
          <a:p>
            <a:r>
              <a:rPr lang="en-US" b="0" i="0" dirty="0">
                <a:solidFill>
                  <a:srgbClr val="1F2124"/>
                </a:solidFill>
                <a:effectLst/>
                <a:latin typeface="-apple-system"/>
              </a:rPr>
              <a:t>Azure CLI when running Terraform locally.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72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IN" b="1" dirty="0"/>
              <a:t>Authentication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AEDEDB-1AED-42C3-A79F-BA75A8B082B5}"/>
              </a:ext>
            </a:extLst>
          </p:cNvPr>
          <p:cNvSpPr/>
          <p:nvPr/>
        </p:nvSpPr>
        <p:spPr>
          <a:xfrm>
            <a:off x="684211" y="1807419"/>
            <a:ext cx="1053797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Logging into Cloud9 env</a:t>
            </a:r>
          </a:p>
          <a:p>
            <a:r>
              <a:rPr lang="en-IN" dirty="0">
                <a:solidFill>
                  <a:schemeClr val="bg1"/>
                </a:solidFill>
              </a:rPr>
              <a:t>sudo -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cd /opt</a:t>
            </a:r>
          </a:p>
          <a:p>
            <a:r>
              <a:rPr lang="en-IN" dirty="0">
                <a:solidFill>
                  <a:schemeClr val="bg1"/>
                </a:solidFill>
              </a:rPr>
              <a:t>curl -</a:t>
            </a:r>
            <a:r>
              <a:rPr lang="en-IN" dirty="0" err="1">
                <a:solidFill>
                  <a:schemeClr val="bg1"/>
                </a:solidFill>
              </a:rPr>
              <a:t>sL</a:t>
            </a:r>
            <a:r>
              <a:rPr lang="en-IN" dirty="0">
                <a:solidFill>
                  <a:schemeClr val="bg1"/>
                </a:solidFill>
              </a:rPr>
              <a:t> https://azurecliprod.blob.core.windows.net/rhel7_6_install.sh | sudo bash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https://registry.terraform.io/providers/hashicorp/azurerm/latest/docs/guides/azure_cli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az</a:t>
            </a:r>
            <a:r>
              <a:rPr lang="en-IN" dirty="0">
                <a:solidFill>
                  <a:schemeClr val="bg1"/>
                </a:solidFill>
              </a:rPr>
              <a:t> login</a:t>
            </a:r>
          </a:p>
          <a:p>
            <a:r>
              <a:rPr lang="en-IN" dirty="0">
                <a:solidFill>
                  <a:schemeClr val="bg1"/>
                </a:solidFill>
              </a:rPr>
              <a:t>To sign in, use a web browser to open the page https://microsoft.com/devicelogin and enter the code E8EG4B39M to authenticate.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az</a:t>
            </a:r>
            <a:r>
              <a:rPr lang="en-IN" dirty="0">
                <a:solidFill>
                  <a:schemeClr val="bg1"/>
                </a:solidFill>
              </a:rPr>
              <a:t> account list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Enter azure portal user id and pwd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az</a:t>
            </a:r>
            <a:r>
              <a:rPr lang="en-IN" dirty="0">
                <a:solidFill>
                  <a:schemeClr val="bg1"/>
                </a:solidFill>
              </a:rPr>
              <a:t> account set --subscription="SUBSCRIPTION_ID"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az</a:t>
            </a:r>
            <a:r>
              <a:rPr lang="en-IN" dirty="0">
                <a:solidFill>
                  <a:schemeClr val="bg1"/>
                </a:solidFill>
              </a:rPr>
              <a:t> account set --subscription="6f685cfb-69f5-46d3-994a-08eb46d69d68"</a:t>
            </a:r>
          </a:p>
        </p:txBody>
      </p:sp>
    </p:spTree>
    <p:extLst>
      <p:ext uri="{BB962C8B-B14F-4D97-AF65-F5344CB8AC3E}">
        <p14:creationId xmlns:p14="http://schemas.microsoft.com/office/powerpoint/2010/main" val="2735482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12741</TotalTime>
  <Words>341</Words>
  <Application>Microsoft Office PowerPoint</Application>
  <PresentationFormat>Widescreen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Century Gothic</vt:lpstr>
      <vt:lpstr>Wingdings</vt:lpstr>
      <vt:lpstr>Wingdings 3</vt:lpstr>
      <vt:lpstr>Slice</vt:lpstr>
      <vt:lpstr>PowerPoint Presentation</vt:lpstr>
      <vt:lpstr>Terraform Architecture</vt:lpstr>
      <vt:lpstr>Terraform Provider</vt:lpstr>
      <vt:lpstr>Authentication</vt:lpstr>
      <vt:lpstr>Authentication</vt:lpstr>
      <vt:lpstr>Authentication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Training</cp:lastModifiedBy>
  <cp:revision>417</cp:revision>
  <dcterms:created xsi:type="dcterms:W3CDTF">2018-04-05T06:53:35Z</dcterms:created>
  <dcterms:modified xsi:type="dcterms:W3CDTF">2021-08-08T07:44:50Z</dcterms:modified>
</cp:coreProperties>
</file>