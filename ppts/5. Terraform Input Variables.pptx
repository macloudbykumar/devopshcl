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334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0072" autoAdjust="0"/>
  </p:normalViewPr>
  <p:slideViewPr>
    <p:cSldViewPr snapToGrid="0">
      <p:cViewPr varScale="1">
        <p:scale>
          <a:sx n="48" d="100"/>
          <a:sy n="48" d="100"/>
        </p:scale>
        <p:origin x="136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033EC-38BF-4AD4-9467-7D2380108C1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A354F-E8EA-4E4F-BEEB-F269B5F9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4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5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487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76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05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9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88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3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04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49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69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82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59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1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09" y="1484007"/>
            <a:ext cx="11392996" cy="52953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84211" y="685800"/>
            <a:ext cx="11507789" cy="717998"/>
          </a:xfrm>
          <a:prstGeom prst="rect">
            <a:avLst/>
          </a:prstGeom>
          <a:solidFill>
            <a:srgbClr val="003DB8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Terraform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48160-C247-4291-8F91-77D82C720D69}"/>
              </a:ext>
            </a:extLst>
          </p:cNvPr>
          <p:cNvSpPr txBox="1"/>
          <p:nvPr/>
        </p:nvSpPr>
        <p:spPr>
          <a:xfrm rot="20302122">
            <a:off x="1876302" y="1560319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  <a:p>
            <a:r>
              <a:rPr lang="en-IN" dirty="0"/>
              <a:t>Y</a:t>
            </a:r>
          </a:p>
          <a:p>
            <a:endParaRPr lang="en-IN" dirty="0"/>
          </a:p>
          <a:p>
            <a:r>
              <a:rPr lang="en-IN" dirty="0"/>
              <a:t>K</a:t>
            </a:r>
          </a:p>
          <a:p>
            <a:r>
              <a:rPr lang="en-IN" dirty="0"/>
              <a:t>U</a:t>
            </a:r>
          </a:p>
          <a:p>
            <a:r>
              <a:rPr lang="en-IN" dirty="0"/>
              <a:t>M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87B7B-F3AE-416F-A07D-8AB4C114361B}"/>
              </a:ext>
            </a:extLst>
          </p:cNvPr>
          <p:cNvSpPr txBox="1"/>
          <p:nvPr/>
        </p:nvSpPr>
        <p:spPr>
          <a:xfrm rot="790205">
            <a:off x="9539111" y="1748942"/>
            <a:ext cx="8550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  <a:p>
            <a:r>
              <a:rPr lang="en-IN" dirty="0"/>
              <a:t>Y</a:t>
            </a:r>
          </a:p>
          <a:p>
            <a:endParaRPr lang="en-IN" dirty="0"/>
          </a:p>
          <a:p>
            <a:r>
              <a:rPr lang="en-IN" dirty="0"/>
              <a:t>K</a:t>
            </a:r>
          </a:p>
          <a:p>
            <a:r>
              <a:rPr lang="en-IN" dirty="0"/>
              <a:t>U</a:t>
            </a:r>
          </a:p>
          <a:p>
            <a:r>
              <a:rPr lang="en-IN" dirty="0"/>
              <a:t>M</a:t>
            </a:r>
          </a:p>
          <a:p>
            <a:r>
              <a:rPr lang="en-IN" dirty="0"/>
              <a:t>A</a:t>
            </a:r>
          </a:p>
          <a:p>
            <a:r>
              <a:rPr lang="en-IN" dirty="0"/>
              <a:t>R</a:t>
            </a:r>
          </a:p>
        </p:txBody>
      </p:sp>
      <p:pic>
        <p:nvPicPr>
          <p:cNvPr id="7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DD8EC576-9E1C-4ABE-8AB4-6D68DED26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4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1F57CA-E148-7538-3571-EF7C2DE5718D}"/>
              </a:ext>
            </a:extLst>
          </p:cNvPr>
          <p:cNvSpPr/>
          <p:nvPr/>
        </p:nvSpPr>
        <p:spPr>
          <a:xfrm>
            <a:off x="1497495" y="725556"/>
            <a:ext cx="9395791" cy="4333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Terraform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0D695-F3D8-91C5-984E-A676C0FD7521}"/>
              </a:ext>
            </a:extLst>
          </p:cNvPr>
          <p:cNvSpPr/>
          <p:nvPr/>
        </p:nvSpPr>
        <p:spPr>
          <a:xfrm>
            <a:off x="2093843" y="1431235"/>
            <a:ext cx="1895061" cy="1073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variable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CAAD32-B0D3-2D81-85A0-AFC8ACFFEBE2}"/>
              </a:ext>
            </a:extLst>
          </p:cNvPr>
          <p:cNvSpPr/>
          <p:nvPr/>
        </p:nvSpPr>
        <p:spPr>
          <a:xfrm>
            <a:off x="8328990" y="1331844"/>
            <a:ext cx="1895061" cy="1073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ED33FC-7309-7385-33CE-45030347EF27}"/>
              </a:ext>
            </a:extLst>
          </p:cNvPr>
          <p:cNvSpPr/>
          <p:nvPr/>
        </p:nvSpPr>
        <p:spPr>
          <a:xfrm>
            <a:off x="2153477" y="2683565"/>
            <a:ext cx="1895061" cy="1073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resources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5E502F-880D-6B79-09CC-243F88A1FBDE}"/>
              </a:ext>
            </a:extLst>
          </p:cNvPr>
          <p:cNvSpPr/>
          <p:nvPr/>
        </p:nvSpPr>
        <p:spPr>
          <a:xfrm>
            <a:off x="8328990" y="2683565"/>
            <a:ext cx="1895061" cy="1073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234EF-2CDF-F1EA-DBB0-441F45A42077}"/>
              </a:ext>
            </a:extLst>
          </p:cNvPr>
          <p:cNvSpPr/>
          <p:nvPr/>
        </p:nvSpPr>
        <p:spPr>
          <a:xfrm>
            <a:off x="5363816" y="2683565"/>
            <a:ext cx="1895061" cy="1073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template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307EE-EC32-A2A3-BA8B-3304EB6F61DA}"/>
              </a:ext>
            </a:extLst>
          </p:cNvPr>
          <p:cNvSpPr/>
          <p:nvPr/>
        </p:nvSpPr>
        <p:spPr>
          <a:xfrm>
            <a:off x="5363816" y="1381539"/>
            <a:ext cx="1895061" cy="10734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provider</a:t>
            </a:r>
          </a:p>
        </p:txBody>
      </p:sp>
    </p:spTree>
    <p:extLst>
      <p:ext uri="{BB962C8B-B14F-4D97-AF65-F5344CB8AC3E}">
        <p14:creationId xmlns:p14="http://schemas.microsoft.com/office/powerpoint/2010/main" val="2651007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Declaring an Input Variable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Using Input Variable Values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Type Constraints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Input Variable Documentation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Variables on the Command Line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Variable Definitions (.</a:t>
            </a:r>
            <a:r>
              <a:rPr lang="en-IN" dirty="0" err="1">
                <a:solidFill>
                  <a:schemeClr val="bg1"/>
                </a:solidFill>
              </a:rPr>
              <a:t>tfvars</a:t>
            </a:r>
            <a:r>
              <a:rPr lang="en-IN" dirty="0">
                <a:solidFill>
                  <a:schemeClr val="bg1"/>
                </a:solidFill>
              </a:rPr>
              <a:t>) Files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Environment Variables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Complex-typed Values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Variable Definition Precedence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</a:rPr>
              <a:t>Custom Validation Rules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499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10723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Declaring an Input Variable</a:t>
            </a:r>
          </a:p>
          <a:p>
            <a:r>
              <a:rPr lang="en-IN" dirty="0">
                <a:solidFill>
                  <a:schemeClr val="bg1"/>
                </a:solidFill>
              </a:rPr>
              <a:t>variable "</a:t>
            </a:r>
            <a:r>
              <a:rPr lang="en-IN" dirty="0" err="1">
                <a:solidFill>
                  <a:schemeClr val="bg1"/>
                </a:solidFill>
              </a:rPr>
              <a:t>image_id</a:t>
            </a:r>
            <a:r>
              <a:rPr lang="en-IN" dirty="0">
                <a:solidFill>
                  <a:schemeClr val="bg1"/>
                </a:solidFill>
              </a:rPr>
              <a:t>" {</a:t>
            </a:r>
          </a:p>
          <a:p>
            <a:r>
              <a:rPr lang="en-IN" dirty="0">
                <a:solidFill>
                  <a:schemeClr val="bg1"/>
                </a:solidFill>
              </a:rPr>
              <a:t>  type = string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variable "</a:t>
            </a:r>
            <a:r>
              <a:rPr lang="en-IN" dirty="0" err="1">
                <a:solidFill>
                  <a:schemeClr val="bg1"/>
                </a:solidFill>
              </a:rPr>
              <a:t>availability_zone_names</a:t>
            </a:r>
            <a:r>
              <a:rPr lang="en-IN" dirty="0">
                <a:solidFill>
                  <a:schemeClr val="bg1"/>
                </a:solidFill>
              </a:rPr>
              <a:t>" {</a:t>
            </a:r>
          </a:p>
          <a:p>
            <a:r>
              <a:rPr lang="en-IN" dirty="0">
                <a:solidFill>
                  <a:schemeClr val="bg1"/>
                </a:solidFill>
              </a:rPr>
              <a:t>  type    = list(string)</a:t>
            </a:r>
          </a:p>
          <a:p>
            <a:r>
              <a:rPr lang="en-IN" dirty="0">
                <a:solidFill>
                  <a:schemeClr val="bg1"/>
                </a:solidFill>
              </a:rPr>
              <a:t>  default = ["us-west-1a"]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643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10723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Declaring an Input Variable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variable "</a:t>
            </a:r>
            <a:r>
              <a:rPr lang="en-IN" dirty="0" err="1">
                <a:solidFill>
                  <a:schemeClr val="bg1"/>
                </a:solidFill>
              </a:rPr>
              <a:t>docker_ports</a:t>
            </a:r>
            <a:r>
              <a:rPr lang="en-IN" dirty="0">
                <a:solidFill>
                  <a:schemeClr val="bg1"/>
                </a:solidFill>
              </a:rPr>
              <a:t>" {</a:t>
            </a:r>
          </a:p>
          <a:p>
            <a:r>
              <a:rPr lang="en-IN" dirty="0">
                <a:solidFill>
                  <a:schemeClr val="bg1"/>
                </a:solidFill>
              </a:rPr>
              <a:t>  type = list(object({</a:t>
            </a:r>
          </a:p>
          <a:p>
            <a:r>
              <a:rPr lang="en-IN" dirty="0">
                <a:solidFill>
                  <a:schemeClr val="bg1"/>
                </a:solidFill>
              </a:rPr>
              <a:t>    internal = number</a:t>
            </a:r>
          </a:p>
          <a:p>
            <a:r>
              <a:rPr lang="en-IN" dirty="0">
                <a:solidFill>
                  <a:schemeClr val="bg1"/>
                </a:solidFill>
              </a:rPr>
              <a:t>    external = number</a:t>
            </a:r>
          </a:p>
          <a:p>
            <a:r>
              <a:rPr lang="en-IN" dirty="0">
                <a:solidFill>
                  <a:schemeClr val="bg1"/>
                </a:solidFill>
              </a:rPr>
              <a:t>    protocol = string</a:t>
            </a:r>
          </a:p>
          <a:p>
            <a:r>
              <a:rPr lang="en-IN" dirty="0">
                <a:solidFill>
                  <a:schemeClr val="bg1"/>
                </a:solidFill>
              </a:rPr>
              <a:t>  }))</a:t>
            </a:r>
          </a:p>
          <a:p>
            <a:r>
              <a:rPr lang="en-IN" dirty="0">
                <a:solidFill>
                  <a:schemeClr val="bg1"/>
                </a:solidFill>
              </a:rPr>
              <a:t>  default = [</a:t>
            </a:r>
          </a:p>
          <a:p>
            <a:r>
              <a:rPr lang="en-IN" dirty="0">
                <a:solidFill>
                  <a:schemeClr val="bg1"/>
                </a:solidFill>
              </a:rPr>
              <a:t>    {</a:t>
            </a:r>
          </a:p>
          <a:p>
            <a:r>
              <a:rPr lang="en-IN" dirty="0">
                <a:solidFill>
                  <a:schemeClr val="bg1"/>
                </a:solidFill>
              </a:rPr>
              <a:t>      internal = 8300</a:t>
            </a:r>
          </a:p>
          <a:p>
            <a:r>
              <a:rPr lang="en-IN" dirty="0">
                <a:solidFill>
                  <a:schemeClr val="bg1"/>
                </a:solidFill>
              </a:rPr>
              <a:t>      external = 8300</a:t>
            </a:r>
          </a:p>
          <a:p>
            <a:r>
              <a:rPr lang="en-IN" dirty="0">
                <a:solidFill>
                  <a:schemeClr val="bg1"/>
                </a:solidFill>
              </a:rPr>
              <a:t>      protocol = "</a:t>
            </a:r>
            <a:r>
              <a:rPr lang="en-IN" dirty="0" err="1">
                <a:solidFill>
                  <a:schemeClr val="bg1"/>
                </a:solidFill>
              </a:rPr>
              <a:t>tcp</a:t>
            </a:r>
            <a:r>
              <a:rPr lang="en-IN" dirty="0">
                <a:solidFill>
                  <a:schemeClr val="bg1"/>
                </a:solidFill>
              </a:rPr>
              <a:t>"</a:t>
            </a:r>
          </a:p>
          <a:p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r>
              <a:rPr lang="en-IN" dirty="0">
                <a:solidFill>
                  <a:schemeClr val="bg1"/>
                </a:solidFill>
              </a:rPr>
              <a:t>  ]</a:t>
            </a:r>
          </a:p>
          <a:p>
            <a:r>
              <a:rPr lang="en-IN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3325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0" y="2089598"/>
            <a:ext cx="1053797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Declaring an Input Variable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name of a variable can be any valid identifier except the following: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source</a:t>
            </a:r>
          </a:p>
          <a:p>
            <a:r>
              <a:rPr lang="en-US" b="1" dirty="0">
                <a:solidFill>
                  <a:srgbClr val="FF0000"/>
                </a:solidFill>
              </a:rPr>
              <a:t>version</a:t>
            </a:r>
          </a:p>
          <a:p>
            <a:r>
              <a:rPr lang="en-US" b="1" dirty="0">
                <a:solidFill>
                  <a:srgbClr val="FF0000"/>
                </a:solidFill>
              </a:rPr>
              <a:t>providers</a:t>
            </a:r>
          </a:p>
          <a:p>
            <a:r>
              <a:rPr lang="en-US" b="1" dirty="0">
                <a:solidFill>
                  <a:srgbClr val="FF0000"/>
                </a:solidFill>
              </a:rPr>
              <a:t>count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for_each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lifecycle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depends_on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locals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87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0" y="2089598"/>
            <a:ext cx="1077191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Using Input Variable Values</a:t>
            </a:r>
          </a:p>
          <a:p>
            <a:r>
              <a:rPr lang="en-IN" dirty="0">
                <a:solidFill>
                  <a:schemeClr val="bg1"/>
                </a:solidFill>
              </a:rPr>
              <a:t>var.&lt;NAME&gt;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variable "</a:t>
            </a:r>
            <a:r>
              <a:rPr lang="fr-FR" dirty="0" err="1">
                <a:solidFill>
                  <a:schemeClr val="bg1"/>
                </a:solidFill>
              </a:rPr>
              <a:t>prefix</a:t>
            </a:r>
            <a:r>
              <a:rPr lang="en-US" dirty="0">
                <a:solidFill>
                  <a:schemeClr val="bg1"/>
                </a:solidFill>
              </a:rPr>
              <a:t>" {</a:t>
            </a:r>
          </a:p>
          <a:p>
            <a:r>
              <a:rPr lang="en-US" dirty="0">
                <a:solidFill>
                  <a:schemeClr val="bg1"/>
                </a:solidFill>
              </a:rPr>
              <a:t>  default = “demo”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fr-FR" dirty="0" err="1">
                <a:solidFill>
                  <a:schemeClr val="bg1"/>
                </a:solidFill>
              </a:rPr>
              <a:t>resource</a:t>
            </a:r>
            <a:r>
              <a:rPr lang="fr-FR" dirty="0">
                <a:solidFill>
                  <a:schemeClr val="bg1"/>
                </a:solidFill>
              </a:rPr>
              <a:t> "</a:t>
            </a:r>
            <a:r>
              <a:rPr lang="fr-FR" dirty="0" err="1">
                <a:solidFill>
                  <a:schemeClr val="bg1"/>
                </a:solidFill>
              </a:rPr>
              <a:t>azurerm_virtual_network</a:t>
            </a:r>
            <a:r>
              <a:rPr lang="fr-FR" dirty="0">
                <a:solidFill>
                  <a:schemeClr val="bg1"/>
                </a:solidFill>
              </a:rPr>
              <a:t>" "</a:t>
            </a:r>
            <a:r>
              <a:rPr lang="fr-FR" dirty="0" err="1">
                <a:solidFill>
                  <a:schemeClr val="bg1"/>
                </a:solidFill>
              </a:rPr>
              <a:t>demo</a:t>
            </a:r>
            <a:r>
              <a:rPr lang="fr-FR" dirty="0">
                <a:solidFill>
                  <a:schemeClr val="bg1"/>
                </a:solidFill>
              </a:rPr>
              <a:t>" {  </a:t>
            </a:r>
          </a:p>
          <a:p>
            <a:r>
              <a:rPr lang="fr-FR" dirty="0" err="1">
                <a:solidFill>
                  <a:schemeClr val="bg1"/>
                </a:solidFill>
              </a:rPr>
              <a:t>name</a:t>
            </a:r>
            <a:r>
              <a:rPr lang="fr-FR" dirty="0">
                <a:solidFill>
                  <a:schemeClr val="bg1"/>
                </a:solidFill>
              </a:rPr>
              <a:t>                = "${</a:t>
            </a:r>
            <a:r>
              <a:rPr lang="fr-FR" dirty="0" err="1">
                <a:solidFill>
                  <a:schemeClr val="bg1"/>
                </a:solidFill>
              </a:rPr>
              <a:t>var.prefix</a:t>
            </a:r>
            <a:r>
              <a:rPr lang="fr-FR" dirty="0">
                <a:solidFill>
                  <a:schemeClr val="bg1"/>
                </a:solidFill>
              </a:rPr>
              <a:t>}-network"  </a:t>
            </a:r>
          </a:p>
          <a:p>
            <a:r>
              <a:rPr lang="fr-FR" dirty="0">
                <a:solidFill>
                  <a:schemeClr val="bg1"/>
                </a:solidFill>
              </a:rPr>
              <a:t>location            = </a:t>
            </a:r>
            <a:r>
              <a:rPr lang="fr-FR" dirty="0" err="1">
                <a:solidFill>
                  <a:schemeClr val="bg1"/>
                </a:solidFill>
              </a:rPr>
              <a:t>var.location</a:t>
            </a:r>
            <a:r>
              <a:rPr lang="fr-FR" dirty="0">
                <a:solidFill>
                  <a:schemeClr val="bg1"/>
                </a:solidFill>
              </a:rPr>
              <a:t>  </a:t>
            </a:r>
          </a:p>
          <a:p>
            <a:r>
              <a:rPr lang="fr-FR" dirty="0" err="1">
                <a:solidFill>
                  <a:schemeClr val="bg1"/>
                </a:solidFill>
              </a:rPr>
              <a:t>resource_group_name</a:t>
            </a:r>
            <a:r>
              <a:rPr lang="fr-FR" dirty="0">
                <a:solidFill>
                  <a:schemeClr val="bg1"/>
                </a:solidFill>
              </a:rPr>
              <a:t> = azurerm_resource_group.demo.name  </a:t>
            </a:r>
          </a:p>
          <a:p>
            <a:r>
              <a:rPr lang="fr-FR" dirty="0" err="1">
                <a:solidFill>
                  <a:schemeClr val="bg1"/>
                </a:solidFill>
              </a:rPr>
              <a:t>address_space</a:t>
            </a:r>
            <a:r>
              <a:rPr lang="fr-FR" dirty="0">
                <a:solidFill>
                  <a:schemeClr val="bg1"/>
                </a:solidFill>
              </a:rPr>
              <a:t>       = ["10.0.0.0/16"]</a:t>
            </a:r>
          </a:p>
          <a:p>
            <a:r>
              <a:rPr lang="fr-FR" dirty="0">
                <a:solidFill>
                  <a:schemeClr val="bg1"/>
                </a:solidFill>
              </a:rPr>
              <a:t>}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74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020546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Type Constraints</a:t>
            </a:r>
          </a:p>
          <a:p>
            <a:r>
              <a:rPr lang="en-US" dirty="0">
                <a:solidFill>
                  <a:schemeClr val="bg1"/>
                </a:solidFill>
              </a:rPr>
              <a:t>The supported type keywords are: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string</a:t>
            </a:r>
          </a:p>
          <a:p>
            <a:r>
              <a:rPr lang="en-US" dirty="0">
                <a:solidFill>
                  <a:srgbClr val="FF0000"/>
                </a:solidFill>
              </a:rPr>
              <a:t>number</a:t>
            </a:r>
          </a:p>
          <a:p>
            <a:r>
              <a:rPr lang="en-US" dirty="0">
                <a:solidFill>
                  <a:srgbClr val="FF0000"/>
                </a:solidFill>
              </a:rPr>
              <a:t>Bool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type constructors allow you to specify complex types such as collections: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list(&lt;TYPE&gt;)</a:t>
            </a:r>
          </a:p>
          <a:p>
            <a:r>
              <a:rPr lang="en-US" dirty="0">
                <a:solidFill>
                  <a:srgbClr val="FF0000"/>
                </a:solidFill>
              </a:rPr>
              <a:t>set(&lt;TYPE&gt;)</a:t>
            </a:r>
          </a:p>
          <a:p>
            <a:r>
              <a:rPr lang="en-US" dirty="0">
                <a:solidFill>
                  <a:srgbClr val="FF0000"/>
                </a:solidFill>
              </a:rPr>
              <a:t>map(&lt;TYPE&gt;)</a:t>
            </a:r>
          </a:p>
          <a:p>
            <a:r>
              <a:rPr lang="en-US" dirty="0">
                <a:solidFill>
                  <a:srgbClr val="FF0000"/>
                </a:solidFill>
              </a:rPr>
              <a:t>object({&lt;ATTR NAME&gt; = &lt;TYPE&gt;, ... })</a:t>
            </a:r>
          </a:p>
          <a:p>
            <a:r>
              <a:rPr lang="en-US" dirty="0">
                <a:solidFill>
                  <a:srgbClr val="FF0000"/>
                </a:solidFill>
              </a:rPr>
              <a:t>tuple([&lt;TYPE&gt;, ...])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23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06567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Input Variable Documentation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variable "</a:t>
            </a:r>
            <a:r>
              <a:rPr lang="en-US" dirty="0" err="1">
                <a:solidFill>
                  <a:schemeClr val="bg1"/>
                </a:solidFill>
              </a:rPr>
              <a:t>image_id</a:t>
            </a:r>
            <a:r>
              <a:rPr lang="en-US" dirty="0">
                <a:solidFill>
                  <a:schemeClr val="bg1"/>
                </a:solidFill>
              </a:rPr>
              <a:t>" {</a:t>
            </a:r>
          </a:p>
          <a:p>
            <a:r>
              <a:rPr lang="en-US" dirty="0">
                <a:solidFill>
                  <a:schemeClr val="bg1"/>
                </a:solidFill>
              </a:rPr>
              <a:t>  type        = string</a:t>
            </a:r>
          </a:p>
          <a:p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b="1" dirty="0">
                <a:solidFill>
                  <a:srgbClr val="FF0000"/>
                </a:solidFill>
              </a:rPr>
              <a:t>description = "The id of the machine image (AMI) to use for the server."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9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09773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Variables on the Command Line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terraform apply </a:t>
            </a:r>
            <a:r>
              <a:rPr lang="en-IN" b="1" dirty="0">
                <a:solidFill>
                  <a:srgbClr val="FF0000"/>
                </a:solidFill>
              </a:rPr>
              <a:t>-var</a:t>
            </a:r>
            <a:r>
              <a:rPr lang="en-IN" dirty="0">
                <a:solidFill>
                  <a:schemeClr val="bg1"/>
                </a:solidFill>
              </a:rPr>
              <a:t>="</a:t>
            </a:r>
            <a:r>
              <a:rPr lang="en-IN" dirty="0" err="1">
                <a:solidFill>
                  <a:schemeClr val="bg1"/>
                </a:solidFill>
              </a:rPr>
              <a:t>image_id</a:t>
            </a:r>
            <a:r>
              <a:rPr lang="en-IN" dirty="0">
                <a:solidFill>
                  <a:schemeClr val="bg1"/>
                </a:solidFill>
              </a:rPr>
              <a:t>=ami-abc123“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terraform plan -var='</a:t>
            </a:r>
            <a:r>
              <a:rPr lang="en-IN" dirty="0" err="1">
                <a:solidFill>
                  <a:schemeClr val="bg1"/>
                </a:solidFill>
              </a:rPr>
              <a:t>image_id</a:t>
            </a:r>
            <a:r>
              <a:rPr lang="en-IN" dirty="0">
                <a:solidFill>
                  <a:schemeClr val="bg1"/>
                </a:solidFill>
              </a:rPr>
              <a:t>=kumar123' -var="</a:t>
            </a:r>
            <a:r>
              <a:rPr lang="en-IN" dirty="0" err="1">
                <a:solidFill>
                  <a:schemeClr val="bg1"/>
                </a:solidFill>
              </a:rPr>
              <a:t>indata</a:t>
            </a:r>
            <a:r>
              <a:rPr lang="en-IN" dirty="0">
                <a:solidFill>
                  <a:schemeClr val="bg1"/>
                </a:solidFill>
              </a:rPr>
              <a:t>=2222“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terraform apply -var='</a:t>
            </a:r>
            <a:r>
              <a:rPr lang="en-IN" dirty="0" err="1">
                <a:solidFill>
                  <a:schemeClr val="bg1"/>
                </a:solidFill>
              </a:rPr>
              <a:t>image_id_list</a:t>
            </a:r>
            <a:r>
              <a:rPr lang="en-IN" dirty="0">
                <a:solidFill>
                  <a:schemeClr val="bg1"/>
                </a:solidFill>
              </a:rPr>
              <a:t>=["ami-abc123","ami-def456"]'</a:t>
            </a:r>
          </a:p>
          <a:p>
            <a:r>
              <a:rPr lang="en-IN" dirty="0">
                <a:solidFill>
                  <a:schemeClr val="bg1"/>
                </a:solidFill>
              </a:rPr>
              <a:t>terraform apply -var='</a:t>
            </a:r>
            <a:r>
              <a:rPr lang="en-IN" dirty="0" err="1">
                <a:solidFill>
                  <a:schemeClr val="bg1"/>
                </a:solidFill>
              </a:rPr>
              <a:t>image_id_map</a:t>
            </a:r>
            <a:r>
              <a:rPr lang="en-IN" dirty="0">
                <a:solidFill>
                  <a:schemeClr val="bg1"/>
                </a:solidFill>
              </a:rPr>
              <a:t>={"us-east-1":"ami-abc123","us-east-2":"ami-def456"}'</a:t>
            </a:r>
          </a:p>
        </p:txBody>
      </p:sp>
    </p:spTree>
    <p:extLst>
      <p:ext uri="{BB962C8B-B14F-4D97-AF65-F5344CB8AC3E}">
        <p14:creationId xmlns:p14="http://schemas.microsoft.com/office/powerpoint/2010/main" val="4279105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06923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Variable Definitions (.</a:t>
            </a:r>
            <a:r>
              <a:rPr lang="en-IN" b="1" dirty="0" err="1">
                <a:solidFill>
                  <a:schemeClr val="bg1"/>
                </a:solidFill>
              </a:rPr>
              <a:t>tfvars</a:t>
            </a:r>
            <a:r>
              <a:rPr lang="en-IN" b="1" dirty="0">
                <a:solidFill>
                  <a:schemeClr val="bg1"/>
                </a:solidFill>
              </a:rPr>
              <a:t>) Files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dev.tfvars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image_id</a:t>
            </a:r>
            <a:r>
              <a:rPr lang="en-US" dirty="0">
                <a:solidFill>
                  <a:schemeClr val="bg1"/>
                </a:solidFill>
              </a:rPr>
              <a:t> = "ami-abc123"</a:t>
            </a:r>
          </a:p>
          <a:p>
            <a:r>
              <a:rPr lang="en-US" dirty="0" err="1">
                <a:solidFill>
                  <a:schemeClr val="bg1"/>
                </a:solidFill>
              </a:rPr>
              <a:t>availability_zone_names</a:t>
            </a:r>
            <a:r>
              <a:rPr lang="en-US" dirty="0">
                <a:solidFill>
                  <a:schemeClr val="bg1"/>
                </a:solidFill>
              </a:rPr>
              <a:t> = [</a:t>
            </a:r>
          </a:p>
          <a:p>
            <a:r>
              <a:rPr lang="en-US" dirty="0">
                <a:solidFill>
                  <a:schemeClr val="bg1"/>
                </a:solidFill>
              </a:rPr>
              <a:t>  "us-east-1a",</a:t>
            </a:r>
          </a:p>
          <a:p>
            <a:r>
              <a:rPr lang="en-US" dirty="0">
                <a:solidFill>
                  <a:schemeClr val="bg1"/>
                </a:solidFill>
              </a:rPr>
              <a:t>  "us-west-1c",</a:t>
            </a:r>
          </a:p>
          <a:p>
            <a:r>
              <a:rPr lang="en-US" dirty="0">
                <a:solidFill>
                  <a:schemeClr val="bg1"/>
                </a:solidFill>
              </a:rPr>
              <a:t>]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terraform apply -var-file=“</a:t>
            </a:r>
            <a:r>
              <a:rPr lang="en-IN" dirty="0" err="1">
                <a:solidFill>
                  <a:schemeClr val="bg1"/>
                </a:solidFill>
              </a:rPr>
              <a:t>dev.tfvars</a:t>
            </a:r>
            <a:r>
              <a:rPr lang="en-IN" dirty="0">
                <a:solidFill>
                  <a:schemeClr val="bg1"/>
                </a:solidFill>
              </a:rPr>
              <a:t>“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Files named exactly </a:t>
            </a:r>
            <a:r>
              <a:rPr lang="en-IN" dirty="0" err="1">
                <a:solidFill>
                  <a:schemeClr val="bg1"/>
                </a:solidFill>
              </a:rPr>
              <a:t>terraform.tfvars</a:t>
            </a:r>
            <a:r>
              <a:rPr lang="en-IN" dirty="0">
                <a:solidFill>
                  <a:schemeClr val="bg1"/>
                </a:solidFill>
              </a:rPr>
              <a:t> or </a:t>
            </a:r>
            <a:r>
              <a:rPr lang="en-IN" dirty="0" err="1">
                <a:solidFill>
                  <a:schemeClr val="bg1"/>
                </a:solidFill>
              </a:rPr>
              <a:t>terraform.tfvars.json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r>
              <a:rPr lang="en-IN" dirty="0">
                <a:solidFill>
                  <a:schemeClr val="bg1"/>
                </a:solidFill>
              </a:rPr>
              <a:t>Any files with names ending in .</a:t>
            </a:r>
            <a:r>
              <a:rPr lang="en-IN" dirty="0" err="1">
                <a:solidFill>
                  <a:schemeClr val="bg1"/>
                </a:solidFill>
              </a:rPr>
              <a:t>auto.tfvars</a:t>
            </a:r>
            <a:r>
              <a:rPr lang="en-IN" dirty="0">
                <a:solidFill>
                  <a:schemeClr val="bg1"/>
                </a:solidFill>
              </a:rPr>
              <a:t> or .</a:t>
            </a:r>
            <a:r>
              <a:rPr lang="en-IN" dirty="0" err="1">
                <a:solidFill>
                  <a:schemeClr val="bg1"/>
                </a:solidFill>
              </a:rPr>
              <a:t>auto.tfvars.json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3357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Environment Variables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TF_VAR_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export </a:t>
            </a:r>
            <a:r>
              <a:rPr lang="en-US" dirty="0" err="1">
                <a:solidFill>
                  <a:schemeClr val="bg1"/>
                </a:solidFill>
              </a:rPr>
              <a:t>TF_VAR_image_id</a:t>
            </a:r>
            <a:r>
              <a:rPr lang="en-US" dirty="0">
                <a:solidFill>
                  <a:schemeClr val="bg1"/>
                </a:solidFill>
              </a:rPr>
              <a:t>=ami-abc123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273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0" y="2089598"/>
            <a:ext cx="108942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Complex-typed Values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export </a:t>
            </a:r>
            <a:r>
              <a:rPr lang="en-US" dirty="0" err="1">
                <a:solidFill>
                  <a:schemeClr val="bg1"/>
                </a:solidFill>
              </a:rPr>
              <a:t>TF_VAR_availability_zone_names</a:t>
            </a:r>
            <a:r>
              <a:rPr lang="en-US" dirty="0">
                <a:solidFill>
                  <a:schemeClr val="bg1"/>
                </a:solidFill>
              </a:rPr>
              <a:t>='["us-west-1b","us-west-1d"]'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652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Input Variables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CDBF0-A00D-4168-90C4-CD30528FF538}"/>
              </a:ext>
            </a:extLst>
          </p:cNvPr>
          <p:cNvSpPr/>
          <p:nvPr/>
        </p:nvSpPr>
        <p:spPr>
          <a:xfrm>
            <a:off x="684211" y="2089598"/>
            <a:ext cx="110129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bg1"/>
                </a:solidFill>
              </a:rPr>
              <a:t>Variable Definition Precedence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Terraform loads variables in the following order, with later sources taking precedence over earlier ones: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Environment variables</a:t>
            </a:r>
          </a:p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 err="1">
                <a:solidFill>
                  <a:schemeClr val="bg1"/>
                </a:solidFill>
              </a:rPr>
              <a:t>terraform.tfvars</a:t>
            </a:r>
            <a:r>
              <a:rPr lang="en-US" dirty="0">
                <a:solidFill>
                  <a:schemeClr val="bg1"/>
                </a:solidFill>
              </a:rPr>
              <a:t> file, if present.</a:t>
            </a:r>
          </a:p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 err="1">
                <a:solidFill>
                  <a:schemeClr val="bg1"/>
                </a:solidFill>
              </a:rPr>
              <a:t>terraform.tfvars.json</a:t>
            </a:r>
            <a:r>
              <a:rPr lang="en-US" dirty="0">
                <a:solidFill>
                  <a:schemeClr val="bg1"/>
                </a:solidFill>
              </a:rPr>
              <a:t> file, if present.</a:t>
            </a:r>
          </a:p>
          <a:p>
            <a:r>
              <a:rPr lang="en-US" dirty="0">
                <a:solidFill>
                  <a:schemeClr val="bg1"/>
                </a:solidFill>
              </a:rPr>
              <a:t>Any *.</a:t>
            </a:r>
            <a:r>
              <a:rPr lang="en-US" dirty="0" err="1">
                <a:solidFill>
                  <a:schemeClr val="bg1"/>
                </a:solidFill>
              </a:rPr>
              <a:t>auto.tfvars</a:t>
            </a:r>
            <a:r>
              <a:rPr lang="en-US" dirty="0">
                <a:solidFill>
                  <a:schemeClr val="bg1"/>
                </a:solidFill>
              </a:rPr>
              <a:t> or *.</a:t>
            </a:r>
            <a:r>
              <a:rPr lang="en-US" dirty="0" err="1">
                <a:solidFill>
                  <a:schemeClr val="bg1"/>
                </a:solidFill>
              </a:rPr>
              <a:t>auto.tfvars.json</a:t>
            </a:r>
            <a:r>
              <a:rPr lang="en-US" dirty="0">
                <a:solidFill>
                  <a:schemeClr val="bg1"/>
                </a:solidFill>
              </a:rPr>
              <a:t> files, processed in lexical order of their filenames.</a:t>
            </a:r>
          </a:p>
          <a:p>
            <a:r>
              <a:rPr lang="en-US" dirty="0">
                <a:solidFill>
                  <a:schemeClr val="bg1"/>
                </a:solidFill>
              </a:rPr>
              <a:t>Any -var and -var-file options on the command line, in the order they are provided. 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021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1507789" cy="717998"/>
          </a:xfrm>
          <a:solidFill>
            <a:srgbClr val="003DB8"/>
          </a:solidFill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Demo</a:t>
            </a:r>
          </a:p>
        </p:txBody>
      </p:sp>
      <p:pic>
        <p:nvPicPr>
          <p:cNvPr id="12418" name="Picture 130" descr="Terraform Consulting Services and Solution Provider: TX, USA">
            <a:extLst>
              <a:ext uri="{FF2B5EF4-FFF2-40B4-BE49-F238E27FC236}">
                <a16:creationId xmlns:a16="http://schemas.microsoft.com/office/drawing/2014/main" id="{9554C899-B0F4-49D9-ACB2-AD7862E76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82" y="0"/>
            <a:ext cx="9698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318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12872</TotalTime>
  <Words>632</Words>
  <Application>Microsoft Office PowerPoint</Application>
  <PresentationFormat>Widescreen</PresentationFormat>
  <Paragraphs>185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Century Gothic</vt:lpstr>
      <vt:lpstr>Wingdings</vt:lpstr>
      <vt:lpstr>Wingdings 3</vt:lpstr>
      <vt:lpstr>Slice</vt:lpstr>
      <vt:lpstr>PowerPoint Presentation</vt:lpstr>
      <vt:lpstr>PowerPoint Presentation</vt:lpstr>
      <vt:lpstr>Input Variables</vt:lpstr>
      <vt:lpstr>Input Variables</vt:lpstr>
      <vt:lpstr>Input Variables</vt:lpstr>
      <vt:lpstr>Input Variables</vt:lpstr>
      <vt:lpstr>Input Variables</vt:lpstr>
      <vt:lpstr>Input Variables</vt:lpstr>
      <vt:lpstr>Input Variables</vt:lpstr>
      <vt:lpstr>Input Variables</vt:lpstr>
      <vt:lpstr>Input Variables</vt:lpstr>
      <vt:lpstr>Input Variables</vt:lpstr>
      <vt:lpstr>Input Variables</vt:lpstr>
      <vt:lpstr>Input Variables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solution for AWSomeTrips</dc:title>
  <dc:creator>vinod.k</dc:creator>
  <cp:lastModifiedBy>Kumar Kumar</cp:lastModifiedBy>
  <cp:revision>419</cp:revision>
  <dcterms:created xsi:type="dcterms:W3CDTF">2018-04-05T06:53:35Z</dcterms:created>
  <dcterms:modified xsi:type="dcterms:W3CDTF">2026-03-11T08:31:03Z</dcterms:modified>
</cp:coreProperties>
</file>