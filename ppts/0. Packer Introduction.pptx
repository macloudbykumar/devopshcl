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317" r:id="rId3"/>
    <p:sldId id="337" r:id="rId4"/>
    <p:sldId id="338" r:id="rId5"/>
    <p:sldId id="356" r:id="rId6"/>
    <p:sldId id="351" r:id="rId7"/>
    <p:sldId id="353" r:id="rId8"/>
    <p:sldId id="352" r:id="rId9"/>
    <p:sldId id="339" r:id="rId10"/>
    <p:sldId id="272" r:id="rId11"/>
    <p:sldId id="355" r:id="rId12"/>
    <p:sldId id="35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0072" autoAdjust="0"/>
  </p:normalViewPr>
  <p:slideViewPr>
    <p:cSldViewPr snapToGrid="0">
      <p:cViewPr varScale="1">
        <p:scale>
          <a:sx n="54" d="100"/>
          <a:sy n="54" d="100"/>
        </p:scale>
        <p:origin x="1148" y="40"/>
      </p:cViewPr>
      <p:guideLst>
        <p:guide orient="horz" pos="2160"/>
        <p:guide pos="3840"/>
      </p:guideLst>
    </p:cSldViewPr>
  </p:slideViewPr>
  <p:notesTextViewPr>
    <p:cViewPr>
      <p:scale>
        <a:sx n="1" d="1"/>
        <a:sy n="1" d="1"/>
      </p:scale>
      <p:origin x="0" y="0"/>
    </p:cViewPr>
  </p:notesTextViewPr>
  <p:sorterViewPr>
    <p:cViewPr>
      <p:scale>
        <a:sx n="100" d="100"/>
        <a:sy n="100" d="100"/>
      </p:scale>
      <p:origin x="0" y="-23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033EC-38BF-4AD4-9467-7D2380108C19}" type="datetimeFigureOut">
              <a:rPr lang="en-US" smtClean="0"/>
              <a:t>5/16/2020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9A354F-E8EA-4E4F-BEEB-F269B5F913B6}" type="slidenum">
              <a:rPr lang="en-US" smtClean="0"/>
              <a:t>‹#›</a:t>
            </a:fld>
            <a:endParaRPr lang="en-US"/>
          </a:p>
        </p:txBody>
      </p:sp>
    </p:spTree>
    <p:extLst>
      <p:ext uri="{BB962C8B-B14F-4D97-AF65-F5344CB8AC3E}">
        <p14:creationId xmlns:p14="http://schemas.microsoft.com/office/powerpoint/2010/main" val="190164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Amazon_Machine_Imag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a:t>
            </a:fld>
            <a:endParaRPr lang="en-US"/>
          </a:p>
        </p:txBody>
      </p:sp>
    </p:spTree>
    <p:extLst>
      <p:ext uri="{BB962C8B-B14F-4D97-AF65-F5344CB8AC3E}">
        <p14:creationId xmlns:p14="http://schemas.microsoft.com/office/powerpoint/2010/main" val="205755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solidFill>
                <a:schemeClr val="bg1"/>
              </a:solidFill>
            </a:endParaRPr>
          </a:p>
          <a:p>
            <a:r>
              <a:rPr lang="en-US" sz="1200" dirty="0">
                <a:solidFill>
                  <a:schemeClr val="bg1"/>
                </a:solidFill>
              </a:rPr>
              <a:t>Hello and welcome to this course, Hands-on Packer, where we're going to learn and get our hands dirty about Build automated machine images in AWS using the open source software, Packer. Throughout this course we'll be showing you the concepts and fundamentals of the software, along with real world examples and exercises on doing many AMI related tasks. My name is Vinod kumar, and in this module we'll be introducing packer, what it can do, and why you'd want to use it.</a:t>
            </a:r>
          </a:p>
          <a:p>
            <a:endParaRPr lang="en-US" sz="1200" dirty="0">
              <a:solidFill>
                <a:schemeClr val="bg1"/>
              </a:solidFill>
            </a:endParaRPr>
          </a:p>
          <a:p>
            <a:endParaRPr lang="en-US" sz="1200" dirty="0">
              <a:solidFill>
                <a:schemeClr val="bg1"/>
              </a:solidFill>
            </a:endParaRPr>
          </a:p>
          <a:p>
            <a:r>
              <a:rPr lang="en-US" sz="1200" dirty="0">
                <a:solidFill>
                  <a:schemeClr val="bg1"/>
                </a:solidFill>
              </a:rPr>
              <a:t>Packer is an open source tool for creating identical machine images for multiple platforms from a single source configuration. Packer is lightweight, runs on every major operating system, and is highly performant, creating machine images for multiple platforms in parallel. Packer does not replace configuration management like Chef or Puppet. In fact, when building images, Packer is able to use tools like Chef or Puppet to install software onto the image.</a:t>
            </a:r>
          </a:p>
          <a:p>
            <a:r>
              <a:rPr lang="en-US" sz="1200" dirty="0">
                <a:solidFill>
                  <a:schemeClr val="bg1"/>
                </a:solidFill>
              </a:rPr>
              <a:t>A machine image is a single static unit that contains a pre-configured operating system and installed software which is used to quickly create new running machines. Machine image formats change for each platform. Some examples include </a:t>
            </a:r>
            <a:r>
              <a:rPr lang="en-US" sz="1200" dirty="0">
                <a:solidFill>
                  <a:schemeClr val="bg1"/>
                </a:solidFill>
                <a:hlinkClick r:id="rId3"/>
              </a:rPr>
              <a:t>AMIs</a:t>
            </a:r>
            <a:r>
              <a:rPr lang="en-US" sz="1200" dirty="0">
                <a:solidFill>
                  <a:schemeClr val="bg1"/>
                </a:solidFill>
              </a:rPr>
              <a:t> for EC2, VMDK/VMX files for VMware, OVF exports for VirtualBox, etc.</a:t>
            </a:r>
          </a:p>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3</a:t>
            </a:fld>
            <a:endParaRPr lang="en-US"/>
          </a:p>
        </p:txBody>
      </p:sp>
    </p:spTree>
    <p:extLst>
      <p:ext uri="{BB962C8B-B14F-4D97-AF65-F5344CB8AC3E}">
        <p14:creationId xmlns:p14="http://schemas.microsoft.com/office/powerpoint/2010/main" val="2771366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4</a:t>
            </a:fld>
            <a:endParaRPr lang="en-US"/>
          </a:p>
        </p:txBody>
      </p:sp>
    </p:spTree>
    <p:extLst>
      <p:ext uri="{BB962C8B-B14F-4D97-AF65-F5344CB8AC3E}">
        <p14:creationId xmlns:p14="http://schemas.microsoft.com/office/powerpoint/2010/main" val="3466173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5</a:t>
            </a:fld>
            <a:endParaRPr lang="en-US"/>
          </a:p>
        </p:txBody>
      </p:sp>
    </p:spTree>
    <p:extLst>
      <p:ext uri="{BB962C8B-B14F-4D97-AF65-F5344CB8AC3E}">
        <p14:creationId xmlns:p14="http://schemas.microsoft.com/office/powerpoint/2010/main" val="2722405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6</a:t>
            </a:fld>
            <a:endParaRPr lang="en-US"/>
          </a:p>
        </p:txBody>
      </p:sp>
    </p:spTree>
    <p:extLst>
      <p:ext uri="{BB962C8B-B14F-4D97-AF65-F5344CB8AC3E}">
        <p14:creationId xmlns:p14="http://schemas.microsoft.com/office/powerpoint/2010/main" val="3500454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7</a:t>
            </a:fld>
            <a:endParaRPr lang="en-US"/>
          </a:p>
        </p:txBody>
      </p:sp>
    </p:spTree>
    <p:extLst>
      <p:ext uri="{BB962C8B-B14F-4D97-AF65-F5344CB8AC3E}">
        <p14:creationId xmlns:p14="http://schemas.microsoft.com/office/powerpoint/2010/main" val="2409832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8</a:t>
            </a:fld>
            <a:endParaRPr lang="en-US"/>
          </a:p>
        </p:txBody>
      </p:sp>
    </p:spTree>
    <p:extLst>
      <p:ext uri="{BB962C8B-B14F-4D97-AF65-F5344CB8AC3E}">
        <p14:creationId xmlns:p14="http://schemas.microsoft.com/office/powerpoint/2010/main" val="3286390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9</a:t>
            </a:fld>
            <a:endParaRPr lang="en-US"/>
          </a:p>
        </p:txBody>
      </p:sp>
    </p:spTree>
    <p:extLst>
      <p:ext uri="{BB962C8B-B14F-4D97-AF65-F5344CB8AC3E}">
        <p14:creationId xmlns:p14="http://schemas.microsoft.com/office/powerpoint/2010/main" val="736986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10"/>
          </p:nvPr>
        </p:nvSpPr>
        <p:spPr/>
        <p:txBody>
          <a:bodyPr/>
          <a:lstStyle/>
          <a:p>
            <a:fld id="{A79A354F-E8EA-4E4F-BEEB-F269B5F913B6}" type="slidenum">
              <a:rPr lang="en-US" smtClean="0"/>
              <a:t>10</a:t>
            </a:fld>
            <a:endParaRPr lang="en-US"/>
          </a:p>
        </p:txBody>
      </p:sp>
    </p:spTree>
    <p:extLst>
      <p:ext uri="{BB962C8B-B14F-4D97-AF65-F5344CB8AC3E}">
        <p14:creationId xmlns:p14="http://schemas.microsoft.com/office/powerpoint/2010/main" val="2164751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11</a:t>
            </a:fld>
            <a:endParaRPr lang="en-US"/>
          </a:p>
        </p:txBody>
      </p:sp>
    </p:spTree>
    <p:extLst>
      <p:ext uri="{BB962C8B-B14F-4D97-AF65-F5344CB8AC3E}">
        <p14:creationId xmlns:p14="http://schemas.microsoft.com/office/powerpoint/2010/main" val="2854794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12</a:t>
            </a:fld>
            <a:endParaRPr lang="en-US"/>
          </a:p>
        </p:txBody>
      </p:sp>
    </p:spTree>
    <p:extLst>
      <p:ext uri="{BB962C8B-B14F-4D97-AF65-F5344CB8AC3E}">
        <p14:creationId xmlns:p14="http://schemas.microsoft.com/office/powerpoint/2010/main" val="4057432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5/16/2020</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tretch>
            <a:fillRect/>
          </a:stretch>
        </p:blipFill>
        <p:spPr>
          <a:xfrm>
            <a:off x="684209" y="1484008"/>
            <a:ext cx="11479656" cy="36127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Subtitle 2"/>
          <p:cNvSpPr>
            <a:spLocks noGrp="1"/>
          </p:cNvSpPr>
          <p:nvPr>
            <p:ph type="subTitle" idx="1"/>
          </p:nvPr>
        </p:nvSpPr>
        <p:spPr>
          <a:xfrm>
            <a:off x="684209" y="5118100"/>
            <a:ext cx="6400800" cy="1025318"/>
          </a:xfrm>
        </p:spPr>
        <p:txBody>
          <a:bodyPr/>
          <a:lstStyle/>
          <a:p>
            <a:r>
              <a:rPr lang="en-US" b="1" dirty="0">
                <a:solidFill>
                  <a:schemeClr val="bg1"/>
                </a:solidFill>
              </a:rPr>
              <a:t>Kumar</a:t>
            </a:r>
          </a:p>
        </p:txBody>
      </p:sp>
      <p:sp>
        <p:nvSpPr>
          <p:cNvPr id="6" name="Title 1"/>
          <p:cNvSpPr txBox="1">
            <a:spLocks/>
          </p:cNvSpPr>
          <p:nvPr/>
        </p:nvSpPr>
        <p:spPr>
          <a:xfrm>
            <a:off x="684211" y="685800"/>
            <a:ext cx="11507789" cy="717998"/>
          </a:xfrm>
          <a:prstGeom prst="rect">
            <a:avLst/>
          </a:prstGeo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lnSpcReduction="10000"/>
          </a:bodyPr>
          <a:lstStyle>
            <a:lvl1pPr>
              <a:spcBef>
                <a:spcPct val="0"/>
              </a:spcBef>
              <a:buNone/>
              <a:defRPr sz="4800" cap="all">
                <a:ln w="3175" cmpd="sng">
                  <a:noFill/>
                </a:ln>
                <a:solidFill>
                  <a:schemeClr val="tx1"/>
                </a:solidFill>
                <a:effectLst/>
              </a:defRPr>
            </a:lvl1pPr>
          </a:lstStyle>
          <a:p>
            <a:r>
              <a:rPr lang="en-US" dirty="0"/>
              <a:t>Packer</a:t>
            </a:r>
          </a:p>
        </p:txBody>
      </p:sp>
      <p:pic>
        <p:nvPicPr>
          <p:cNvPr id="4" name="Picture 3"/>
          <p:cNvPicPr>
            <a:picLocks noChangeAspect="1"/>
          </p:cNvPicPr>
          <p:nvPr/>
        </p:nvPicPr>
        <p:blipFill>
          <a:blip r:embed="rId5"/>
          <a:stretch>
            <a:fillRect/>
          </a:stretch>
        </p:blipFill>
        <p:spPr>
          <a:xfrm>
            <a:off x="10801790" y="47124"/>
            <a:ext cx="1362075" cy="590550"/>
          </a:xfrm>
          <a:prstGeom prst="rect">
            <a:avLst/>
          </a:prstGeom>
        </p:spPr>
      </p:pic>
      <p:sp>
        <p:nvSpPr>
          <p:cNvPr id="5" name="Rectangle 4"/>
          <p:cNvSpPr/>
          <p:nvPr/>
        </p:nvSpPr>
        <p:spPr>
          <a:xfrm>
            <a:off x="9378397" y="5181217"/>
            <a:ext cx="2797561" cy="369332"/>
          </a:xfrm>
          <a:prstGeom prst="rect">
            <a:avLst/>
          </a:prstGeom>
        </p:spPr>
        <p:txBody>
          <a:bodyPr wrap="none">
            <a:spAutoFit/>
          </a:bodyPr>
          <a:lstStyle/>
          <a:p>
            <a:r>
              <a:rPr lang="en-US" dirty="0">
                <a:solidFill>
                  <a:srgbClr val="0070C0"/>
                </a:solidFill>
              </a:rPr>
              <a:t>https://www.packer.io/</a:t>
            </a:r>
          </a:p>
        </p:txBody>
      </p:sp>
      <p:sp>
        <p:nvSpPr>
          <p:cNvPr id="7" name="Rectangle 6"/>
          <p:cNvSpPr/>
          <p:nvPr/>
        </p:nvSpPr>
        <p:spPr>
          <a:xfrm>
            <a:off x="2126616" y="1852976"/>
            <a:ext cx="2743059" cy="369332"/>
          </a:xfrm>
          <a:prstGeom prst="rect">
            <a:avLst/>
          </a:prstGeom>
        </p:spPr>
        <p:txBody>
          <a:bodyPr wrap="none">
            <a:spAutoFit/>
          </a:bodyPr>
          <a:lstStyle/>
          <a:p>
            <a:r>
              <a:rPr lang="en-US" dirty="0"/>
              <a:t>https://www.packer.io</a:t>
            </a:r>
          </a:p>
        </p:txBody>
      </p:sp>
    </p:spTree>
    <p:extLst>
      <p:ext uri="{BB962C8B-B14F-4D97-AF65-F5344CB8AC3E}">
        <p14:creationId xmlns:p14="http://schemas.microsoft.com/office/powerpoint/2010/main" val="172241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in </a:t>
            </a:r>
            <a:r>
              <a:rPr lang="en-US" dirty="0" err="1">
                <a:solidFill>
                  <a:schemeClr val="tx1"/>
                </a:solidFill>
              </a:rPr>
              <a:t>XebiaLabs</a:t>
            </a:r>
            <a:endParaRPr lang="en-US" dirty="0">
              <a:solidFill>
                <a:schemeClr val="tx1"/>
              </a:solidFill>
            </a:endParaRP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7" name="Picture 6"/>
          <p:cNvPicPr>
            <a:picLocks noChangeAspect="1"/>
          </p:cNvPicPr>
          <p:nvPr/>
        </p:nvPicPr>
        <p:blipFill>
          <a:blip r:embed="rId2"/>
          <a:stretch>
            <a:fillRect/>
          </a:stretch>
        </p:blipFill>
        <p:spPr>
          <a:xfrm>
            <a:off x="10801790" y="47124"/>
            <a:ext cx="1362075" cy="590550"/>
          </a:xfrm>
          <a:prstGeom prst="rect">
            <a:avLst/>
          </a:prstGeom>
        </p:spPr>
      </p:pic>
      <p:pic>
        <p:nvPicPr>
          <p:cNvPr id="5" name="Picture 4"/>
          <p:cNvPicPr>
            <a:picLocks noChangeAspect="1"/>
          </p:cNvPicPr>
          <p:nvPr/>
        </p:nvPicPr>
        <p:blipFill>
          <a:blip r:embed="rId3"/>
          <a:stretch>
            <a:fillRect/>
          </a:stretch>
        </p:blipFill>
        <p:spPr>
          <a:xfrm>
            <a:off x="786809" y="1541720"/>
            <a:ext cx="11028953" cy="4135179"/>
          </a:xfrm>
          <a:prstGeom prst="rect">
            <a:avLst/>
          </a:prstGeom>
        </p:spPr>
      </p:pic>
    </p:spTree>
    <p:extLst>
      <p:ext uri="{BB962C8B-B14F-4D97-AF65-F5344CB8AC3E}">
        <p14:creationId xmlns:p14="http://schemas.microsoft.com/office/powerpoint/2010/main" val="2164578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About Packer</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7" name="Picture 6"/>
          <p:cNvPicPr>
            <a:picLocks noChangeAspect="1"/>
          </p:cNvPicPr>
          <p:nvPr/>
        </p:nvPicPr>
        <p:blipFill>
          <a:blip r:embed="rId3"/>
          <a:stretch>
            <a:fillRect/>
          </a:stretch>
        </p:blipFill>
        <p:spPr>
          <a:xfrm>
            <a:off x="10801790" y="47124"/>
            <a:ext cx="1362075" cy="590550"/>
          </a:xfrm>
          <a:prstGeom prst="rect">
            <a:avLst/>
          </a:prstGeom>
        </p:spPr>
      </p:pic>
      <p:pic>
        <p:nvPicPr>
          <p:cNvPr id="3" name="Picture 2"/>
          <p:cNvPicPr>
            <a:picLocks noChangeAspect="1"/>
          </p:cNvPicPr>
          <p:nvPr/>
        </p:nvPicPr>
        <p:blipFill>
          <a:blip r:embed="rId4"/>
          <a:stretch>
            <a:fillRect/>
          </a:stretch>
        </p:blipFill>
        <p:spPr>
          <a:xfrm>
            <a:off x="3562350" y="2286000"/>
            <a:ext cx="5067300" cy="2286000"/>
          </a:xfrm>
          <a:prstGeom prst="rect">
            <a:avLst/>
          </a:prstGeom>
        </p:spPr>
      </p:pic>
    </p:spTree>
    <p:extLst>
      <p:ext uri="{BB962C8B-B14F-4D97-AF65-F5344CB8AC3E}">
        <p14:creationId xmlns:p14="http://schemas.microsoft.com/office/powerpoint/2010/main" val="230675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Workflow</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8" name="Picture 7"/>
          <p:cNvPicPr>
            <a:picLocks noChangeAspect="1"/>
          </p:cNvPicPr>
          <p:nvPr/>
        </p:nvPicPr>
        <p:blipFill>
          <a:blip r:embed="rId3"/>
          <a:stretch>
            <a:fillRect/>
          </a:stretch>
        </p:blipFill>
        <p:spPr>
          <a:xfrm>
            <a:off x="10801790" y="47124"/>
            <a:ext cx="1362075" cy="590550"/>
          </a:xfrm>
          <a:prstGeom prst="rect">
            <a:avLst/>
          </a:prstGeom>
        </p:spPr>
      </p:pic>
      <p:pic>
        <p:nvPicPr>
          <p:cNvPr id="11" name="Picture 10"/>
          <p:cNvPicPr>
            <a:picLocks noChangeAspect="1"/>
          </p:cNvPicPr>
          <p:nvPr/>
        </p:nvPicPr>
        <p:blipFill>
          <a:blip r:embed="rId4"/>
          <a:stretch>
            <a:fillRect/>
          </a:stretch>
        </p:blipFill>
        <p:spPr>
          <a:xfrm>
            <a:off x="684211" y="1976687"/>
            <a:ext cx="9615620" cy="3569871"/>
          </a:xfrm>
          <a:prstGeom prst="rect">
            <a:avLst/>
          </a:prstGeom>
        </p:spPr>
      </p:pic>
      <p:sp>
        <p:nvSpPr>
          <p:cNvPr id="3" name="Rectangle 2">
            <a:extLst>
              <a:ext uri="{FF2B5EF4-FFF2-40B4-BE49-F238E27FC236}">
                <a16:creationId xmlns:a16="http://schemas.microsoft.com/office/drawing/2014/main" id="{07F77684-DC1D-4E61-A48D-7D56D19A9F80}"/>
              </a:ext>
            </a:extLst>
          </p:cNvPr>
          <p:cNvSpPr/>
          <p:nvPr/>
        </p:nvSpPr>
        <p:spPr>
          <a:xfrm>
            <a:off x="8578516" y="1868705"/>
            <a:ext cx="1479884" cy="46490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t>OCI Images</a:t>
            </a:r>
          </a:p>
        </p:txBody>
      </p:sp>
    </p:spTree>
    <p:extLst>
      <p:ext uri="{BB962C8B-B14F-4D97-AF65-F5344CB8AC3E}">
        <p14:creationId xmlns:p14="http://schemas.microsoft.com/office/powerpoint/2010/main" val="2653356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details</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8" name="Picture 7"/>
          <p:cNvPicPr>
            <a:picLocks noChangeAspect="1"/>
          </p:cNvPicPr>
          <p:nvPr/>
        </p:nvPicPr>
        <p:blipFill>
          <a:blip r:embed="rId3"/>
          <a:stretch>
            <a:fillRect/>
          </a:stretch>
        </p:blipFill>
        <p:spPr>
          <a:xfrm>
            <a:off x="10801790" y="47124"/>
            <a:ext cx="1362075" cy="590550"/>
          </a:xfrm>
          <a:prstGeom prst="rect">
            <a:avLst/>
          </a:prstGeom>
        </p:spPr>
      </p:pic>
      <p:sp>
        <p:nvSpPr>
          <p:cNvPr id="6" name="Horizontal Scroll 5"/>
          <p:cNvSpPr/>
          <p:nvPr/>
        </p:nvSpPr>
        <p:spPr>
          <a:xfrm>
            <a:off x="2213810" y="1451924"/>
            <a:ext cx="7988970" cy="5189507"/>
          </a:xfrm>
          <a:prstGeom prst="horizontalScroll">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solidFill>
                  <a:schemeClr val="bg1"/>
                </a:solidFill>
              </a:rPr>
              <a:t>{</a:t>
            </a:r>
          </a:p>
          <a:p>
            <a:r>
              <a:rPr lang="en-US" dirty="0">
                <a:solidFill>
                  <a:schemeClr val="bg1"/>
                </a:solidFill>
              </a:rPr>
              <a:t>  "variables": {</a:t>
            </a:r>
          </a:p>
          <a:p>
            <a:r>
              <a:rPr lang="en-US" dirty="0">
                <a:solidFill>
                  <a:schemeClr val="bg1"/>
                </a:solidFill>
              </a:rPr>
              <a:t>    "aws_access_key": "aws_access_key”,</a:t>
            </a:r>
          </a:p>
          <a:p>
            <a:r>
              <a:rPr lang="en-US" dirty="0">
                <a:solidFill>
                  <a:schemeClr val="bg1"/>
                </a:solidFill>
              </a:rPr>
              <a:t>    "aws_secret_key": "aws_secret_key"</a:t>
            </a:r>
          </a:p>
          <a:p>
            <a:r>
              <a:rPr lang="en-US" dirty="0">
                <a:solidFill>
                  <a:schemeClr val="bg1"/>
                </a:solidFill>
              </a:rPr>
              <a:t>  },</a:t>
            </a:r>
          </a:p>
          <a:p>
            <a:r>
              <a:rPr lang="en-US" dirty="0">
                <a:solidFill>
                  <a:schemeClr val="bg1"/>
                </a:solidFill>
              </a:rPr>
              <a:t>  "builders": [{</a:t>
            </a:r>
          </a:p>
          <a:p>
            <a:r>
              <a:rPr lang="en-US" dirty="0">
                <a:solidFill>
                  <a:schemeClr val="bg1"/>
                </a:solidFill>
              </a:rPr>
              <a:t>   }],</a:t>
            </a:r>
          </a:p>
          <a:p>
            <a:r>
              <a:rPr lang="en-US" dirty="0">
                <a:solidFill>
                  <a:schemeClr val="bg1"/>
                </a:solidFill>
              </a:rPr>
              <a:t>  "provisioners": [</a:t>
            </a:r>
          </a:p>
          <a:p>
            <a:r>
              <a:rPr lang="en-US" dirty="0">
                <a:solidFill>
                  <a:schemeClr val="bg1"/>
                </a:solidFill>
              </a:rPr>
              <a:t>    ],</a:t>
            </a:r>
          </a:p>
          <a:p>
            <a:r>
              <a:rPr lang="en-US" dirty="0">
                <a:solidFill>
                  <a:schemeClr val="bg1"/>
                </a:solidFill>
              </a:rPr>
              <a:t>  "post-processors": ["vagrant"]</a:t>
            </a:r>
          </a:p>
          <a:p>
            <a:r>
              <a:rPr lang="en-US" dirty="0">
                <a:solidFill>
                  <a:schemeClr val="bg1"/>
                </a:solidFill>
              </a:rPr>
              <a:t>}</a:t>
            </a:r>
          </a:p>
        </p:txBody>
      </p:sp>
      <p:sp>
        <p:nvSpPr>
          <p:cNvPr id="9" name="TextBox 8"/>
          <p:cNvSpPr txBox="1"/>
          <p:nvPr/>
        </p:nvSpPr>
        <p:spPr>
          <a:xfrm>
            <a:off x="2272379" y="3144253"/>
            <a:ext cx="547458" cy="2823410"/>
          </a:xfrm>
          <a:prstGeom prst="rect">
            <a:avLst/>
          </a:prstGeom>
          <a:noFill/>
        </p:spPr>
        <p:txBody>
          <a:bodyPr vert="wordArtVert" wrap="square" rtlCol="0">
            <a:spAutoFit/>
          </a:bodyPr>
          <a:lstStyle/>
          <a:p>
            <a:r>
              <a:rPr lang="en-US" sz="2000" b="1" dirty="0">
                <a:solidFill>
                  <a:schemeClr val="bg2"/>
                </a:solidFill>
              </a:rPr>
              <a:t>*.json</a:t>
            </a:r>
          </a:p>
        </p:txBody>
      </p:sp>
    </p:spTree>
    <p:extLst>
      <p:ext uri="{BB962C8B-B14F-4D97-AF65-F5344CB8AC3E}">
        <p14:creationId xmlns:p14="http://schemas.microsoft.com/office/powerpoint/2010/main" val="1965247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Integration</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3" name="Picture 2"/>
          <p:cNvPicPr>
            <a:picLocks noChangeAspect="1"/>
          </p:cNvPicPr>
          <p:nvPr/>
        </p:nvPicPr>
        <p:blipFill>
          <a:blip r:embed="rId3"/>
          <a:stretch>
            <a:fillRect/>
          </a:stretch>
        </p:blipFill>
        <p:spPr>
          <a:xfrm>
            <a:off x="684211" y="1473618"/>
            <a:ext cx="11479654" cy="4237372"/>
          </a:xfrm>
          <a:prstGeom prst="rect">
            <a:avLst/>
          </a:prstGeom>
        </p:spPr>
      </p:pic>
      <p:pic>
        <p:nvPicPr>
          <p:cNvPr id="8" name="Picture 7"/>
          <p:cNvPicPr>
            <a:picLocks noChangeAspect="1"/>
          </p:cNvPicPr>
          <p:nvPr/>
        </p:nvPicPr>
        <p:blipFill>
          <a:blip r:embed="rId4"/>
          <a:stretch>
            <a:fillRect/>
          </a:stretch>
        </p:blipFill>
        <p:spPr>
          <a:xfrm>
            <a:off x="10801790" y="47124"/>
            <a:ext cx="1362075" cy="590550"/>
          </a:xfrm>
          <a:prstGeom prst="rect">
            <a:avLst/>
          </a:prstGeom>
        </p:spPr>
      </p:pic>
    </p:spTree>
    <p:extLst>
      <p:ext uri="{BB962C8B-B14F-4D97-AF65-F5344CB8AC3E}">
        <p14:creationId xmlns:p14="http://schemas.microsoft.com/office/powerpoint/2010/main" val="2962111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with other tools</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7" name="Picture 6"/>
          <p:cNvPicPr>
            <a:picLocks noChangeAspect="1"/>
          </p:cNvPicPr>
          <p:nvPr/>
        </p:nvPicPr>
        <p:blipFill>
          <a:blip r:embed="rId3"/>
          <a:stretch>
            <a:fillRect/>
          </a:stretch>
        </p:blipFill>
        <p:spPr>
          <a:xfrm>
            <a:off x="10801790" y="47124"/>
            <a:ext cx="1362075" cy="590550"/>
          </a:xfrm>
          <a:prstGeom prst="rect">
            <a:avLst/>
          </a:prstGeom>
        </p:spPr>
      </p:pic>
      <p:pic>
        <p:nvPicPr>
          <p:cNvPr id="6" name="Picture 5"/>
          <p:cNvPicPr>
            <a:picLocks noChangeAspect="1"/>
          </p:cNvPicPr>
          <p:nvPr/>
        </p:nvPicPr>
        <p:blipFill>
          <a:blip r:embed="rId4"/>
          <a:stretch>
            <a:fillRect/>
          </a:stretch>
        </p:blipFill>
        <p:spPr>
          <a:xfrm>
            <a:off x="1387892" y="1660956"/>
            <a:ext cx="9801225" cy="4876800"/>
          </a:xfrm>
          <a:prstGeom prst="rect">
            <a:avLst/>
          </a:prstGeom>
        </p:spPr>
      </p:pic>
    </p:spTree>
    <p:extLst>
      <p:ext uri="{BB962C8B-B14F-4D97-AF65-F5344CB8AC3E}">
        <p14:creationId xmlns:p14="http://schemas.microsoft.com/office/powerpoint/2010/main" val="82469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b="1" dirty="0"/>
              <a:t>INFRASTRUCTURE AS CODE</a:t>
            </a:r>
            <a:endParaRPr lang="en-US" dirty="0">
              <a:solidFill>
                <a:schemeClr val="tx1"/>
              </a:solidFill>
            </a:endParaRP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8" name="Picture 7"/>
          <p:cNvPicPr>
            <a:picLocks noChangeAspect="1"/>
          </p:cNvPicPr>
          <p:nvPr/>
        </p:nvPicPr>
        <p:blipFill>
          <a:blip r:embed="rId3"/>
          <a:stretch>
            <a:fillRect/>
          </a:stretch>
        </p:blipFill>
        <p:spPr>
          <a:xfrm>
            <a:off x="10801790" y="47124"/>
            <a:ext cx="1362075" cy="590550"/>
          </a:xfrm>
          <a:prstGeom prst="rect">
            <a:avLst/>
          </a:prstGeom>
        </p:spPr>
      </p:pic>
      <p:sp>
        <p:nvSpPr>
          <p:cNvPr id="5" name="Rectangle 4"/>
          <p:cNvSpPr/>
          <p:nvPr/>
        </p:nvSpPr>
        <p:spPr>
          <a:xfrm>
            <a:off x="684211" y="1520858"/>
            <a:ext cx="11479654" cy="2354491"/>
          </a:xfrm>
          <a:prstGeom prst="rect">
            <a:avLst/>
          </a:prstGeom>
        </p:spPr>
        <p:txBody>
          <a:bodyPr wrap="square">
            <a:spAutoFit/>
          </a:bodyPr>
          <a:lstStyle/>
          <a:p>
            <a:r>
              <a:rPr lang="en-US" sz="2100" b="1" dirty="0">
                <a:solidFill>
                  <a:schemeClr val="bg1"/>
                </a:solidFill>
              </a:rPr>
              <a:t>Modern, Automated</a:t>
            </a:r>
          </a:p>
          <a:p>
            <a:endParaRPr lang="en-US" sz="2100" b="1" dirty="0">
              <a:solidFill>
                <a:schemeClr val="bg1"/>
              </a:solidFill>
            </a:endParaRPr>
          </a:p>
          <a:p>
            <a:r>
              <a:rPr lang="en-US" sz="2100" dirty="0">
                <a:solidFill>
                  <a:schemeClr val="bg1"/>
                </a:solidFill>
              </a:rPr>
              <a:t>HashiCorp Packer is easy to use and automates the creation of any type of machine image. It embraces modern configuration management by encouraging you to use automated scripts to install and configure the software within your Packer-made images. Packer brings machine images into the modern age, unlocking untapped potential and opening new opportunities.</a:t>
            </a:r>
          </a:p>
        </p:txBody>
      </p:sp>
    </p:spTree>
    <p:extLst>
      <p:ext uri="{BB962C8B-B14F-4D97-AF65-F5344CB8AC3E}">
        <p14:creationId xmlns:p14="http://schemas.microsoft.com/office/powerpoint/2010/main" val="1801550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Packer installation verification</a:t>
            </a:r>
          </a:p>
        </p:txBody>
      </p:sp>
      <p:sp>
        <p:nvSpPr>
          <p:cNvPr id="4" name="Rectangle 3"/>
          <p:cNvSpPr/>
          <p:nvPr/>
        </p:nvSpPr>
        <p:spPr>
          <a:xfrm>
            <a:off x="684211" y="1660956"/>
            <a:ext cx="8459789" cy="415498"/>
          </a:xfrm>
          <a:prstGeom prst="rect">
            <a:avLst/>
          </a:prstGeom>
        </p:spPr>
        <p:txBody>
          <a:bodyPr wrap="square">
            <a:spAutoFit/>
          </a:bodyPr>
          <a:lstStyle/>
          <a:p>
            <a:endParaRPr lang="en-US" sz="2100" dirty="0">
              <a:solidFill>
                <a:schemeClr val="bg1"/>
              </a:solidFill>
            </a:endParaRPr>
          </a:p>
        </p:txBody>
      </p:sp>
      <p:pic>
        <p:nvPicPr>
          <p:cNvPr id="5" name="Picture 4"/>
          <p:cNvPicPr>
            <a:picLocks noChangeAspect="1"/>
          </p:cNvPicPr>
          <p:nvPr/>
        </p:nvPicPr>
        <p:blipFill>
          <a:blip r:embed="rId3"/>
          <a:stretch>
            <a:fillRect/>
          </a:stretch>
        </p:blipFill>
        <p:spPr>
          <a:xfrm>
            <a:off x="684211" y="1484007"/>
            <a:ext cx="11443619" cy="3954267"/>
          </a:xfrm>
          <a:prstGeom prst="rect">
            <a:avLst/>
          </a:prstGeom>
        </p:spPr>
      </p:pic>
      <p:pic>
        <p:nvPicPr>
          <p:cNvPr id="7" name="Picture 6"/>
          <p:cNvPicPr>
            <a:picLocks noChangeAspect="1"/>
          </p:cNvPicPr>
          <p:nvPr/>
        </p:nvPicPr>
        <p:blipFill>
          <a:blip r:embed="rId4"/>
          <a:stretch>
            <a:fillRect/>
          </a:stretch>
        </p:blipFill>
        <p:spPr>
          <a:xfrm>
            <a:off x="10801790" y="47124"/>
            <a:ext cx="1362075" cy="590550"/>
          </a:xfrm>
          <a:prstGeom prst="rect">
            <a:avLst/>
          </a:prstGeom>
        </p:spPr>
      </p:pic>
    </p:spTree>
    <p:extLst>
      <p:ext uri="{BB962C8B-B14F-4D97-AF65-F5344CB8AC3E}">
        <p14:creationId xmlns:p14="http://schemas.microsoft.com/office/powerpoint/2010/main" val="3755873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Demos in AWS</a:t>
            </a:r>
          </a:p>
        </p:txBody>
      </p:sp>
      <p:pic>
        <p:nvPicPr>
          <p:cNvPr id="6" name="Picture 5"/>
          <p:cNvPicPr>
            <a:picLocks noChangeAspect="1"/>
          </p:cNvPicPr>
          <p:nvPr/>
        </p:nvPicPr>
        <p:blipFill>
          <a:blip r:embed="rId3"/>
          <a:stretch>
            <a:fillRect/>
          </a:stretch>
        </p:blipFill>
        <p:spPr>
          <a:xfrm>
            <a:off x="10801790" y="47124"/>
            <a:ext cx="1362075" cy="590550"/>
          </a:xfrm>
          <a:prstGeom prst="rect">
            <a:avLst/>
          </a:prstGeom>
        </p:spPr>
      </p:pic>
      <p:pic>
        <p:nvPicPr>
          <p:cNvPr id="8" name="Picture 7"/>
          <p:cNvPicPr>
            <a:picLocks noChangeAspect="1"/>
          </p:cNvPicPr>
          <p:nvPr/>
        </p:nvPicPr>
        <p:blipFill>
          <a:blip r:embed="rId4"/>
          <a:stretch>
            <a:fillRect/>
          </a:stretch>
        </p:blipFill>
        <p:spPr>
          <a:xfrm>
            <a:off x="684211" y="1451924"/>
            <a:ext cx="5967913" cy="3267733"/>
          </a:xfrm>
          <a:prstGeom prst="rect">
            <a:avLst/>
          </a:prstGeom>
        </p:spPr>
      </p:pic>
    </p:spTree>
    <p:extLst>
      <p:ext uri="{BB962C8B-B14F-4D97-AF65-F5344CB8AC3E}">
        <p14:creationId xmlns:p14="http://schemas.microsoft.com/office/powerpoint/2010/main" val="1161961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Conclusions</a:t>
            </a:r>
          </a:p>
        </p:txBody>
      </p:sp>
      <p:sp>
        <p:nvSpPr>
          <p:cNvPr id="5" name="Subtitle 2"/>
          <p:cNvSpPr>
            <a:spLocks noGrp="1"/>
          </p:cNvSpPr>
          <p:nvPr>
            <p:ph type="subTitle" idx="1"/>
          </p:nvPr>
        </p:nvSpPr>
        <p:spPr>
          <a:xfrm>
            <a:off x="684212" y="1622738"/>
            <a:ext cx="10958288" cy="4778061"/>
          </a:xfrm>
        </p:spPr>
        <p:txBody>
          <a:bodyPr>
            <a:normAutofit/>
          </a:bodyPr>
          <a:lstStyle/>
          <a:p>
            <a:pPr>
              <a:buClr>
                <a:schemeClr val="bg1"/>
              </a:buClr>
            </a:pPr>
            <a:r>
              <a:rPr lang="en-US" b="1" dirty="0">
                <a:solidFill>
                  <a:schemeClr val="bg1"/>
                </a:solidFill>
              </a:rPr>
              <a:t>End of this course you will able to understand </a:t>
            </a:r>
          </a:p>
          <a:p>
            <a:pPr marL="342900" indent="-342900">
              <a:buClr>
                <a:schemeClr val="bg1"/>
              </a:buClr>
              <a:buFont typeface="Wingdings" panose="05000000000000000000" pitchFamily="2" charset="2"/>
              <a:buChar char="Ø"/>
            </a:pPr>
            <a:r>
              <a:rPr lang="en-US" dirty="0">
                <a:solidFill>
                  <a:schemeClr val="bg1"/>
                </a:solidFill>
              </a:rPr>
              <a:t>How to install Packer in Windows/Unix?</a:t>
            </a:r>
          </a:p>
          <a:p>
            <a:pPr marL="342900" indent="-342900">
              <a:buClr>
                <a:schemeClr val="bg1"/>
              </a:buClr>
              <a:buFont typeface="Wingdings" panose="05000000000000000000" pitchFamily="2" charset="2"/>
              <a:buChar char="Ø"/>
            </a:pPr>
            <a:r>
              <a:rPr lang="en-US" dirty="0">
                <a:solidFill>
                  <a:schemeClr val="bg1"/>
                </a:solidFill>
              </a:rPr>
              <a:t>Understand packer.json file (templates)</a:t>
            </a:r>
          </a:p>
          <a:p>
            <a:pPr marL="342900" indent="-342900">
              <a:buClr>
                <a:schemeClr val="bg1"/>
              </a:buClr>
              <a:buFont typeface="Wingdings" panose="05000000000000000000" pitchFamily="2" charset="2"/>
              <a:buChar char="Ø"/>
            </a:pPr>
            <a:r>
              <a:rPr lang="en-US" dirty="0">
                <a:solidFill>
                  <a:schemeClr val="bg1"/>
                </a:solidFill>
              </a:rPr>
              <a:t>How to use builders? </a:t>
            </a:r>
          </a:p>
          <a:p>
            <a:pPr marL="342900" indent="-342900">
              <a:buClr>
                <a:schemeClr val="bg1"/>
              </a:buClr>
              <a:buFont typeface="Wingdings" panose="05000000000000000000" pitchFamily="2" charset="2"/>
              <a:buChar char="Ø"/>
            </a:pPr>
            <a:r>
              <a:rPr lang="en-US" dirty="0">
                <a:solidFill>
                  <a:schemeClr val="bg1"/>
                </a:solidFill>
              </a:rPr>
              <a:t>How to use provisioners?</a:t>
            </a:r>
          </a:p>
          <a:p>
            <a:pPr marL="342900" indent="-342900">
              <a:buClr>
                <a:schemeClr val="bg1"/>
              </a:buClr>
              <a:buFont typeface="Wingdings" panose="05000000000000000000" pitchFamily="2" charset="2"/>
              <a:buChar char="Ø"/>
            </a:pPr>
            <a:r>
              <a:rPr lang="en-US" dirty="0">
                <a:solidFill>
                  <a:schemeClr val="bg1"/>
                </a:solidFill>
              </a:rPr>
              <a:t>How to user post-processors?</a:t>
            </a:r>
          </a:p>
          <a:p>
            <a:pPr marL="342900" indent="-342900">
              <a:buClr>
                <a:schemeClr val="bg1"/>
              </a:buClr>
              <a:buFont typeface="Wingdings" panose="05000000000000000000" pitchFamily="2" charset="2"/>
              <a:buChar char="Ø"/>
            </a:pPr>
            <a:r>
              <a:rPr lang="en-US" dirty="0">
                <a:solidFill>
                  <a:schemeClr val="bg1"/>
                </a:solidFill>
              </a:rPr>
              <a:t>Calling other script. E.g. Ansible or other inside packer</a:t>
            </a:r>
          </a:p>
          <a:p>
            <a:pPr marL="342900" indent="-342900">
              <a:buClr>
                <a:schemeClr val="bg1"/>
              </a:buClr>
              <a:buFont typeface="Wingdings" panose="05000000000000000000" pitchFamily="2" charset="2"/>
              <a:buChar char="Ø"/>
            </a:pPr>
            <a:r>
              <a:rPr lang="en-US" dirty="0">
                <a:solidFill>
                  <a:schemeClr val="bg1"/>
                </a:solidFill>
              </a:rPr>
              <a:t>Jenkins Packer Integration</a:t>
            </a:r>
          </a:p>
          <a:p>
            <a:pPr marL="342900" indent="-342900">
              <a:buClr>
                <a:schemeClr val="bg1"/>
              </a:buClr>
              <a:buFont typeface="Wingdings" panose="05000000000000000000" pitchFamily="2" charset="2"/>
              <a:buChar char="Ø"/>
            </a:pPr>
            <a:r>
              <a:rPr lang="en-US" dirty="0">
                <a:solidFill>
                  <a:schemeClr val="bg1"/>
                </a:solidFill>
              </a:rPr>
              <a:t>Packer with AWS, creating new images (AMI), installing few Software's</a:t>
            </a:r>
          </a:p>
          <a:p>
            <a:pPr marL="342900" indent="-342900">
              <a:buClr>
                <a:schemeClr val="bg1"/>
              </a:buClr>
              <a:buFont typeface="Wingdings" panose="05000000000000000000" pitchFamily="2" charset="2"/>
              <a:buChar char="Ø"/>
            </a:pPr>
            <a:r>
              <a:rPr lang="en-US" dirty="0">
                <a:solidFill>
                  <a:schemeClr val="bg1"/>
                </a:solidFill>
              </a:rPr>
              <a:t>All with done in Unix like Operating System</a:t>
            </a:r>
          </a:p>
        </p:txBody>
      </p:sp>
      <p:pic>
        <p:nvPicPr>
          <p:cNvPr id="6" name="Picture 5"/>
          <p:cNvPicPr>
            <a:picLocks noChangeAspect="1"/>
          </p:cNvPicPr>
          <p:nvPr/>
        </p:nvPicPr>
        <p:blipFill>
          <a:blip r:embed="rId3"/>
          <a:stretch>
            <a:fillRect/>
          </a:stretch>
        </p:blipFill>
        <p:spPr>
          <a:xfrm>
            <a:off x="10801790" y="47124"/>
            <a:ext cx="1362075" cy="590550"/>
          </a:xfrm>
          <a:prstGeom prst="rect">
            <a:avLst/>
          </a:prstGeom>
        </p:spPr>
      </p:pic>
    </p:spTree>
    <p:extLst>
      <p:ext uri="{BB962C8B-B14F-4D97-AF65-F5344CB8AC3E}">
        <p14:creationId xmlns:p14="http://schemas.microsoft.com/office/powerpoint/2010/main" val="3660510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chemeClr val="tx2">
              <a:lumMod val="50000"/>
            </a:schemeClr>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AWS &amp; Packer</a:t>
            </a:r>
          </a:p>
        </p:txBody>
      </p:sp>
      <p:pic>
        <p:nvPicPr>
          <p:cNvPr id="6" name="Picture 5"/>
          <p:cNvPicPr>
            <a:picLocks noChangeAspect="1"/>
          </p:cNvPicPr>
          <p:nvPr/>
        </p:nvPicPr>
        <p:blipFill>
          <a:blip r:embed="rId3"/>
          <a:stretch>
            <a:fillRect/>
          </a:stretch>
        </p:blipFill>
        <p:spPr>
          <a:xfrm>
            <a:off x="10801790" y="47124"/>
            <a:ext cx="1362075" cy="590550"/>
          </a:xfrm>
          <a:prstGeom prst="rect">
            <a:avLst/>
          </a:prstGeom>
        </p:spPr>
      </p:pic>
      <p:pic>
        <p:nvPicPr>
          <p:cNvPr id="5" name="Picture 4"/>
          <p:cNvPicPr>
            <a:picLocks noChangeAspect="1"/>
          </p:cNvPicPr>
          <p:nvPr/>
        </p:nvPicPr>
        <p:blipFill>
          <a:blip r:embed="rId4"/>
          <a:stretch>
            <a:fillRect/>
          </a:stretch>
        </p:blipFill>
        <p:spPr>
          <a:xfrm>
            <a:off x="684210" y="1451923"/>
            <a:ext cx="11138821" cy="3858013"/>
          </a:xfrm>
          <a:prstGeom prst="rect">
            <a:avLst/>
          </a:prstGeom>
        </p:spPr>
      </p:pic>
    </p:spTree>
    <p:extLst>
      <p:ext uri="{BB962C8B-B14F-4D97-AF65-F5344CB8AC3E}">
        <p14:creationId xmlns:p14="http://schemas.microsoft.com/office/powerpoint/2010/main" val="3800715556"/>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13207</TotalTime>
  <Words>487</Words>
  <Application>Microsoft Office PowerPoint</Application>
  <PresentationFormat>Widescreen</PresentationFormat>
  <Paragraphs>68</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Century Gothic</vt:lpstr>
      <vt:lpstr>Wingdings</vt:lpstr>
      <vt:lpstr>Wingdings 3</vt:lpstr>
      <vt:lpstr>Slice</vt:lpstr>
      <vt:lpstr>PowerPoint Presentation</vt:lpstr>
      <vt:lpstr>Packer in XebiaLabs</vt:lpstr>
      <vt:lpstr>About Packer</vt:lpstr>
      <vt:lpstr>Packer Workflow</vt:lpstr>
      <vt:lpstr>Packer details</vt:lpstr>
      <vt:lpstr>Packer Integration</vt:lpstr>
      <vt:lpstr>Packer with other tools</vt:lpstr>
      <vt:lpstr>INFRASTRUCTURE AS CODE</vt:lpstr>
      <vt:lpstr>Packer installation verification</vt:lpstr>
      <vt:lpstr>Demos in AWS</vt:lpstr>
      <vt:lpstr>Conclusions</vt:lpstr>
      <vt:lpstr>AWS &amp; Packer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 solution for AWSomeTrips</dc:title>
  <dc:creator>vinod.k</dc:creator>
  <cp:lastModifiedBy>Training</cp:lastModifiedBy>
  <cp:revision>490</cp:revision>
  <dcterms:created xsi:type="dcterms:W3CDTF">2018-04-05T06:53:35Z</dcterms:created>
  <dcterms:modified xsi:type="dcterms:W3CDTF">2020-05-16T13:46:43Z</dcterms:modified>
</cp:coreProperties>
</file>