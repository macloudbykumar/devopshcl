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344" r:id="rId2"/>
    <p:sldId id="320" r:id="rId3"/>
    <p:sldId id="323" r:id="rId4"/>
    <p:sldId id="322" r:id="rId5"/>
    <p:sldId id="321" r:id="rId6"/>
    <p:sldId id="317" r:id="rId7"/>
    <p:sldId id="319" r:id="rId8"/>
    <p:sldId id="340" r:id="rId9"/>
    <p:sldId id="342" r:id="rId10"/>
    <p:sldId id="343" r:id="rId11"/>
    <p:sldId id="341" r:id="rId12"/>
    <p:sldId id="34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0072" autoAdjust="0"/>
  </p:normalViewPr>
  <p:slideViewPr>
    <p:cSldViewPr snapToGrid="0">
      <p:cViewPr varScale="1">
        <p:scale>
          <a:sx n="48" d="100"/>
          <a:sy n="48" d="100"/>
        </p:scale>
        <p:origin x="1364" y="40"/>
      </p:cViewPr>
      <p:guideLst>
        <p:guide orient="horz" pos="2160"/>
        <p:guide pos="3840"/>
      </p:guideLst>
    </p:cSldViewPr>
  </p:slideViewPr>
  <p:notesTextViewPr>
    <p:cViewPr>
      <p:scale>
        <a:sx n="1" d="1"/>
        <a:sy n="1" d="1"/>
      </p:scale>
      <p:origin x="0" y="0"/>
    </p:cViewPr>
  </p:notesTextViewPr>
  <p:sorterViewPr>
    <p:cViewPr>
      <p:scale>
        <a:sx n="100" d="100"/>
        <a:sy n="100" d="100"/>
      </p:scale>
      <p:origin x="0" y="-23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033EC-38BF-4AD4-9467-7D2380108C19}"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9A354F-E8EA-4E4F-BEEB-F269B5F913B6}" type="slidenum">
              <a:rPr lang="en-US" smtClean="0"/>
              <a:t>‹#›</a:t>
            </a:fld>
            <a:endParaRPr lang="en-US"/>
          </a:p>
        </p:txBody>
      </p:sp>
    </p:spTree>
    <p:extLst>
      <p:ext uri="{BB962C8B-B14F-4D97-AF65-F5344CB8AC3E}">
        <p14:creationId xmlns:p14="http://schemas.microsoft.com/office/powerpoint/2010/main" val="190164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erraform.io/intro/index.html#execution-plans"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www.terraform.io/intro/index.html#change-automation" TargetMode="External"/><Relationship Id="rId4" Type="http://schemas.openxmlformats.org/officeDocument/2006/relationships/hyperlink" Target="https://www.terraform.io/intro/index.html#resource-graph"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1</a:t>
            </a:fld>
            <a:endParaRPr lang="en-US"/>
          </a:p>
        </p:txBody>
      </p:sp>
    </p:spTree>
    <p:extLst>
      <p:ext uri="{BB962C8B-B14F-4D97-AF65-F5344CB8AC3E}">
        <p14:creationId xmlns:p14="http://schemas.microsoft.com/office/powerpoint/2010/main" val="205755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https://www.terraform.io/intro/index.html</a:t>
            </a:r>
          </a:p>
        </p:txBody>
      </p:sp>
      <p:sp>
        <p:nvSpPr>
          <p:cNvPr id="4" name="Slide Number Placeholder 3"/>
          <p:cNvSpPr>
            <a:spLocks noGrp="1"/>
          </p:cNvSpPr>
          <p:nvPr>
            <p:ph type="sldNum" sz="quarter" idx="10"/>
          </p:nvPr>
        </p:nvSpPr>
        <p:spPr/>
        <p:txBody>
          <a:bodyPr/>
          <a:lstStyle/>
          <a:p>
            <a:fld id="{A79A354F-E8EA-4E4F-BEEB-F269B5F913B6}" type="slidenum">
              <a:rPr lang="en-US" smtClean="0"/>
              <a:t>2</a:t>
            </a:fld>
            <a:endParaRPr lang="en-US"/>
          </a:p>
        </p:txBody>
      </p:sp>
    </p:spTree>
    <p:extLst>
      <p:ext uri="{BB962C8B-B14F-4D97-AF65-F5344CB8AC3E}">
        <p14:creationId xmlns:p14="http://schemas.microsoft.com/office/powerpoint/2010/main" val="2276495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https://www.terraform.io/intro/index.html</a:t>
            </a:r>
          </a:p>
          <a:p>
            <a:endParaRPr lang="en-US" dirty="0"/>
          </a:p>
          <a:p>
            <a:r>
              <a:rPr lang="en-US" sz="1200" b="0" i="0" u="none" strike="noStrike" kern="1200" dirty="0">
                <a:solidFill>
                  <a:schemeClr val="tx1"/>
                </a:solidFill>
                <a:effectLst/>
                <a:latin typeface="+mn-lt"/>
                <a:ea typeface="+mn-ea"/>
                <a:cs typeface="+mn-cs"/>
              </a:rPr>
              <a:t>Infrastructure as Code </a:t>
            </a:r>
          </a:p>
          <a:p>
            <a:r>
              <a:rPr lang="en-US" sz="1200" b="0" i="0" u="none" strike="noStrike" kern="1200" dirty="0">
                <a:solidFill>
                  <a:schemeClr val="tx1"/>
                </a:solidFill>
                <a:effectLst/>
                <a:latin typeface="+mn-lt"/>
                <a:ea typeface="+mn-ea"/>
                <a:cs typeface="+mn-cs"/>
              </a:rPr>
              <a:t>Infrastructure is described using a high-level configuration syntax. This allows a blueprint of your datacenter to be versioned and treated as you would any other code. Additionally, infrastructure can be shared and re-used.</a:t>
            </a:r>
          </a:p>
          <a:p>
            <a:r>
              <a:rPr lang="en-US" sz="1200" b="0" i="0" u="none" strike="noStrike" kern="1200" dirty="0">
                <a:solidFill>
                  <a:schemeClr val="tx1"/>
                </a:solidFill>
                <a:effectLst/>
                <a:latin typeface="+mn-lt"/>
                <a:ea typeface="+mn-ea"/>
                <a:cs typeface="+mn-cs"/>
                <a:hlinkClick r:id="rId3"/>
              </a:rPr>
              <a:t>»</a:t>
            </a:r>
            <a:r>
              <a:rPr lang="en-US" sz="1200" b="0" i="0" u="none" strike="noStrike" kern="1200" dirty="0">
                <a:solidFill>
                  <a:schemeClr val="tx1"/>
                </a:solidFill>
                <a:effectLst/>
                <a:latin typeface="+mn-lt"/>
                <a:ea typeface="+mn-ea"/>
                <a:cs typeface="+mn-cs"/>
              </a:rPr>
              <a:t> Execution Plans </a:t>
            </a:r>
          </a:p>
          <a:p>
            <a:r>
              <a:rPr lang="en-US" sz="1200" b="0" i="0" u="none" strike="noStrike" kern="1200" dirty="0">
                <a:solidFill>
                  <a:schemeClr val="tx1"/>
                </a:solidFill>
                <a:effectLst/>
                <a:latin typeface="+mn-lt"/>
                <a:ea typeface="+mn-ea"/>
                <a:cs typeface="+mn-cs"/>
              </a:rPr>
              <a:t>Terraform has a "planning" step where it generates an </a:t>
            </a:r>
            <a:r>
              <a:rPr lang="en-US" sz="1200" b="0" i="1" u="none" strike="noStrike" kern="1200" dirty="0">
                <a:solidFill>
                  <a:schemeClr val="tx1"/>
                </a:solidFill>
                <a:effectLst/>
                <a:latin typeface="+mn-lt"/>
                <a:ea typeface="+mn-ea"/>
                <a:cs typeface="+mn-cs"/>
              </a:rPr>
              <a:t>execution plan</a:t>
            </a:r>
            <a:r>
              <a:rPr lang="en-US" sz="1200" b="0" i="0" u="none" strike="noStrike" kern="1200" dirty="0">
                <a:solidFill>
                  <a:schemeClr val="tx1"/>
                </a:solidFill>
                <a:effectLst/>
                <a:latin typeface="+mn-lt"/>
                <a:ea typeface="+mn-ea"/>
                <a:cs typeface="+mn-cs"/>
              </a:rPr>
              <a:t>. The execution plan shows what Terraform will do when you call apply. This lets you avoid any surprises when Terraform manipulates infrastructure.</a:t>
            </a:r>
          </a:p>
          <a:p>
            <a:r>
              <a:rPr lang="en-US" sz="1200" b="0" i="0" u="none" strike="noStrike" kern="1200" dirty="0">
                <a:solidFill>
                  <a:schemeClr val="tx1"/>
                </a:solidFill>
                <a:effectLst/>
                <a:latin typeface="+mn-lt"/>
                <a:ea typeface="+mn-ea"/>
                <a:cs typeface="+mn-cs"/>
                <a:hlinkClick r:id="rId4"/>
              </a:rPr>
              <a:t>»</a:t>
            </a:r>
            <a:r>
              <a:rPr lang="en-US" sz="1200" b="0" i="0" u="none" strike="noStrike" kern="1200" dirty="0">
                <a:solidFill>
                  <a:schemeClr val="tx1"/>
                </a:solidFill>
                <a:effectLst/>
                <a:latin typeface="+mn-lt"/>
                <a:ea typeface="+mn-ea"/>
                <a:cs typeface="+mn-cs"/>
              </a:rPr>
              <a:t> Resource Graph </a:t>
            </a:r>
          </a:p>
          <a:p>
            <a:r>
              <a:rPr lang="en-US" sz="1200" b="0" i="0" u="none" strike="noStrike" kern="1200" dirty="0">
                <a:solidFill>
                  <a:schemeClr val="tx1"/>
                </a:solidFill>
                <a:effectLst/>
                <a:latin typeface="+mn-lt"/>
                <a:ea typeface="+mn-ea"/>
                <a:cs typeface="+mn-cs"/>
              </a:rPr>
              <a:t>Terraform builds a graph of all your resources, and parallelizes the creation and modification of any non-dependent resources. Because of this, Terraform builds infrastructure as efficiently as possible, and operators get insight into dependencies in their infrastructure.</a:t>
            </a:r>
          </a:p>
          <a:p>
            <a:r>
              <a:rPr lang="en-US" sz="1200" b="0" i="0" u="none" strike="noStrike" kern="1200" dirty="0">
                <a:solidFill>
                  <a:schemeClr val="tx1"/>
                </a:solidFill>
                <a:effectLst/>
                <a:latin typeface="+mn-lt"/>
                <a:ea typeface="+mn-ea"/>
                <a:cs typeface="+mn-cs"/>
                <a:hlinkClick r:id="rId5"/>
              </a:rPr>
              <a:t>»</a:t>
            </a:r>
            <a:r>
              <a:rPr lang="en-US" sz="1200" b="0" i="0" u="none" strike="noStrike" kern="1200" dirty="0">
                <a:solidFill>
                  <a:schemeClr val="tx1"/>
                </a:solidFill>
                <a:effectLst/>
                <a:latin typeface="+mn-lt"/>
                <a:ea typeface="+mn-ea"/>
                <a:cs typeface="+mn-cs"/>
              </a:rPr>
              <a:t> Change Automation </a:t>
            </a:r>
          </a:p>
          <a:p>
            <a:r>
              <a:rPr lang="en-US" sz="1200" b="0" i="0" u="none" strike="noStrike" kern="1200" dirty="0">
                <a:solidFill>
                  <a:schemeClr val="tx1"/>
                </a:solidFill>
                <a:effectLst/>
                <a:latin typeface="+mn-lt"/>
                <a:ea typeface="+mn-ea"/>
                <a:cs typeface="+mn-cs"/>
              </a:rPr>
              <a:t>Complex </a:t>
            </a:r>
            <a:r>
              <a:rPr lang="en-US" sz="1200" b="0" i="0" u="none" strike="noStrike" kern="1200" dirty="0" err="1">
                <a:solidFill>
                  <a:schemeClr val="tx1"/>
                </a:solidFill>
                <a:effectLst/>
                <a:latin typeface="+mn-lt"/>
                <a:ea typeface="+mn-ea"/>
                <a:cs typeface="+mn-cs"/>
              </a:rPr>
              <a:t>changesets</a:t>
            </a:r>
            <a:r>
              <a:rPr lang="en-US" sz="1200" b="0" i="0" u="none" strike="noStrike" kern="1200" dirty="0">
                <a:solidFill>
                  <a:schemeClr val="tx1"/>
                </a:solidFill>
                <a:effectLst/>
                <a:latin typeface="+mn-lt"/>
                <a:ea typeface="+mn-ea"/>
                <a:cs typeface="+mn-cs"/>
              </a:rPr>
              <a:t> can be applied to your infrastructure with minimal human interaction. With the previously mentioned execution plan and resource graph, you know exactly what Terraform will change and in what order, avoiding many possible human errors.</a:t>
            </a:r>
          </a:p>
          <a:p>
            <a:endParaRPr lang="en-US" dirty="0"/>
          </a:p>
        </p:txBody>
      </p:sp>
      <p:sp>
        <p:nvSpPr>
          <p:cNvPr id="4" name="Slide Number Placeholder 3"/>
          <p:cNvSpPr>
            <a:spLocks noGrp="1"/>
          </p:cNvSpPr>
          <p:nvPr>
            <p:ph type="sldNum" sz="quarter" idx="10"/>
          </p:nvPr>
        </p:nvSpPr>
        <p:spPr/>
        <p:txBody>
          <a:bodyPr/>
          <a:lstStyle/>
          <a:p>
            <a:fld id="{A79A354F-E8EA-4E4F-BEEB-F269B5F913B6}" type="slidenum">
              <a:rPr lang="en-US" smtClean="0"/>
              <a:t>3</a:t>
            </a:fld>
            <a:endParaRPr lang="en-US"/>
          </a:p>
        </p:txBody>
      </p:sp>
    </p:spTree>
    <p:extLst>
      <p:ext uri="{BB962C8B-B14F-4D97-AF65-F5344CB8AC3E}">
        <p14:creationId xmlns:p14="http://schemas.microsoft.com/office/powerpoint/2010/main" val="1153227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https://docs.microsoft.com/en-us/azure/developer/terraform/</a:t>
            </a:r>
          </a:p>
          <a:p>
            <a:r>
              <a:rPr lang="en-US" dirty="0"/>
              <a:t>https://docs.microsoft.com/en-us/azure/developer/terraform/overview</a:t>
            </a:r>
          </a:p>
        </p:txBody>
      </p:sp>
      <p:sp>
        <p:nvSpPr>
          <p:cNvPr id="4" name="Slide Number Placeholder 3"/>
          <p:cNvSpPr>
            <a:spLocks noGrp="1"/>
          </p:cNvSpPr>
          <p:nvPr>
            <p:ph type="sldNum" sz="quarter" idx="10"/>
          </p:nvPr>
        </p:nvSpPr>
        <p:spPr/>
        <p:txBody>
          <a:bodyPr/>
          <a:lstStyle/>
          <a:p>
            <a:fld id="{A79A354F-E8EA-4E4F-BEEB-F269B5F913B6}" type="slidenum">
              <a:rPr lang="en-US" smtClean="0"/>
              <a:t>4</a:t>
            </a:fld>
            <a:endParaRPr lang="en-US"/>
          </a:p>
        </p:txBody>
      </p:sp>
    </p:spTree>
    <p:extLst>
      <p:ext uri="{BB962C8B-B14F-4D97-AF65-F5344CB8AC3E}">
        <p14:creationId xmlns:p14="http://schemas.microsoft.com/office/powerpoint/2010/main" val="479292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https://blog.gruntwork.io/why-we-use-terraform-and-not-chef-puppet-ansible-saltstack-or-cloudformation-7989dad2865c</a:t>
            </a:r>
          </a:p>
        </p:txBody>
      </p:sp>
      <p:sp>
        <p:nvSpPr>
          <p:cNvPr id="4" name="Slide Number Placeholder 3"/>
          <p:cNvSpPr>
            <a:spLocks noGrp="1"/>
          </p:cNvSpPr>
          <p:nvPr>
            <p:ph type="sldNum" sz="quarter" idx="10"/>
          </p:nvPr>
        </p:nvSpPr>
        <p:spPr/>
        <p:txBody>
          <a:bodyPr/>
          <a:lstStyle/>
          <a:p>
            <a:fld id="{A79A354F-E8EA-4E4F-BEEB-F269B5F913B6}" type="slidenum">
              <a:rPr lang="en-US" smtClean="0"/>
              <a:t>5</a:t>
            </a:fld>
            <a:endParaRPr lang="en-US"/>
          </a:p>
        </p:txBody>
      </p:sp>
    </p:spTree>
    <p:extLst>
      <p:ext uri="{BB962C8B-B14F-4D97-AF65-F5344CB8AC3E}">
        <p14:creationId xmlns:p14="http://schemas.microsoft.com/office/powerpoint/2010/main" val="3832824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wmf"/><Relationship Id="rId5" Type="http://schemas.openxmlformats.org/officeDocument/2006/relationships/oleObject" Target="../embeddings/oleObject1.bin"/><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2.x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3.x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hyperlink" Target="https://docs.microsoft.com/en-us/azure/developer/terraform/"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4.xml"/><Relationship Id="rId6" Type="http://schemas.openxmlformats.org/officeDocument/2006/relationships/image" Target="../media/image4.png"/><Relationship Id="rId5" Type="http://schemas.openxmlformats.org/officeDocument/2006/relationships/image" Target="../media/image2.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tretch>
            <a:fillRect/>
          </a:stretch>
        </p:blipFill>
        <p:spPr>
          <a:xfrm>
            <a:off x="684209" y="1484007"/>
            <a:ext cx="11479656" cy="52953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itle 1"/>
          <p:cNvSpPr txBox="1">
            <a:spLocks/>
          </p:cNvSpPr>
          <p:nvPr/>
        </p:nvSpPr>
        <p:spPr>
          <a:xfrm>
            <a:off x="684211" y="685800"/>
            <a:ext cx="11507789" cy="717998"/>
          </a:xfrm>
          <a:prstGeom prst="rect">
            <a:avLst/>
          </a:prstGeom>
          <a:solidFill>
            <a:srgbClr val="003DB8"/>
          </a:solidFill>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lnSpcReduction="10000"/>
          </a:bodyPr>
          <a:lstStyle>
            <a:lvl1pPr algn="l" defTabSz="457200" rtl="0" eaLnBrk="1" latinLnBrk="0" hangingPunct="1">
              <a:spcBef>
                <a:spcPct val="0"/>
              </a:spcBef>
              <a:buNone/>
              <a:defRPr sz="4800" kern="1200" cap="all">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dirty="0">
                <a:solidFill>
                  <a:schemeClr val="tx1"/>
                </a:solidFill>
              </a:rPr>
              <a:t>Terraform</a:t>
            </a:r>
          </a:p>
        </p:txBody>
      </p:sp>
      <p:graphicFrame>
        <p:nvGraphicFramePr>
          <p:cNvPr id="5" name="Object 4"/>
          <p:cNvGraphicFramePr>
            <a:graphicFrameLocks noChangeAspect="1"/>
          </p:cNvGraphicFramePr>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5" imgW="990720" imgH="1171440" progId="Paint.Picture">
                  <p:embed/>
                </p:oleObj>
              </mc:Choice>
              <mc:Fallback>
                <p:oleObj name="Bitmap Image" r:id="rId5" imgW="990720" imgH="1171440" progId="Paint.Picture">
                  <p:embed/>
                  <p:pic>
                    <p:nvPicPr>
                      <p:cNvPr id="5" name="Object 4"/>
                      <p:cNvPicPr/>
                      <p:nvPr/>
                    </p:nvPicPr>
                    <p:blipFill>
                      <a:blip r:embed="rId6"/>
                      <a:stretch>
                        <a:fillRect/>
                      </a:stretch>
                    </p:blipFill>
                    <p:spPr>
                      <a:xfrm>
                        <a:off x="11377862" y="78623"/>
                        <a:ext cx="749968" cy="526968"/>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2DF48160-C247-4291-8F91-77D82C720D69}"/>
              </a:ext>
            </a:extLst>
          </p:cNvPr>
          <p:cNvSpPr txBox="1"/>
          <p:nvPr/>
        </p:nvSpPr>
        <p:spPr>
          <a:xfrm rot="20302122">
            <a:off x="1876302" y="1560319"/>
            <a:ext cx="855024" cy="2308324"/>
          </a:xfrm>
          <a:prstGeom prst="rect">
            <a:avLst/>
          </a:prstGeom>
          <a:noFill/>
        </p:spPr>
        <p:txBody>
          <a:bodyPr wrap="square" rtlCol="0">
            <a:spAutoFit/>
          </a:bodyPr>
          <a:lstStyle/>
          <a:p>
            <a:r>
              <a:rPr lang="en-IN" dirty="0"/>
              <a:t>B</a:t>
            </a:r>
          </a:p>
          <a:p>
            <a:r>
              <a:rPr lang="en-IN" dirty="0"/>
              <a:t>Y</a:t>
            </a:r>
          </a:p>
          <a:p>
            <a:endParaRPr lang="en-IN" dirty="0"/>
          </a:p>
          <a:p>
            <a:r>
              <a:rPr lang="en-IN" dirty="0"/>
              <a:t>K</a:t>
            </a:r>
          </a:p>
          <a:p>
            <a:r>
              <a:rPr lang="en-IN" dirty="0"/>
              <a:t>U</a:t>
            </a:r>
          </a:p>
          <a:p>
            <a:r>
              <a:rPr lang="en-IN" dirty="0"/>
              <a:t>M</a:t>
            </a:r>
          </a:p>
          <a:p>
            <a:r>
              <a:rPr lang="en-IN" dirty="0"/>
              <a:t>A</a:t>
            </a:r>
          </a:p>
          <a:p>
            <a:r>
              <a:rPr lang="en-IN" dirty="0"/>
              <a:t>R</a:t>
            </a:r>
          </a:p>
        </p:txBody>
      </p:sp>
      <p:sp>
        <p:nvSpPr>
          <p:cNvPr id="10" name="TextBox 9">
            <a:extLst>
              <a:ext uri="{FF2B5EF4-FFF2-40B4-BE49-F238E27FC236}">
                <a16:creationId xmlns:a16="http://schemas.microsoft.com/office/drawing/2014/main" id="{01787B7B-F3AE-416F-A07D-8AB4C114361B}"/>
              </a:ext>
            </a:extLst>
          </p:cNvPr>
          <p:cNvSpPr txBox="1"/>
          <p:nvPr/>
        </p:nvSpPr>
        <p:spPr>
          <a:xfrm rot="790205">
            <a:off x="9539111" y="1748942"/>
            <a:ext cx="855024" cy="2308324"/>
          </a:xfrm>
          <a:prstGeom prst="rect">
            <a:avLst/>
          </a:prstGeom>
          <a:noFill/>
        </p:spPr>
        <p:txBody>
          <a:bodyPr wrap="square" rtlCol="0">
            <a:spAutoFit/>
          </a:bodyPr>
          <a:lstStyle/>
          <a:p>
            <a:r>
              <a:rPr lang="en-IN" dirty="0"/>
              <a:t>B</a:t>
            </a:r>
          </a:p>
          <a:p>
            <a:r>
              <a:rPr lang="en-IN" dirty="0"/>
              <a:t>Y</a:t>
            </a:r>
          </a:p>
          <a:p>
            <a:endParaRPr lang="en-IN" dirty="0"/>
          </a:p>
          <a:p>
            <a:r>
              <a:rPr lang="en-IN" dirty="0"/>
              <a:t>K</a:t>
            </a:r>
          </a:p>
          <a:p>
            <a:r>
              <a:rPr lang="en-IN" dirty="0"/>
              <a:t>U</a:t>
            </a:r>
          </a:p>
          <a:p>
            <a:r>
              <a:rPr lang="en-IN" dirty="0"/>
              <a:t>M</a:t>
            </a:r>
          </a:p>
          <a:p>
            <a:r>
              <a:rPr lang="en-IN" dirty="0"/>
              <a:t>A</a:t>
            </a:r>
          </a:p>
          <a:p>
            <a:r>
              <a:rPr lang="en-IN" dirty="0"/>
              <a:t>R</a:t>
            </a:r>
          </a:p>
        </p:txBody>
      </p:sp>
    </p:spTree>
    <p:extLst>
      <p:ext uri="{BB962C8B-B14F-4D97-AF65-F5344CB8AC3E}">
        <p14:creationId xmlns:p14="http://schemas.microsoft.com/office/powerpoint/2010/main" val="351297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What is Terraform?</a:t>
            </a:r>
          </a:p>
        </p:txBody>
      </p:sp>
      <p:sp>
        <p:nvSpPr>
          <p:cNvPr id="3" name="Subtitle 2"/>
          <p:cNvSpPr>
            <a:spLocks noGrp="1"/>
          </p:cNvSpPr>
          <p:nvPr>
            <p:ph type="subTitle" idx="1"/>
          </p:nvPr>
        </p:nvSpPr>
        <p:spPr>
          <a:xfrm>
            <a:off x="684212" y="1622738"/>
            <a:ext cx="10958288" cy="1377135"/>
          </a:xfrm>
        </p:spPr>
        <p:txBody>
          <a:bodyPr>
            <a:normAutofit/>
          </a:bodyPr>
          <a:lstStyle/>
          <a:p>
            <a:pPr>
              <a:buClr>
                <a:schemeClr val="bg1"/>
              </a:buClr>
            </a:pPr>
            <a:r>
              <a:rPr lang="en-US" dirty="0">
                <a:solidFill>
                  <a:schemeClr val="bg1"/>
                </a:solidFill>
              </a:rPr>
              <a:t>Terraform is a tool for building, changing, and versioning infrastructure safely and efficiently. Terraform can manage existing and popular service providers as well as custom in-house solutions.</a:t>
            </a:r>
          </a:p>
          <a:p>
            <a:pPr marL="342900" indent="-342900">
              <a:buClr>
                <a:schemeClr val="bg1"/>
              </a:buClr>
              <a:buFont typeface="Wingdings" panose="05000000000000000000" pitchFamily="2" charset="2"/>
              <a:buChar char="Ø"/>
            </a:pPr>
            <a:endParaRPr lang="en-US" dirty="0">
              <a:solidFill>
                <a:schemeClr val="bg1"/>
              </a:solidFill>
            </a:endParaRPr>
          </a:p>
          <a:p>
            <a:pPr marL="342900" indent="-342900">
              <a:buClr>
                <a:schemeClr val="bg1"/>
              </a:buClr>
              <a:buFont typeface="Wingdings" panose="05000000000000000000" pitchFamily="2" charset="2"/>
              <a:buChar char="Ø"/>
            </a:pPr>
            <a:endParaRPr lang="en-US" dirty="0">
              <a:solidFill>
                <a:schemeClr val="bg1"/>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4" imgW="990720" imgH="1171440" progId="Paint.Picture">
                  <p:embed/>
                </p:oleObj>
              </mc:Choice>
              <mc:Fallback>
                <p:oleObj name="Bitmap Image" r:id="rId4" imgW="990720" imgH="1171440" progId="Paint.Picture">
                  <p:embed/>
                  <p:pic>
                    <p:nvPicPr>
                      <p:cNvPr id="0" name=""/>
                      <p:cNvPicPr/>
                      <p:nvPr/>
                    </p:nvPicPr>
                    <p:blipFill>
                      <a:blip r:embed="rId5"/>
                      <a:stretch>
                        <a:fillRect/>
                      </a:stretch>
                    </p:blipFill>
                    <p:spPr>
                      <a:xfrm>
                        <a:off x="11377862" y="78623"/>
                        <a:ext cx="749968" cy="526968"/>
                      </a:xfrm>
                      <a:prstGeom prst="rect">
                        <a:avLst/>
                      </a:prstGeom>
                    </p:spPr>
                  </p:pic>
                </p:oleObj>
              </mc:Fallback>
            </mc:AlternateContent>
          </a:graphicData>
        </a:graphic>
      </p:graphicFrame>
      <p:pic>
        <p:nvPicPr>
          <p:cNvPr id="5" name="Picture 4"/>
          <p:cNvPicPr>
            <a:picLocks noChangeAspect="1"/>
          </p:cNvPicPr>
          <p:nvPr/>
        </p:nvPicPr>
        <p:blipFill>
          <a:blip r:embed="rId6"/>
          <a:stretch>
            <a:fillRect/>
          </a:stretch>
        </p:blipFill>
        <p:spPr>
          <a:xfrm>
            <a:off x="2810556" y="3218813"/>
            <a:ext cx="6705600" cy="2143125"/>
          </a:xfrm>
          <a:prstGeom prst="rect">
            <a:avLst/>
          </a:prstGeom>
        </p:spPr>
      </p:pic>
    </p:spTree>
    <p:extLst>
      <p:ext uri="{BB962C8B-B14F-4D97-AF65-F5344CB8AC3E}">
        <p14:creationId xmlns:p14="http://schemas.microsoft.com/office/powerpoint/2010/main" val="363150683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t>The key features of Terraform</a:t>
            </a:r>
            <a:endParaRPr lang="en-US" dirty="0">
              <a:solidFill>
                <a:schemeClr val="tx1"/>
              </a:solidFill>
            </a:endParaRPr>
          </a:p>
        </p:txBody>
      </p:sp>
      <p:sp>
        <p:nvSpPr>
          <p:cNvPr id="3" name="Subtitle 2"/>
          <p:cNvSpPr>
            <a:spLocks noGrp="1"/>
          </p:cNvSpPr>
          <p:nvPr>
            <p:ph type="subTitle" idx="1"/>
          </p:nvPr>
        </p:nvSpPr>
        <p:spPr>
          <a:xfrm>
            <a:off x="684212" y="1622738"/>
            <a:ext cx="10958288" cy="4778061"/>
          </a:xfrm>
        </p:spPr>
        <p:txBody>
          <a:bodyPr/>
          <a:lstStyle/>
          <a:p>
            <a:pPr marL="342900" indent="-342900">
              <a:buClr>
                <a:schemeClr val="bg1"/>
              </a:buClr>
              <a:buFont typeface="Wingdings" panose="05000000000000000000" pitchFamily="2" charset="2"/>
              <a:buChar char="Ø"/>
            </a:pPr>
            <a:r>
              <a:rPr lang="en-US" dirty="0">
                <a:solidFill>
                  <a:schemeClr val="bg1"/>
                </a:solidFill>
              </a:rPr>
              <a:t>Infrastructure as a Code </a:t>
            </a:r>
          </a:p>
          <a:p>
            <a:pPr marL="342900" indent="-342900">
              <a:buClr>
                <a:schemeClr val="bg1"/>
              </a:buClr>
              <a:buFont typeface="Wingdings" panose="05000000000000000000" pitchFamily="2" charset="2"/>
              <a:buChar char="Ø"/>
            </a:pPr>
            <a:r>
              <a:rPr lang="en-US" dirty="0">
                <a:solidFill>
                  <a:schemeClr val="bg1"/>
                </a:solidFill>
              </a:rPr>
              <a:t>Execution Plans </a:t>
            </a:r>
          </a:p>
          <a:p>
            <a:pPr marL="342900" indent="-342900">
              <a:buClr>
                <a:schemeClr val="bg1"/>
              </a:buClr>
              <a:buFont typeface="Wingdings" panose="05000000000000000000" pitchFamily="2" charset="2"/>
              <a:buChar char="Ø"/>
            </a:pPr>
            <a:r>
              <a:rPr lang="en-US" dirty="0">
                <a:solidFill>
                  <a:schemeClr val="bg1"/>
                </a:solidFill>
              </a:rPr>
              <a:t>Resource Graph </a:t>
            </a:r>
          </a:p>
          <a:p>
            <a:pPr marL="342900" indent="-342900">
              <a:buClr>
                <a:schemeClr val="bg1"/>
              </a:buClr>
              <a:buFont typeface="Wingdings" panose="05000000000000000000" pitchFamily="2" charset="2"/>
              <a:buChar char="Ø"/>
            </a:pPr>
            <a:r>
              <a:rPr lang="en-US" dirty="0">
                <a:solidFill>
                  <a:schemeClr val="bg1"/>
                </a:solidFill>
              </a:rPr>
              <a:t>Change Automation </a:t>
            </a:r>
          </a:p>
          <a:p>
            <a:pPr marL="342900" indent="-342900">
              <a:buClr>
                <a:schemeClr val="bg1"/>
              </a:buClr>
              <a:buFont typeface="Wingdings" panose="05000000000000000000" pitchFamily="2" charset="2"/>
              <a:buChar char="Ø"/>
            </a:pPr>
            <a:endParaRPr lang="en-US" dirty="0">
              <a:solidFill>
                <a:schemeClr val="bg1"/>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4" imgW="990720" imgH="1171440" progId="Paint.Picture">
                  <p:embed/>
                </p:oleObj>
              </mc:Choice>
              <mc:Fallback>
                <p:oleObj name="Bitmap Image" r:id="rId4" imgW="990720" imgH="1171440" progId="Paint.Picture">
                  <p:embed/>
                  <p:pic>
                    <p:nvPicPr>
                      <p:cNvPr id="0" name=""/>
                      <p:cNvPicPr/>
                      <p:nvPr/>
                    </p:nvPicPr>
                    <p:blipFill>
                      <a:blip r:embed="rId5"/>
                      <a:stretch>
                        <a:fillRect/>
                      </a:stretch>
                    </p:blipFill>
                    <p:spPr>
                      <a:xfrm>
                        <a:off x="11377862" y="78623"/>
                        <a:ext cx="749968" cy="526968"/>
                      </a:xfrm>
                      <a:prstGeom prst="rect">
                        <a:avLst/>
                      </a:prstGeom>
                    </p:spPr>
                  </p:pic>
                </p:oleObj>
              </mc:Fallback>
            </mc:AlternateContent>
          </a:graphicData>
        </a:graphic>
      </p:graphicFrame>
    </p:spTree>
    <p:extLst>
      <p:ext uri="{BB962C8B-B14F-4D97-AF65-F5344CB8AC3E}">
        <p14:creationId xmlns:p14="http://schemas.microsoft.com/office/powerpoint/2010/main" val="258274816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Why Terrafomr?</a:t>
            </a:r>
          </a:p>
        </p:txBody>
      </p:sp>
      <p:sp>
        <p:nvSpPr>
          <p:cNvPr id="3" name="Subtitle 2"/>
          <p:cNvSpPr>
            <a:spLocks noGrp="1"/>
          </p:cNvSpPr>
          <p:nvPr>
            <p:ph type="subTitle" idx="1"/>
          </p:nvPr>
        </p:nvSpPr>
        <p:spPr>
          <a:xfrm>
            <a:off x="684212" y="1622738"/>
            <a:ext cx="10958288" cy="4778061"/>
          </a:xfrm>
        </p:spPr>
        <p:txBody>
          <a:bodyPr/>
          <a:lstStyle/>
          <a:p>
            <a:pPr marL="342900" indent="-342900">
              <a:buClr>
                <a:schemeClr val="bg1"/>
              </a:buClr>
              <a:buFont typeface="Wingdings" panose="05000000000000000000" pitchFamily="2" charset="2"/>
              <a:buChar char="Ø"/>
            </a:pPr>
            <a:r>
              <a:rPr lang="en-US" dirty="0">
                <a:solidFill>
                  <a:schemeClr val="bg1"/>
                </a:solidFill>
              </a:rPr>
              <a:t>Azure and Terrafomr partnership </a:t>
            </a:r>
            <a:r>
              <a:rPr lang="en-US" dirty="0">
                <a:solidFill>
                  <a:schemeClr val="bg1"/>
                </a:solidFill>
                <a:hlinkClick r:id="rId4"/>
              </a:rPr>
              <a:t>https://docs.microsoft.com/en-us/azure/developer/terraform/</a:t>
            </a:r>
            <a:endParaRPr lang="en-US" dirty="0">
              <a:solidFill>
                <a:schemeClr val="bg1"/>
              </a:solidFill>
            </a:endParaRPr>
          </a:p>
          <a:p>
            <a:pPr marL="342900" indent="-342900">
              <a:buClr>
                <a:schemeClr val="bg1"/>
              </a:buClr>
              <a:buFont typeface="Wingdings" panose="05000000000000000000" pitchFamily="2" charset="2"/>
              <a:buChar char="Ø"/>
            </a:pPr>
            <a:r>
              <a:rPr lang="en-US" dirty="0">
                <a:solidFill>
                  <a:schemeClr val="bg1"/>
                </a:solidFill>
              </a:rPr>
              <a:t>Terraform template define in declarative approach, immutable</a:t>
            </a:r>
          </a:p>
          <a:p>
            <a:pPr marL="342900" indent="-342900">
              <a:buClr>
                <a:schemeClr val="bg1"/>
              </a:buClr>
              <a:buFont typeface="Wingdings" panose="05000000000000000000" pitchFamily="2" charset="2"/>
              <a:buChar char="Ø"/>
            </a:pPr>
            <a:r>
              <a:rPr lang="en-US" dirty="0">
                <a:solidFill>
                  <a:schemeClr val="bg1"/>
                </a:solidFill>
              </a:rPr>
              <a:t>Terraform maintain local/remote state</a:t>
            </a:r>
          </a:p>
          <a:p>
            <a:pPr marL="342900" indent="-342900">
              <a:buClr>
                <a:schemeClr val="bg1"/>
              </a:buClr>
              <a:buFont typeface="Wingdings" panose="05000000000000000000" pitchFamily="2" charset="2"/>
              <a:buChar char="Ø"/>
            </a:pPr>
            <a:r>
              <a:rPr lang="en-US" dirty="0">
                <a:solidFill>
                  <a:schemeClr val="bg1"/>
                </a:solidFill>
              </a:rPr>
              <a:t>Terraform work in </a:t>
            </a:r>
            <a:r>
              <a:rPr lang="en-US" dirty="0" err="1">
                <a:solidFill>
                  <a:schemeClr val="bg1"/>
                </a:solidFill>
              </a:rPr>
              <a:t>onprem</a:t>
            </a:r>
            <a:r>
              <a:rPr lang="en-US" dirty="0">
                <a:solidFill>
                  <a:schemeClr val="bg1"/>
                </a:solidFill>
              </a:rPr>
              <a:t> or any cloud</a:t>
            </a:r>
          </a:p>
          <a:p>
            <a:pPr marL="342900" indent="-342900">
              <a:buClr>
                <a:schemeClr val="bg1"/>
              </a:buClr>
              <a:buFont typeface="Wingdings" panose="05000000000000000000" pitchFamily="2" charset="2"/>
              <a:buChar char="Ø"/>
            </a:pPr>
            <a:endParaRPr lang="en-US" dirty="0">
              <a:solidFill>
                <a:schemeClr val="bg1"/>
              </a:solidFill>
            </a:endParaRPr>
          </a:p>
          <a:p>
            <a:pPr marL="342900" indent="-342900">
              <a:buClr>
                <a:schemeClr val="bg1"/>
              </a:buClr>
              <a:buFont typeface="Wingdings" panose="05000000000000000000" pitchFamily="2" charset="2"/>
              <a:buChar char="Ø"/>
            </a:pPr>
            <a:endParaRPr lang="en-US" dirty="0">
              <a:solidFill>
                <a:schemeClr val="bg1"/>
              </a:solidFill>
            </a:endParaRPr>
          </a:p>
          <a:p>
            <a:pPr marL="342900" indent="-342900">
              <a:buClr>
                <a:schemeClr val="bg1"/>
              </a:buClr>
              <a:buFont typeface="Wingdings" panose="05000000000000000000" pitchFamily="2" charset="2"/>
              <a:buChar char="Ø"/>
            </a:pPr>
            <a:endParaRPr lang="en-US" dirty="0">
              <a:solidFill>
                <a:schemeClr val="bg1"/>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5" imgW="990720" imgH="1171440" progId="Paint.Picture">
                  <p:embed/>
                </p:oleObj>
              </mc:Choice>
              <mc:Fallback>
                <p:oleObj name="Bitmap Image" r:id="rId5" imgW="990720" imgH="1171440" progId="Paint.Picture">
                  <p:embed/>
                  <p:pic>
                    <p:nvPicPr>
                      <p:cNvPr id="0" name=""/>
                      <p:cNvPicPr/>
                      <p:nvPr/>
                    </p:nvPicPr>
                    <p:blipFill>
                      <a:blip r:embed="rId6"/>
                      <a:stretch>
                        <a:fillRect/>
                      </a:stretch>
                    </p:blipFill>
                    <p:spPr>
                      <a:xfrm>
                        <a:off x="11377862" y="78623"/>
                        <a:ext cx="749968" cy="526968"/>
                      </a:xfrm>
                      <a:prstGeom prst="rect">
                        <a:avLst/>
                      </a:prstGeom>
                    </p:spPr>
                  </p:pic>
                </p:oleObj>
              </mc:Fallback>
            </mc:AlternateContent>
          </a:graphicData>
        </a:graphic>
      </p:graphicFrame>
    </p:spTree>
    <p:extLst>
      <p:ext uri="{BB962C8B-B14F-4D97-AF65-F5344CB8AC3E}">
        <p14:creationId xmlns:p14="http://schemas.microsoft.com/office/powerpoint/2010/main" val="113854438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1"/>
            </a:gs>
            <a:gs pos="0">
              <a:schemeClr val="tx1"/>
            </a:gs>
          </a:gsLst>
          <a:lin ang="612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Terrafomr Vs Others</a:t>
            </a:r>
          </a:p>
        </p:txBody>
      </p:sp>
      <p:graphicFrame>
        <p:nvGraphicFramePr>
          <p:cNvPr id="6" name="Object 5"/>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4" imgW="990720" imgH="1171440" progId="Paint.Picture">
                  <p:embed/>
                </p:oleObj>
              </mc:Choice>
              <mc:Fallback>
                <p:oleObj name="Bitmap Image" r:id="rId4" imgW="990720" imgH="1171440" progId="Paint.Picture">
                  <p:embed/>
                  <p:pic>
                    <p:nvPicPr>
                      <p:cNvPr id="0" name=""/>
                      <p:cNvPicPr/>
                      <p:nvPr/>
                    </p:nvPicPr>
                    <p:blipFill>
                      <a:blip r:embed="rId5"/>
                      <a:stretch>
                        <a:fillRect/>
                      </a:stretch>
                    </p:blipFill>
                    <p:spPr>
                      <a:xfrm>
                        <a:off x="11377862" y="78623"/>
                        <a:ext cx="749968" cy="526968"/>
                      </a:xfrm>
                      <a:prstGeom prst="rect">
                        <a:avLst/>
                      </a:prstGeom>
                    </p:spPr>
                  </p:pic>
                </p:oleObj>
              </mc:Fallback>
            </mc:AlternateContent>
          </a:graphicData>
        </a:graphic>
      </p:graphicFrame>
      <p:pic>
        <p:nvPicPr>
          <p:cNvPr id="7" name="Picture 6"/>
          <p:cNvPicPr>
            <a:picLocks noChangeAspect="1"/>
          </p:cNvPicPr>
          <p:nvPr/>
        </p:nvPicPr>
        <p:blipFill>
          <a:blip r:embed="rId6"/>
          <a:stretch>
            <a:fillRect/>
          </a:stretch>
        </p:blipFill>
        <p:spPr>
          <a:xfrm>
            <a:off x="684211" y="1484007"/>
            <a:ext cx="11443619" cy="4926957"/>
          </a:xfrm>
          <a:prstGeom prst="rect">
            <a:avLst/>
          </a:prstGeom>
        </p:spPr>
      </p:pic>
    </p:spTree>
    <p:extLst>
      <p:ext uri="{BB962C8B-B14F-4D97-AF65-F5344CB8AC3E}">
        <p14:creationId xmlns:p14="http://schemas.microsoft.com/office/powerpoint/2010/main" val="44993125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rmAutofit fontScale="90000"/>
          </a:bodyPr>
          <a:lstStyle/>
          <a:p>
            <a:r>
              <a:rPr lang="en-US" dirty="0">
                <a:solidFill>
                  <a:schemeClr val="tx1"/>
                </a:solidFill>
              </a:rPr>
              <a:t>Terrafomr in </a:t>
            </a:r>
            <a:r>
              <a:rPr lang="en-US" dirty="0" err="1">
                <a:solidFill>
                  <a:schemeClr val="tx1"/>
                </a:solidFill>
              </a:rPr>
              <a:t>XebiaLabs</a:t>
            </a:r>
            <a:endParaRPr lang="en-US" dirty="0">
              <a:solidFill>
                <a:schemeClr val="tx1"/>
              </a:solidFill>
            </a:endParaRP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4" name="Picture 3"/>
          <p:cNvPicPr>
            <a:picLocks noChangeAspect="1"/>
          </p:cNvPicPr>
          <p:nvPr/>
        </p:nvPicPr>
        <p:blipFill>
          <a:blip r:embed="rId2"/>
          <a:stretch>
            <a:fillRect/>
          </a:stretch>
        </p:blipFill>
        <p:spPr>
          <a:xfrm>
            <a:off x="684211" y="1622738"/>
            <a:ext cx="11443619" cy="4489304"/>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3" imgW="990720" imgH="1171440" progId="Paint.Picture">
                  <p:embed/>
                </p:oleObj>
              </mc:Choice>
              <mc:Fallback>
                <p:oleObj name="Bitmap Image" r:id="rId3" imgW="990720" imgH="1171440" progId="Paint.Picture">
                  <p:embed/>
                  <p:pic>
                    <p:nvPicPr>
                      <p:cNvPr id="0" name=""/>
                      <p:cNvPicPr/>
                      <p:nvPr/>
                    </p:nvPicPr>
                    <p:blipFill>
                      <a:blip r:embed="rId4"/>
                      <a:stretch>
                        <a:fillRect/>
                      </a:stretch>
                    </p:blipFill>
                    <p:spPr>
                      <a:xfrm>
                        <a:off x="11377862" y="78623"/>
                        <a:ext cx="749968" cy="526968"/>
                      </a:xfrm>
                      <a:prstGeom prst="rect">
                        <a:avLst/>
                      </a:prstGeom>
                    </p:spPr>
                  </p:pic>
                </p:oleObj>
              </mc:Fallback>
            </mc:AlternateContent>
          </a:graphicData>
        </a:graphic>
      </p:graphicFrame>
    </p:spTree>
    <p:extLst>
      <p:ext uri="{BB962C8B-B14F-4D97-AF65-F5344CB8AC3E}">
        <p14:creationId xmlns:p14="http://schemas.microsoft.com/office/powerpoint/2010/main" val="2164578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Autofit/>
          </a:bodyPr>
          <a:lstStyle/>
          <a:p>
            <a:r>
              <a:rPr lang="en-US" sz="2800" dirty="0">
                <a:solidFill>
                  <a:schemeClr val="tx1"/>
                </a:solidFill>
              </a:rPr>
              <a:t>Terraform will paly vital roles for infra. provisioning </a:t>
            </a:r>
          </a:p>
        </p:txBody>
      </p:sp>
      <p:sp>
        <p:nvSpPr>
          <p:cNvPr id="3" name="Subtitle 2"/>
          <p:cNvSpPr>
            <a:spLocks noGrp="1"/>
          </p:cNvSpPr>
          <p:nvPr>
            <p:ph type="subTitle" idx="1"/>
          </p:nvPr>
        </p:nvSpPr>
        <p:spPr>
          <a:xfrm>
            <a:off x="684212" y="1622738"/>
            <a:ext cx="10958288" cy="4778061"/>
          </a:xfrm>
        </p:spPr>
        <p:txBody>
          <a:bodyPr>
            <a:norm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5" name="Picture 4"/>
          <p:cNvPicPr>
            <a:picLocks noChangeAspect="1"/>
          </p:cNvPicPr>
          <p:nvPr/>
        </p:nvPicPr>
        <p:blipFill>
          <a:blip r:embed="rId4"/>
          <a:stretch>
            <a:fillRect/>
          </a:stretch>
        </p:blipFill>
        <p:spPr>
          <a:xfrm>
            <a:off x="1390830" y="1673381"/>
            <a:ext cx="9545052" cy="4676774"/>
          </a:xfrm>
          <a:prstGeom prst="rect">
            <a:avLst/>
          </a:prstGeom>
        </p:spPr>
      </p:pic>
      <p:pic>
        <p:nvPicPr>
          <p:cNvPr id="11379" name="Picture 115" descr="Microsoft Azure Cloud Platform: What Works, What's Needed at Ignite | IT Pro">
            <a:extLst>
              <a:ext uri="{FF2B5EF4-FFF2-40B4-BE49-F238E27FC236}">
                <a16:creationId xmlns:a16="http://schemas.microsoft.com/office/drawing/2014/main" id="{AEF9E2E4-B01F-438B-BBBC-6DE9772328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5988" y="2905669"/>
            <a:ext cx="297180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88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Autofit/>
          </a:bodyPr>
          <a:lstStyle/>
          <a:p>
            <a:r>
              <a:rPr lang="en-US" sz="2800" dirty="0"/>
              <a:t>Verifying the Installation </a:t>
            </a: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pic>
        <p:nvPicPr>
          <p:cNvPr id="6" name="Picture 5"/>
          <p:cNvPicPr>
            <a:picLocks noChangeAspect="1"/>
          </p:cNvPicPr>
          <p:nvPr/>
        </p:nvPicPr>
        <p:blipFill>
          <a:blip r:embed="rId4"/>
          <a:stretch>
            <a:fillRect/>
          </a:stretch>
        </p:blipFill>
        <p:spPr>
          <a:xfrm>
            <a:off x="684211" y="1613235"/>
            <a:ext cx="9507539" cy="3581910"/>
          </a:xfrm>
          <a:prstGeom prst="rect">
            <a:avLst/>
          </a:prstGeom>
        </p:spPr>
      </p:pic>
    </p:spTree>
    <p:extLst>
      <p:ext uri="{BB962C8B-B14F-4D97-AF65-F5344CB8AC3E}">
        <p14:creationId xmlns:p14="http://schemas.microsoft.com/office/powerpoint/2010/main" val="305852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Autofit/>
          </a:bodyPr>
          <a:lstStyle/>
          <a:p>
            <a:r>
              <a:rPr lang="en-US" sz="2800" dirty="0"/>
              <a:t>Terraform Common commands</a:t>
            </a: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sp>
        <p:nvSpPr>
          <p:cNvPr id="3" name="Rectangle 2"/>
          <p:cNvSpPr/>
          <p:nvPr/>
        </p:nvSpPr>
        <p:spPr>
          <a:xfrm>
            <a:off x="620041" y="1652855"/>
            <a:ext cx="11507789" cy="3924151"/>
          </a:xfrm>
          <a:prstGeom prst="rect">
            <a:avLst/>
          </a:prstGeom>
        </p:spPr>
        <p:txBody>
          <a:bodyPr wrap="square">
            <a:spAutoFit/>
          </a:bodyPr>
          <a:lstStyle/>
          <a:p>
            <a:r>
              <a:rPr lang="en-US" sz="2100" dirty="0">
                <a:solidFill>
                  <a:schemeClr val="bg1"/>
                </a:solidFill>
              </a:rPr>
              <a:t>    apply             Builds or changes infrastructure</a:t>
            </a:r>
          </a:p>
          <a:p>
            <a:r>
              <a:rPr lang="en-US" sz="2100" dirty="0">
                <a:solidFill>
                  <a:schemeClr val="bg1"/>
                </a:solidFill>
              </a:rPr>
              <a:t>    console         Interactive console for Terraform interpolations</a:t>
            </a:r>
          </a:p>
          <a:p>
            <a:r>
              <a:rPr lang="en-US" sz="2100" dirty="0">
                <a:solidFill>
                  <a:schemeClr val="bg1"/>
                </a:solidFill>
              </a:rPr>
              <a:t>    destroy          Destroy Terraform-managed infrastructure</a:t>
            </a:r>
          </a:p>
          <a:p>
            <a:r>
              <a:rPr lang="en-US" sz="2100" dirty="0">
                <a:solidFill>
                  <a:schemeClr val="bg1"/>
                </a:solidFill>
              </a:rPr>
              <a:t>    env                Workspace management</a:t>
            </a:r>
          </a:p>
          <a:p>
            <a:r>
              <a:rPr lang="en-US" sz="2100" dirty="0">
                <a:solidFill>
                  <a:schemeClr val="bg1"/>
                </a:solidFill>
              </a:rPr>
              <a:t>    </a:t>
            </a:r>
            <a:r>
              <a:rPr lang="en-US" sz="2100" dirty="0" err="1">
                <a:solidFill>
                  <a:schemeClr val="bg1"/>
                </a:solidFill>
              </a:rPr>
              <a:t>fmt</a:t>
            </a:r>
            <a:r>
              <a:rPr lang="en-US" sz="2100" dirty="0">
                <a:solidFill>
                  <a:schemeClr val="bg1"/>
                </a:solidFill>
              </a:rPr>
              <a:t>                 Rewrites config files to canonical format</a:t>
            </a:r>
          </a:p>
          <a:p>
            <a:r>
              <a:rPr lang="en-US" sz="2100" dirty="0">
                <a:solidFill>
                  <a:schemeClr val="bg1"/>
                </a:solidFill>
              </a:rPr>
              <a:t>    get                 Download and install modules for the configuration</a:t>
            </a:r>
          </a:p>
          <a:p>
            <a:r>
              <a:rPr lang="en-US" sz="2100" dirty="0">
                <a:solidFill>
                  <a:schemeClr val="bg1"/>
                </a:solidFill>
              </a:rPr>
              <a:t>    graph            Create a visual graph of Terraform resources</a:t>
            </a:r>
          </a:p>
          <a:p>
            <a:r>
              <a:rPr lang="en-US" sz="2100" dirty="0">
                <a:solidFill>
                  <a:schemeClr val="bg1"/>
                </a:solidFill>
              </a:rPr>
              <a:t>    import            Import existing infrastructure into Terraform</a:t>
            </a:r>
          </a:p>
          <a:p>
            <a:r>
              <a:rPr lang="en-US" sz="2100" dirty="0">
                <a:solidFill>
                  <a:schemeClr val="bg1"/>
                </a:solidFill>
              </a:rPr>
              <a:t>    </a:t>
            </a:r>
            <a:r>
              <a:rPr lang="en-US" sz="2100" dirty="0" err="1">
                <a:solidFill>
                  <a:schemeClr val="bg1"/>
                </a:solidFill>
              </a:rPr>
              <a:t>init</a:t>
            </a:r>
            <a:r>
              <a:rPr lang="en-US" sz="2100" dirty="0">
                <a:solidFill>
                  <a:schemeClr val="bg1"/>
                </a:solidFill>
              </a:rPr>
              <a:t>                  Initialize a Terraform working directory</a:t>
            </a:r>
          </a:p>
          <a:p>
            <a:r>
              <a:rPr lang="en-US" sz="2100" dirty="0">
                <a:solidFill>
                  <a:schemeClr val="bg1"/>
                </a:solidFill>
              </a:rPr>
              <a:t>    output           Read an output from a state file</a:t>
            </a:r>
          </a:p>
          <a:p>
            <a:r>
              <a:rPr lang="en-US" sz="2100" dirty="0">
                <a:solidFill>
                  <a:schemeClr val="bg1"/>
                </a:solidFill>
              </a:rPr>
              <a:t>    plan               Generate and show an execution plan</a:t>
            </a:r>
          </a:p>
          <a:p>
            <a:r>
              <a:rPr lang="en-US" dirty="0">
                <a:solidFill>
                  <a:schemeClr val="bg1"/>
                </a:solidFill>
              </a:rPr>
              <a:t>    </a:t>
            </a:r>
          </a:p>
        </p:txBody>
      </p:sp>
    </p:spTree>
    <p:extLst>
      <p:ext uri="{BB962C8B-B14F-4D97-AF65-F5344CB8AC3E}">
        <p14:creationId xmlns:p14="http://schemas.microsoft.com/office/powerpoint/2010/main" val="1350931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Autofit/>
          </a:bodyPr>
          <a:lstStyle/>
          <a:p>
            <a:r>
              <a:rPr lang="en-US" sz="2800" dirty="0"/>
              <a:t>Terraform Common commands</a:t>
            </a: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sp>
        <p:nvSpPr>
          <p:cNvPr id="3" name="Rectangle 2"/>
          <p:cNvSpPr/>
          <p:nvPr/>
        </p:nvSpPr>
        <p:spPr>
          <a:xfrm>
            <a:off x="620041" y="1652855"/>
            <a:ext cx="11507789" cy="4616648"/>
          </a:xfrm>
          <a:prstGeom prst="rect">
            <a:avLst/>
          </a:prstGeom>
        </p:spPr>
        <p:txBody>
          <a:bodyPr wrap="square">
            <a:spAutoFit/>
          </a:bodyPr>
          <a:lstStyle/>
          <a:p>
            <a:r>
              <a:rPr lang="en-US" sz="2100" dirty="0">
                <a:solidFill>
                  <a:schemeClr val="bg1"/>
                </a:solidFill>
              </a:rPr>
              <a:t>    providers       Prints a tree of the providers used in the configuration</a:t>
            </a:r>
          </a:p>
          <a:p>
            <a:r>
              <a:rPr lang="en-US" sz="2100" dirty="0">
                <a:solidFill>
                  <a:schemeClr val="bg1"/>
                </a:solidFill>
              </a:rPr>
              <a:t>    push               Upload this Terraform module to Atlas to run</a:t>
            </a:r>
          </a:p>
          <a:p>
            <a:r>
              <a:rPr lang="en-US" sz="2100" dirty="0">
                <a:solidFill>
                  <a:schemeClr val="bg1"/>
                </a:solidFill>
              </a:rPr>
              <a:t>    refresh            Update local state file against real resources</a:t>
            </a:r>
          </a:p>
          <a:p>
            <a:r>
              <a:rPr lang="en-US" sz="2100" dirty="0">
                <a:solidFill>
                  <a:schemeClr val="bg1"/>
                </a:solidFill>
              </a:rPr>
              <a:t>    show               Inspect Terraform state or plan</a:t>
            </a:r>
          </a:p>
          <a:p>
            <a:r>
              <a:rPr lang="en-US" sz="2100" dirty="0">
                <a:solidFill>
                  <a:schemeClr val="bg1"/>
                </a:solidFill>
              </a:rPr>
              <a:t>    taint                Manually mark a resource for recreation</a:t>
            </a:r>
          </a:p>
          <a:p>
            <a:r>
              <a:rPr lang="en-US" sz="2100" dirty="0">
                <a:solidFill>
                  <a:schemeClr val="bg1"/>
                </a:solidFill>
              </a:rPr>
              <a:t>    untaint            Manually unmark a resource as tainted</a:t>
            </a:r>
          </a:p>
          <a:p>
            <a:r>
              <a:rPr lang="en-US" sz="2100" dirty="0">
                <a:solidFill>
                  <a:schemeClr val="bg1"/>
                </a:solidFill>
              </a:rPr>
              <a:t>    validate          Validates the Terraform files</a:t>
            </a:r>
          </a:p>
          <a:p>
            <a:r>
              <a:rPr lang="en-US" sz="2100" dirty="0">
                <a:solidFill>
                  <a:schemeClr val="bg1"/>
                </a:solidFill>
              </a:rPr>
              <a:t>    version            Prints the Terraform version</a:t>
            </a:r>
          </a:p>
          <a:p>
            <a:r>
              <a:rPr lang="en-US" sz="2100" dirty="0">
                <a:solidFill>
                  <a:schemeClr val="bg1"/>
                </a:solidFill>
              </a:rPr>
              <a:t>    workspace     Workspace management</a:t>
            </a:r>
          </a:p>
          <a:p>
            <a:endParaRPr lang="en-US" sz="2100" dirty="0">
              <a:solidFill>
                <a:schemeClr val="bg1"/>
              </a:solidFill>
            </a:endParaRPr>
          </a:p>
          <a:p>
            <a:r>
              <a:rPr lang="en-US" sz="2100" dirty="0">
                <a:solidFill>
                  <a:schemeClr val="bg1"/>
                </a:solidFill>
              </a:rPr>
              <a:t>All other commands:</a:t>
            </a:r>
          </a:p>
          <a:p>
            <a:r>
              <a:rPr lang="en-US" sz="2100" dirty="0">
                <a:solidFill>
                  <a:schemeClr val="bg1"/>
                </a:solidFill>
              </a:rPr>
              <a:t>    debug              Debug output management (experimental)</a:t>
            </a:r>
          </a:p>
          <a:p>
            <a:r>
              <a:rPr lang="en-US" sz="2100" dirty="0">
                <a:solidFill>
                  <a:schemeClr val="bg1"/>
                </a:solidFill>
              </a:rPr>
              <a:t>    force-unlock    Manually unlock the terraform state</a:t>
            </a:r>
          </a:p>
          <a:p>
            <a:r>
              <a:rPr lang="en-US" sz="2100" dirty="0">
                <a:solidFill>
                  <a:schemeClr val="bg1"/>
                </a:solidFill>
              </a:rPr>
              <a:t>    state                 Advanced state management</a:t>
            </a:r>
          </a:p>
        </p:txBody>
      </p:sp>
    </p:spTree>
    <p:extLst>
      <p:ext uri="{BB962C8B-B14F-4D97-AF65-F5344CB8AC3E}">
        <p14:creationId xmlns:p14="http://schemas.microsoft.com/office/powerpoint/2010/main" val="2008820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1" y="685800"/>
            <a:ext cx="11507789" cy="717998"/>
          </a:xfrm>
          <a:solidFill>
            <a:srgbClr val="003DB8"/>
          </a:solidFill>
          <a:effectLst/>
        </p:spPr>
        <p:style>
          <a:lnRef idx="3">
            <a:schemeClr val="lt1"/>
          </a:lnRef>
          <a:fillRef idx="1">
            <a:schemeClr val="accent1"/>
          </a:fillRef>
          <a:effectRef idx="1">
            <a:schemeClr val="accent1"/>
          </a:effectRef>
          <a:fontRef idx="minor">
            <a:schemeClr val="lt1"/>
          </a:fontRef>
        </p:style>
        <p:txBody>
          <a:bodyPr vert="horz" lIns="91440" tIns="45720" rIns="91440" bIns="45720" rtlCol="0" anchor="b">
            <a:noAutofit/>
          </a:bodyPr>
          <a:lstStyle/>
          <a:p>
            <a:r>
              <a:rPr lang="en-US" sz="2800" dirty="0"/>
              <a:t>example.tf </a:t>
            </a:r>
            <a:endParaRPr lang="en-US" sz="2800" dirty="0">
              <a:solidFill>
                <a:schemeClr val="tx1"/>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4301622"/>
              </p:ext>
            </p:extLst>
          </p:nvPr>
        </p:nvGraphicFramePr>
        <p:xfrm>
          <a:off x="11377862" y="78623"/>
          <a:ext cx="749968" cy="526968"/>
        </p:xfrm>
        <a:graphic>
          <a:graphicData uri="http://schemas.openxmlformats.org/presentationml/2006/ole">
            <mc:AlternateContent xmlns:mc="http://schemas.openxmlformats.org/markup-compatibility/2006">
              <mc:Choice xmlns:v="urn:schemas-microsoft-com:vml" Requires="v">
                <p:oleObj name="Bitmap Image" r:id="rId2" imgW="990720" imgH="1171440" progId="Paint.Picture">
                  <p:embed/>
                </p:oleObj>
              </mc:Choice>
              <mc:Fallback>
                <p:oleObj name="Bitmap Image" r:id="rId2" imgW="990720" imgH="1171440" progId="Paint.Picture">
                  <p:embed/>
                  <p:pic>
                    <p:nvPicPr>
                      <p:cNvPr id="0" name=""/>
                      <p:cNvPicPr/>
                      <p:nvPr/>
                    </p:nvPicPr>
                    <p:blipFill>
                      <a:blip r:embed="rId3"/>
                      <a:stretch>
                        <a:fillRect/>
                      </a:stretch>
                    </p:blipFill>
                    <p:spPr>
                      <a:xfrm>
                        <a:off x="11377862" y="78623"/>
                        <a:ext cx="749968" cy="526968"/>
                      </a:xfrm>
                      <a:prstGeom prst="rect">
                        <a:avLst/>
                      </a:prstGeom>
                    </p:spPr>
                  </p:pic>
                </p:oleObj>
              </mc:Fallback>
            </mc:AlternateContent>
          </a:graphicData>
        </a:graphic>
      </p:graphicFrame>
      <p:sp>
        <p:nvSpPr>
          <p:cNvPr id="3" name="Rectangle 2"/>
          <p:cNvSpPr/>
          <p:nvPr/>
        </p:nvSpPr>
        <p:spPr>
          <a:xfrm>
            <a:off x="684211" y="1476100"/>
            <a:ext cx="9994231" cy="4801314"/>
          </a:xfrm>
          <a:prstGeom prst="rect">
            <a:avLst/>
          </a:prstGeom>
        </p:spPr>
        <p:txBody>
          <a:bodyPr wrap="square">
            <a:spAutoFit/>
          </a:bodyPr>
          <a:lstStyle/>
          <a:p>
            <a:r>
              <a:rPr lang="en-US" dirty="0">
                <a:solidFill>
                  <a:schemeClr val="bg1"/>
                </a:solidFill>
              </a:rPr>
              <a:t>provider "</a:t>
            </a:r>
            <a:r>
              <a:rPr lang="en-US" dirty="0" err="1">
                <a:solidFill>
                  <a:schemeClr val="bg1"/>
                </a:solidFill>
              </a:rPr>
              <a:t>azurerm</a:t>
            </a:r>
            <a:r>
              <a:rPr lang="en-US" dirty="0">
                <a:solidFill>
                  <a:schemeClr val="bg1"/>
                </a:solidFill>
              </a:rPr>
              <a:t>" {  </a:t>
            </a:r>
          </a:p>
          <a:p>
            <a:r>
              <a:rPr lang="en-US" dirty="0">
                <a:solidFill>
                  <a:schemeClr val="bg1"/>
                </a:solidFill>
              </a:rPr>
              <a:t>   version = "2.12.0"  </a:t>
            </a:r>
          </a:p>
          <a:p>
            <a:r>
              <a:rPr lang="en-US" dirty="0">
                <a:solidFill>
                  <a:schemeClr val="bg1"/>
                </a:solidFill>
              </a:rPr>
              <a:t>   features {}</a:t>
            </a:r>
          </a:p>
          <a:p>
            <a:r>
              <a:rPr lang="en-US" dirty="0">
                <a:solidFill>
                  <a:schemeClr val="bg1"/>
                </a:solidFill>
              </a:rPr>
              <a:t>}</a:t>
            </a:r>
          </a:p>
          <a:p>
            <a:endParaRPr lang="en-US" dirty="0">
              <a:solidFill>
                <a:schemeClr val="bg1"/>
              </a:solidFill>
            </a:endParaRPr>
          </a:p>
          <a:p>
            <a:r>
              <a:rPr lang="en-US" dirty="0">
                <a:solidFill>
                  <a:schemeClr val="bg1"/>
                </a:solidFill>
              </a:rPr>
              <a:t>resource "</a:t>
            </a:r>
            <a:r>
              <a:rPr lang="en-US" dirty="0" err="1">
                <a:solidFill>
                  <a:schemeClr val="bg1"/>
                </a:solidFill>
              </a:rPr>
              <a:t>azurerm_resource_group</a:t>
            </a:r>
            <a:r>
              <a:rPr lang="en-US" dirty="0">
                <a:solidFill>
                  <a:schemeClr val="bg1"/>
                </a:solidFill>
              </a:rPr>
              <a:t>" "demo" {  </a:t>
            </a:r>
          </a:p>
          <a:p>
            <a:r>
              <a:rPr lang="en-US" dirty="0">
                <a:solidFill>
                  <a:schemeClr val="bg1"/>
                </a:solidFill>
              </a:rPr>
              <a:t>     name     = "resource-group-demo1"  </a:t>
            </a:r>
          </a:p>
          <a:p>
            <a:r>
              <a:rPr lang="en-US" dirty="0">
                <a:solidFill>
                  <a:schemeClr val="bg1"/>
                </a:solidFill>
              </a:rPr>
              <a:t>      location = </a:t>
            </a:r>
            <a:r>
              <a:rPr lang="en-US" dirty="0" err="1">
                <a:solidFill>
                  <a:schemeClr val="bg1"/>
                </a:solidFill>
              </a:rPr>
              <a:t>var.location</a:t>
            </a:r>
            <a:r>
              <a:rPr lang="en-US" dirty="0">
                <a:solidFill>
                  <a:schemeClr val="bg1"/>
                </a:solidFill>
              </a:rPr>
              <a:t>  </a:t>
            </a:r>
          </a:p>
          <a:p>
            <a:r>
              <a:rPr lang="en-US" dirty="0">
                <a:solidFill>
                  <a:schemeClr val="bg1"/>
                </a:solidFill>
              </a:rPr>
              <a:t>      tags = {      </a:t>
            </a:r>
          </a:p>
          <a:p>
            <a:r>
              <a:rPr lang="en-US" dirty="0">
                <a:solidFill>
                  <a:schemeClr val="bg1"/>
                </a:solidFill>
              </a:rPr>
              <a:t>               env = "resource-group-demo1888"  </a:t>
            </a:r>
          </a:p>
          <a:p>
            <a:r>
              <a:rPr lang="en-US" dirty="0">
                <a:solidFill>
                  <a:schemeClr val="bg1"/>
                </a:solidFill>
              </a:rPr>
              <a:t>      }</a:t>
            </a:r>
          </a:p>
          <a:p>
            <a:r>
              <a:rPr lang="en-US" dirty="0">
                <a:solidFill>
                  <a:schemeClr val="bg1"/>
                </a:solidFill>
              </a:rPr>
              <a:t>}</a:t>
            </a:r>
          </a:p>
          <a:p>
            <a:endParaRPr lang="en-US" dirty="0">
              <a:solidFill>
                <a:schemeClr val="bg1"/>
              </a:solidFill>
            </a:endParaRPr>
          </a:p>
          <a:p>
            <a:r>
              <a:rPr lang="en-US" dirty="0">
                <a:solidFill>
                  <a:schemeClr val="bg1"/>
                </a:solidFill>
              </a:rPr>
              <a:t>variable "location" {  </a:t>
            </a:r>
          </a:p>
          <a:p>
            <a:r>
              <a:rPr lang="en-US" dirty="0">
                <a:solidFill>
                  <a:schemeClr val="bg1"/>
                </a:solidFill>
              </a:rPr>
              <a:t>    type    = string  </a:t>
            </a:r>
          </a:p>
          <a:p>
            <a:r>
              <a:rPr lang="en-US" dirty="0">
                <a:solidFill>
                  <a:schemeClr val="bg1"/>
                </a:solidFill>
              </a:rPr>
              <a:t>    default = "</a:t>
            </a:r>
            <a:r>
              <a:rPr lang="en-US" dirty="0" err="1">
                <a:solidFill>
                  <a:schemeClr val="bg1"/>
                </a:solidFill>
              </a:rPr>
              <a:t>westeurope</a:t>
            </a:r>
            <a:r>
              <a:rPr lang="en-US" dirty="0">
                <a:solidFill>
                  <a:schemeClr val="bg1"/>
                </a:solidFill>
              </a:rPr>
              <a:t>“</a:t>
            </a:r>
          </a:p>
          <a:p>
            <a:r>
              <a:rPr lang="en-US" dirty="0">
                <a:solidFill>
                  <a:schemeClr val="bg1"/>
                </a:solidFill>
              </a:rPr>
              <a:t>}</a:t>
            </a:r>
          </a:p>
        </p:txBody>
      </p:sp>
    </p:spTree>
    <p:extLst>
      <p:ext uri="{BB962C8B-B14F-4D97-AF65-F5344CB8AC3E}">
        <p14:creationId xmlns:p14="http://schemas.microsoft.com/office/powerpoint/2010/main" val="3632693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36E5992-56E3-BC0D-E89E-37242197CDA1}"/>
              </a:ext>
            </a:extLst>
          </p:cNvPr>
          <p:cNvSpPr/>
          <p:nvPr/>
        </p:nvSpPr>
        <p:spPr>
          <a:xfrm>
            <a:off x="1603513" y="1497496"/>
            <a:ext cx="8799444" cy="3644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dirty="0"/>
              <a:t>Folder: </a:t>
            </a:r>
            <a:r>
              <a:rPr lang="en-IN" dirty="0" err="1"/>
              <a:t>DayLearningTerraform</a:t>
            </a:r>
            <a:endParaRPr lang="en-IN" dirty="0"/>
          </a:p>
        </p:txBody>
      </p:sp>
      <p:sp>
        <p:nvSpPr>
          <p:cNvPr id="5" name="Rectangle: Rounded Corners 4">
            <a:extLst>
              <a:ext uri="{FF2B5EF4-FFF2-40B4-BE49-F238E27FC236}">
                <a16:creationId xmlns:a16="http://schemas.microsoft.com/office/drawing/2014/main" id="{964F444C-9A05-3949-590D-12BE064158E4}"/>
              </a:ext>
            </a:extLst>
          </p:cNvPr>
          <p:cNvSpPr/>
          <p:nvPr/>
        </p:nvSpPr>
        <p:spPr>
          <a:xfrm>
            <a:off x="7785654" y="1570814"/>
            <a:ext cx="1656522" cy="251791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subFolder</a:t>
            </a:r>
            <a:endParaRPr lang="en-IN" dirty="0"/>
          </a:p>
        </p:txBody>
      </p:sp>
      <p:sp>
        <p:nvSpPr>
          <p:cNvPr id="6" name="TextBox 5">
            <a:extLst>
              <a:ext uri="{FF2B5EF4-FFF2-40B4-BE49-F238E27FC236}">
                <a16:creationId xmlns:a16="http://schemas.microsoft.com/office/drawing/2014/main" id="{36CF5641-78FF-0C19-372A-74CD99367254}"/>
              </a:ext>
            </a:extLst>
          </p:cNvPr>
          <p:cNvSpPr txBox="1"/>
          <p:nvPr/>
        </p:nvSpPr>
        <p:spPr>
          <a:xfrm>
            <a:off x="2451652" y="2027583"/>
            <a:ext cx="1762539" cy="369332"/>
          </a:xfrm>
          <a:prstGeom prst="rect">
            <a:avLst/>
          </a:prstGeom>
          <a:noFill/>
        </p:spPr>
        <p:txBody>
          <a:bodyPr wrap="square" rtlCol="0">
            <a:spAutoFit/>
          </a:bodyPr>
          <a:lstStyle/>
          <a:p>
            <a:r>
              <a:rPr lang="en-IN" dirty="0"/>
              <a:t>app.tf</a:t>
            </a:r>
          </a:p>
        </p:txBody>
      </p:sp>
      <p:sp>
        <p:nvSpPr>
          <p:cNvPr id="7" name="Rectangle 6">
            <a:extLst>
              <a:ext uri="{FF2B5EF4-FFF2-40B4-BE49-F238E27FC236}">
                <a16:creationId xmlns:a16="http://schemas.microsoft.com/office/drawing/2014/main" id="{19628269-366F-5C0D-56A2-7D4D23224CB3}"/>
              </a:ext>
            </a:extLst>
          </p:cNvPr>
          <p:cNvSpPr/>
          <p:nvPr/>
        </p:nvSpPr>
        <p:spPr>
          <a:xfrm>
            <a:off x="2451652" y="2663687"/>
            <a:ext cx="1126435" cy="7653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Supportingfile.txt</a:t>
            </a:r>
          </a:p>
        </p:txBody>
      </p:sp>
      <p:sp>
        <p:nvSpPr>
          <p:cNvPr id="8" name="Rectangle: Rounded Corners 7">
            <a:extLst>
              <a:ext uri="{FF2B5EF4-FFF2-40B4-BE49-F238E27FC236}">
                <a16:creationId xmlns:a16="http://schemas.microsoft.com/office/drawing/2014/main" id="{7052FC42-F3CA-9E05-D1A0-C672B7F61D95}"/>
              </a:ext>
            </a:extLst>
          </p:cNvPr>
          <p:cNvSpPr/>
          <p:nvPr/>
        </p:nvSpPr>
        <p:spPr>
          <a:xfrm>
            <a:off x="9011478" y="2212249"/>
            <a:ext cx="1656522" cy="251791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subFolder</a:t>
            </a:r>
            <a:endParaRPr lang="en-IN" dirty="0"/>
          </a:p>
        </p:txBody>
      </p:sp>
      <p:sp>
        <p:nvSpPr>
          <p:cNvPr id="9" name="TextBox 8">
            <a:extLst>
              <a:ext uri="{FF2B5EF4-FFF2-40B4-BE49-F238E27FC236}">
                <a16:creationId xmlns:a16="http://schemas.microsoft.com/office/drawing/2014/main" id="{B307943A-0938-240E-1A4C-233078342515}"/>
              </a:ext>
            </a:extLst>
          </p:cNvPr>
          <p:cNvSpPr txBox="1"/>
          <p:nvPr/>
        </p:nvSpPr>
        <p:spPr>
          <a:xfrm>
            <a:off x="4161182" y="2294355"/>
            <a:ext cx="1762539" cy="369332"/>
          </a:xfrm>
          <a:prstGeom prst="rect">
            <a:avLst/>
          </a:prstGeom>
          <a:noFill/>
        </p:spPr>
        <p:txBody>
          <a:bodyPr wrap="square" rtlCol="0">
            <a:spAutoFit/>
          </a:bodyPr>
          <a:lstStyle/>
          <a:p>
            <a:r>
              <a:rPr lang="en-IN" dirty="0"/>
              <a:t>main.tf</a:t>
            </a:r>
          </a:p>
        </p:txBody>
      </p:sp>
      <p:sp>
        <p:nvSpPr>
          <p:cNvPr id="10" name="TextBox 9">
            <a:extLst>
              <a:ext uri="{FF2B5EF4-FFF2-40B4-BE49-F238E27FC236}">
                <a16:creationId xmlns:a16="http://schemas.microsoft.com/office/drawing/2014/main" id="{2F8801CD-BAAF-BC5B-9C8A-B1A070E907D1}"/>
              </a:ext>
            </a:extLst>
          </p:cNvPr>
          <p:cNvSpPr txBox="1"/>
          <p:nvPr/>
        </p:nvSpPr>
        <p:spPr>
          <a:xfrm>
            <a:off x="8772939" y="2950337"/>
            <a:ext cx="1762539" cy="369332"/>
          </a:xfrm>
          <a:prstGeom prst="rect">
            <a:avLst/>
          </a:prstGeom>
          <a:noFill/>
        </p:spPr>
        <p:txBody>
          <a:bodyPr wrap="square" rtlCol="0">
            <a:spAutoFit/>
          </a:bodyPr>
          <a:lstStyle/>
          <a:p>
            <a:r>
              <a:rPr lang="en-IN" dirty="0">
                <a:solidFill>
                  <a:srgbClr val="FF0000"/>
                </a:solidFill>
              </a:rPr>
              <a:t>main.tf</a:t>
            </a:r>
          </a:p>
        </p:txBody>
      </p:sp>
    </p:spTree>
    <p:extLst>
      <p:ext uri="{BB962C8B-B14F-4D97-AF65-F5344CB8AC3E}">
        <p14:creationId xmlns:p14="http://schemas.microsoft.com/office/powerpoint/2010/main" val="190647246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docProps/app.xml><?xml version="1.0" encoding="utf-8"?>
<Properties xmlns="http://schemas.openxmlformats.org/officeDocument/2006/extended-properties" xmlns:vt="http://schemas.openxmlformats.org/officeDocument/2006/docPropsVTypes">
  <Template/>
  <TotalTime>12543</TotalTime>
  <Words>638</Words>
  <Application>Microsoft Office PowerPoint</Application>
  <PresentationFormat>Widescreen</PresentationFormat>
  <Paragraphs>134</Paragraphs>
  <Slides>12</Slides>
  <Notes>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Calibri</vt:lpstr>
      <vt:lpstr>Century Gothic</vt:lpstr>
      <vt:lpstr>Wingdings</vt:lpstr>
      <vt:lpstr>Wingdings 3</vt:lpstr>
      <vt:lpstr>Slice</vt:lpstr>
      <vt:lpstr>Bitmap Image</vt:lpstr>
      <vt:lpstr>PowerPoint Presentation</vt:lpstr>
      <vt:lpstr>What is Terraform?</vt:lpstr>
      <vt:lpstr>The key features of Terraform</vt:lpstr>
      <vt:lpstr>Why Terrafomr?</vt:lpstr>
      <vt:lpstr>Terrafomr Vs Others</vt:lpstr>
      <vt:lpstr>Terrafomr in XebiaLabs</vt:lpstr>
      <vt:lpstr>Terraform will paly vital roles for infra. provisioning </vt:lpstr>
      <vt:lpstr>Verifying the Installation </vt:lpstr>
      <vt:lpstr>Terraform Common commands</vt:lpstr>
      <vt:lpstr>Terraform Common commands</vt:lpstr>
      <vt:lpstr>example.tf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 solution for AWSomeTrips</dc:title>
  <dc:creator>vinod.k</dc:creator>
  <cp:lastModifiedBy>Kumar Kumar</cp:lastModifiedBy>
  <cp:revision>346</cp:revision>
  <dcterms:created xsi:type="dcterms:W3CDTF">2018-04-05T06:53:35Z</dcterms:created>
  <dcterms:modified xsi:type="dcterms:W3CDTF">2026-03-09T07:35:29Z</dcterms:modified>
</cp:coreProperties>
</file>